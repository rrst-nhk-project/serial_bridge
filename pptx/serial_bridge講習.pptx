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CC"/>
    <a:srgbClr val="CB1C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serial_bridgeの設計思想と使い方。後継のros2canもこの設計を土台にしているので、仕組みを理解しておくと役に立つ。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最初に位置づけを伝える。新規機体はros2can。既存機体の保守と、ros2canの土台の理解が目的。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micro-ROSと比べて軽量でロボコンに特化。機体に依存しない設計。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学ロボ25のUDP無線は電波干渉で会場で不安定だった。学ロボ26では有線化が目標。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1回生ではじめてロボットを触る人が大多数。維持・開発を極力簡単にしておく必要があった。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STM32はCubeIDEの学習コストが高すぎて断念。通信部分は他マイコンにも移植できるようシンプルに設計した結果、後にSTM32やB-G431向けも作られた。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USBに挿した順にttyUSBの番号が振られるので、ノード側でポートを決め打ちできない。毎回順番通りに挿し直すのはセッティング中やリトライ中には非現実的。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IDはマイコンのプログラムに予め保持しておき、常にPCへ送り続ける。ノード側はIDで宛先を判別できる。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パッケージ名はシリアルポートとの橋渡しということでserial_bridge。ポートを触るのはserial_bridgeだけ。</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ペイロード以外は通信処理に使う。値はノード上では16bitだが、送るときは8bit×2に分割（ビッグエンディアン）。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スロット0はDEBUG。割当はファームウェアごとに固定で、serial_bridge自体は意味を解釈しない。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scannerスレッドがポートを探索し、見つかったIDごとにbridge_nodeを動的に生成してexecutorに登録する。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ポートの走査は常に実行。メッセージが来たらその場でフレームを組み立てて送る（タイマーではなくコールバック駆動）。受信も同様の流れで serial_rx_[ID] にPublishされる。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挿した直後はスキャナが見つけてノードを作る。抜けたりタイムアウトしたらポートを閉じて再接続を試みる。別ポートで見つかればノードを差し替える。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serialTaskは通信だけ、Output/Input Taskは入出力だけ。共有配列を介して疎結合に連携している。loop()は何もしない。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config.hppでMODEを1つだけ有効にする。ロボマス付きのモードもある。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yamlはビルドし直さずに変更できる。LiDARなど他のシリアル機器はexcluded_portsに入れておく。</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PacketControllerは範囲チェック付きで配列にアクセスするラッパー。受信はmsg-&gt;dataをそのまま読む。</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serial_bridgeで作った設計はros2canにそのまま生きている。新規機体はros2canへ。移行資料も参照。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C1D247-16EB-E18B-C91A-8A8A84F6D44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C8EF692-2EE0-D6DB-389A-4FAA9D4862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1D6C587-6DD3-05DA-A204-53DD8E8E7EA7}"/>
              </a:ext>
            </a:extLst>
          </p:cNvPr>
          <p:cNvSpPr>
            <a:spLocks noGrp="1"/>
          </p:cNvSpPr>
          <p:nvPr>
            <p:ph type="dt" sz="half" idx="10"/>
          </p:nvPr>
        </p:nvSpPr>
        <p:spPr>
          <a:xfrm>
            <a:off x="838200" y="6356349"/>
            <a:ext cx="2743200" cy="365125"/>
          </a:xfrm>
        </p:spPr>
        <p:txBody>
          <a:body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F7B002EB-904F-4CEA-CADF-F5E0DBBF524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9ECFC0B-B0DD-4523-1EC9-F025D88B6F67}"/>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112337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9AEF-4E7C-ED37-5EA9-1DC7E3D21A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56F3ABD-CDE6-6E00-BF9B-047B6ADF83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A7254F-760E-45C2-78EE-E70E772485FA}"/>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96AF2616-0E36-4F53-CD06-93FE088093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B18C036-B90B-0F85-89BA-54CE64AD367D}"/>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22422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4AA507-2FB7-546F-814C-4A1C74208C3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315DA0E-F142-2BBE-190D-5255C2C00C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3FF7DFE-2476-1E59-69D7-D1F19205CA36}"/>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28BC7B36-421F-73C6-5463-76E9A6AE0B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A2A7CA-E3EA-4404-081A-07B89424A7B5}"/>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999183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697F30-45AF-25E6-5A3E-A95AF98C51D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09211B7-F7CF-5A06-F8F9-55E3DB08C4C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456EB9B-828C-218C-A915-6A838FAAB16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45FEE2-C1CB-8EA0-9002-B1432AC24FCD}"/>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6" name="フッター プレースホルダー 5">
            <a:extLst>
              <a:ext uri="{FF2B5EF4-FFF2-40B4-BE49-F238E27FC236}">
                <a16:creationId xmlns:a16="http://schemas.microsoft.com/office/drawing/2014/main" id="{26FEAD8C-6EE1-F9BF-F92B-098BD3D0702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3AD94AE-954A-F497-265E-4C308A2A0CFF}"/>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211968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7EE21-8A4D-D745-1D42-74EDFF8009A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2CC70AB-A5A4-49B2-3BC9-787B8169D2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D97D4A6-122F-9D1B-69FA-F706C97FEA4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1DE0982-B4F7-ECFA-591F-89FBF89F2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1921522-38F1-F7FC-C0A3-F651903F6AF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2A203241-B954-1126-5A3E-09DD27155D68}"/>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8" name="フッター プレースホルダー 7">
            <a:extLst>
              <a:ext uri="{FF2B5EF4-FFF2-40B4-BE49-F238E27FC236}">
                <a16:creationId xmlns:a16="http://schemas.microsoft.com/office/drawing/2014/main" id="{186CD0B2-EAFE-2BF4-C497-5B6F2B57712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DA945BC-759C-C4C1-4978-CBC8862E630F}"/>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776343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4BB3F-9DED-D314-7704-82349489378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56715-9D1B-B43F-6FBC-907C3E2153C7}"/>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4" name="フッター プレースホルダー 3">
            <a:extLst>
              <a:ext uri="{FF2B5EF4-FFF2-40B4-BE49-F238E27FC236}">
                <a16:creationId xmlns:a16="http://schemas.microsoft.com/office/drawing/2014/main" id="{60FD98C2-7913-13BB-5ADF-0A00AB8EDB5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AB633EA-620C-6DDB-54AC-5F1C605A3197}"/>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2264911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C766E37-50FF-E806-6613-642EA74448D4}"/>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3" name="フッター プレースホルダー 2">
            <a:extLst>
              <a:ext uri="{FF2B5EF4-FFF2-40B4-BE49-F238E27FC236}">
                <a16:creationId xmlns:a16="http://schemas.microsoft.com/office/drawing/2014/main" id="{98C42828-EA14-7DEC-6FA0-ACE7895DCDB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6101C4B-73D8-99C1-DA02-F319131D28B5}"/>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3301435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352B953-8868-5B19-2C35-E170A9A3B8B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3B70D0-DD11-06D8-4E15-3A804C0EA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F812A24-C52D-93A7-9016-A886424D9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50BFA1-13D9-0A9E-3782-76ADE44FF8F8}"/>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6" name="フッター プレースホルダー 5">
            <a:extLst>
              <a:ext uri="{FF2B5EF4-FFF2-40B4-BE49-F238E27FC236}">
                <a16:creationId xmlns:a16="http://schemas.microsoft.com/office/drawing/2014/main" id="{BD0D9597-7E26-83EC-AF24-DE5863E5B8A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74F15F0-074E-4473-6585-90FC09057D8E}"/>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613349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73A893-FB27-B4F3-2D9E-E3B1BDBF87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4EC2060-304A-FAC1-1875-E7246B58CD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1DE32873-C8F0-0F20-9ED9-168FC1864F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5B8F9E-0905-4D85-CE31-E6CB934FD2B3}"/>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6" name="フッター プレースホルダー 5">
            <a:extLst>
              <a:ext uri="{FF2B5EF4-FFF2-40B4-BE49-F238E27FC236}">
                <a16:creationId xmlns:a16="http://schemas.microsoft.com/office/drawing/2014/main" id="{286A1FDE-71DE-89E8-B95B-94D894A3B85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07CFA1B-DB81-8991-B1D7-6E4355B0990C}"/>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1711708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148A88-8E9A-49C0-3075-4B7A4DE1A13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ABDF43-9207-EAE8-45CF-032DCADF906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040A2E-6D30-9407-937D-1DB8B873DC67}"/>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9C139FB1-4A28-280A-EF0B-9DEC926D67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960C17-2AEA-C4A0-E757-303AAA20CFE0}"/>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4012362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C024A0FD-2210-A691-13DA-677F881B067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04C7A7B-C4E0-DD68-3327-74DA3771AA7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17944CB-241F-41DA-FB61-E7FDB65E7A99}"/>
              </a:ext>
            </a:extLst>
          </p:cNvPr>
          <p:cNvSpPr>
            <a:spLocks noGrp="1"/>
          </p:cNvSpPr>
          <p:nvPr>
            <p:ph type="dt" sz="half" idx="10"/>
          </p:nvPr>
        </p:nvSpPr>
        <p:spPr/>
        <p:txBody>
          <a:body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13A52921-D26E-F9F9-F0FC-9FD443FFE3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688D856-F717-F6DC-E313-BC536B8EDDAD}"/>
              </a:ext>
            </a:extLst>
          </p:cNvPr>
          <p:cNvSpPr>
            <a:spLocks noGrp="1"/>
          </p:cNvSpPr>
          <p:nvPr>
            <p:ph type="sldNum" sz="quarter" idx="12"/>
          </p:nvPr>
        </p:nvSpPr>
        <p:spPr/>
        <p:txBody>
          <a:bodyPr/>
          <a:lstStyle/>
          <a:p>
            <a:fld id="{A7C8AF4E-7394-43D6-B3DC-54EB52394C8F}" type="slidenum">
              <a:rPr kumimoji="1" lang="ja-JP" altLang="en-US" smtClean="0"/>
              <a:t>‹#›</a:t>
            </a:fld>
            <a:endParaRPr kumimoji="1" lang="ja-JP" altLang="en-US"/>
          </a:p>
        </p:txBody>
      </p:sp>
    </p:spTree>
    <p:extLst>
      <p:ext uri="{BB962C8B-B14F-4D97-AF65-F5344CB8AC3E}">
        <p14:creationId xmlns:p14="http://schemas.microsoft.com/office/powerpoint/2010/main" val="5961077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7BB161A-6234-7C02-059C-D3AE676F6A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0C9F829-8192-70DC-85DA-8E1C49AEF3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BD9A6A1-72EC-FA32-C0A2-77E8F0AE27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DD9765-A962-4B23-896F-5056B17951A2}" type="datetimeFigureOut">
              <a:rPr kumimoji="1" lang="ja-JP" altLang="en-US" smtClean="0"/>
              <a:t>2024/3/20</a:t>
            </a:fld>
            <a:endParaRPr kumimoji="1" lang="ja-JP" altLang="en-US"/>
          </a:p>
        </p:txBody>
      </p:sp>
      <p:sp>
        <p:nvSpPr>
          <p:cNvPr id="5" name="フッター プレースホルダー 4">
            <a:extLst>
              <a:ext uri="{FF2B5EF4-FFF2-40B4-BE49-F238E27FC236}">
                <a16:creationId xmlns:a16="http://schemas.microsoft.com/office/drawing/2014/main" id="{247519F0-6940-8B04-61AE-FB7C31E711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B4CD484-8D28-77F7-F415-29C4934FF9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C8AF4E-7394-43D6-B3DC-54EB52394C8F}" type="slidenum">
              <a:rPr kumimoji="1" lang="ja-JP" altLang="en-US" smtClean="0"/>
              <a:t>‹#›</a:t>
            </a:fld>
            <a:endParaRPr kumimoji="1" lang="ja-JP" altLang="en-US"/>
          </a:p>
        </p:txBody>
      </p:sp>
      <p:pic>
        <p:nvPicPr>
          <p:cNvPr id="8" name="図 7" descr="黒い背景に白い文字がある&#10;&#10;中程度の精度で自動的に生成された説明">
            <a:extLst>
              <a:ext uri="{FF2B5EF4-FFF2-40B4-BE49-F238E27FC236}">
                <a16:creationId xmlns:a16="http://schemas.microsoft.com/office/drawing/2014/main" id="{FF906BC4-088A-CAD4-0688-FDCCD3E37DB4}"/>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342783" y="136525"/>
            <a:ext cx="2659338" cy="744399"/>
          </a:xfrm>
          <a:prstGeom prst="rect">
            <a:avLst/>
          </a:prstGeom>
        </p:spPr>
      </p:pic>
      <p:sp>
        <p:nvSpPr>
          <p:cNvPr id="10" name="正方形/長方形 9">
            <a:extLst>
              <a:ext uri="{FF2B5EF4-FFF2-40B4-BE49-F238E27FC236}">
                <a16:creationId xmlns:a16="http://schemas.microsoft.com/office/drawing/2014/main" id="{5FDC60E9-6C06-B33B-180C-F0204CBC0AA1}"/>
              </a:ext>
            </a:extLst>
          </p:cNvPr>
          <p:cNvSpPr/>
          <p:nvPr userDrawn="1"/>
        </p:nvSpPr>
        <p:spPr>
          <a:xfrm rot="16745820">
            <a:off x="5751924" y="5728795"/>
            <a:ext cx="12496267" cy="1436480"/>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74BAA90-B259-5D7B-725A-60C1DC270EBE}"/>
              </a:ext>
            </a:extLst>
          </p:cNvPr>
          <p:cNvSpPr/>
          <p:nvPr userDrawn="1"/>
        </p:nvSpPr>
        <p:spPr>
          <a:xfrm rot="21324172">
            <a:off x="535422" y="6538809"/>
            <a:ext cx="12496267" cy="1053548"/>
          </a:xfrm>
          <a:prstGeom prst="rect">
            <a:avLst/>
          </a:prstGeom>
          <a:solidFill>
            <a:srgbClr val="CB1C14">
              <a:alpha val="8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平行四辺形 12">
            <a:extLst>
              <a:ext uri="{FF2B5EF4-FFF2-40B4-BE49-F238E27FC236}">
                <a16:creationId xmlns:a16="http://schemas.microsoft.com/office/drawing/2014/main" id="{B456FFD5-F931-135A-2222-1028B9A03666}"/>
              </a:ext>
            </a:extLst>
          </p:cNvPr>
          <p:cNvSpPr/>
          <p:nvPr userDrawn="1"/>
        </p:nvSpPr>
        <p:spPr>
          <a:xfrm rot="21289408">
            <a:off x="11089814" y="6116811"/>
            <a:ext cx="1757764" cy="1078055"/>
          </a:xfrm>
          <a:prstGeom prst="parallelogram">
            <a:avLst>
              <a:gd name="adj" fmla="val 2594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49263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822960" y="1554480"/>
            <a:ext cx="9326880" cy="1737360"/>
          </a:xfrm>
        </p:spPr>
        <p:txBody>
          <a:bodyPr anchor="b"/>
          <a:lstStyle/>
          <a:p>
            <a:pPr algn="l">
              <a:spcAft>
                <a:spcPts val="400"/>
              </a:spcAft>
            </a:pPr>
            <a:r>
              <a:rPr sz="4800" b="1" i="0">
                <a:solidFill>
                  <a:srgbClr val="1F1F1F"/>
                </a:solidFill>
                <a:latin typeface="MS PGothic"/>
                <a:ea typeface="MS PGothic"/>
                <a:cs typeface="MS PGothic"/>
              </a:rPr>
              <a:t>serial_bridge 講習</a:t>
            </a:r>
          </a:p>
        </p:txBody>
      </p:sp>
      <p:sp>
        <p:nvSpPr>
          <p:cNvPr id="3" name="Subtitle 2"/>
          <p:cNvSpPr>
            <a:spLocks noGrp="1"/>
          </p:cNvSpPr>
          <p:nvPr>
            <p:ph type="subTitle" idx="1"/>
          </p:nvPr>
        </p:nvSpPr>
        <p:spPr>
          <a:xfrm>
            <a:off x="822960" y="3429000"/>
            <a:ext cx="9326880" cy="1463040"/>
          </a:xfrm>
        </p:spPr>
        <p:txBody>
          <a:bodyPr anchor="t"/>
          <a:lstStyle/>
          <a:p>
            <a:pPr algn="l">
              <a:spcAft>
                <a:spcPts val="600"/>
              </a:spcAft>
            </a:pPr>
            <a:r>
              <a:rPr sz="2000" b="0" i="0">
                <a:solidFill>
                  <a:srgbClr val="595959"/>
                </a:solidFill>
                <a:latin typeface="MS PGothic"/>
                <a:ea typeface="MS PGothic"/>
                <a:cs typeface="MS PGothic"/>
              </a:rPr>
              <a:t>ROS 2 ⇔ マイコン シリアル通信パッケージ</a:t>
            </a:r>
          </a:p>
          <a:p>
            <a:pPr algn="l">
              <a:spcAft>
                <a:spcPts val="600"/>
              </a:spcAft>
            </a:pPr>
            <a:r>
              <a:rPr sz="1600" b="0" i="0">
                <a:solidFill>
                  <a:srgbClr val="595959"/>
                </a:solidFill>
                <a:latin typeface="MS PGothic"/>
                <a:ea typeface="MS PGothic"/>
                <a:cs typeface="MS PGothic"/>
              </a:rPr>
              <a:t>立命館大学 ロボット技術研究会 RRST NHKプロジェクト</a:t>
            </a:r>
          </a:p>
        </p:txBody>
      </p:sp>
      <p:sp>
        <p:nvSpPr>
          <p:cNvPr id="4" name="Rectangle 3"/>
          <p:cNvSpPr/>
          <p:nvPr/>
        </p:nvSpPr>
        <p:spPr>
          <a:xfrm>
            <a:off x="868680" y="3310128"/>
            <a:ext cx="1097280" cy="64008"/>
          </a:xfrm>
          <a:prstGeom prst="rect">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はじめに</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2</a:t>
            </a:r>
          </a:p>
        </p:txBody>
      </p:sp>
      <p:sp>
        <p:nvSpPr>
          <p:cNvPr id="4" name="Rounded Rectangle 3"/>
          <p:cNvSpPr/>
          <p:nvPr/>
        </p:nvSpPr>
        <p:spPr>
          <a:xfrm>
            <a:off x="548640" y="1417320"/>
            <a:ext cx="10149840" cy="1463040"/>
          </a:xfrm>
          <a:prstGeom prst="roundRect">
            <a:avLst>
              <a:gd name="adj" fmla="val 12000"/>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5" name="TextBox 4"/>
          <p:cNvSpPr txBox="1"/>
          <p:nvPr/>
        </p:nvSpPr>
        <p:spPr>
          <a:xfrm>
            <a:off x="868680" y="1554480"/>
            <a:ext cx="9601200" cy="1234440"/>
          </a:xfrm>
          <a:prstGeom prst="rect">
            <a:avLst/>
          </a:prstGeom>
          <a:noFill/>
        </p:spPr>
        <p:txBody>
          <a:bodyPr wrap="square" anchor="ctr" lIns="45720" rIns="45720"/>
          <a:lstStyle/>
          <a:p>
            <a:pPr algn="l">
              <a:spcAft>
                <a:spcPts val="800"/>
              </a:spcAft>
            </a:pPr>
            <a:r>
              <a:rPr sz="2000" b="1" i="0">
                <a:solidFill>
                  <a:srgbClr val="FFFFFF"/>
                </a:solidFill>
                <a:latin typeface="MS PGothic"/>
                <a:ea typeface="MS PGothic"/>
                <a:cs typeface="MS PGothic"/>
              </a:rPr>
              <a:t>serial_bridge の後継として ros2can を開発しました。</a:t>
            </a:r>
          </a:p>
          <a:p>
            <a:pPr algn="l">
              <a:spcAft>
                <a:spcPts val="800"/>
              </a:spcAft>
            </a:pPr>
            <a:r>
              <a:rPr sz="1500" b="0" i="0">
                <a:solidFill>
                  <a:srgbClr val="FFFFFF"/>
                </a:solidFill>
                <a:latin typeface="MS PGothic"/>
                <a:ea typeface="MS PGothic"/>
                <a:cs typeface="MS PGothic"/>
              </a:rPr>
              <a:t>今後 serial_bridge のバグ修正・機能追加の予定はありません。新規の機体では ros2can の採用を強く推奨します。</a:t>
            </a:r>
          </a:p>
        </p:txBody>
      </p:sp>
      <p:sp>
        <p:nvSpPr>
          <p:cNvPr id="6" name="TextBox 5"/>
          <p:cNvSpPr txBox="1"/>
          <p:nvPr/>
        </p:nvSpPr>
        <p:spPr>
          <a:xfrm>
            <a:off x="548640" y="3200400"/>
            <a:ext cx="10058400" cy="457200"/>
          </a:xfrm>
          <a:prstGeom prst="rect">
            <a:avLst/>
          </a:prstGeom>
          <a:noFill/>
        </p:spPr>
        <p:txBody>
          <a:bodyPr wrap="square" anchor="t" lIns="45720" rIns="45720"/>
          <a:lstStyle/>
          <a:p>
            <a:pPr algn="l">
              <a:spcAft>
                <a:spcPts val="400"/>
              </a:spcAft>
            </a:pPr>
            <a:r>
              <a:rPr sz="1800" b="1" i="0">
                <a:solidFill>
                  <a:srgbClr val="1F1F1F"/>
                </a:solidFill>
                <a:latin typeface="MS PGothic"/>
                <a:ea typeface="MS PGothic"/>
                <a:cs typeface="MS PGothic"/>
              </a:rPr>
              <a:t>この講習の位置づけ</a:t>
            </a:r>
          </a:p>
        </p:txBody>
      </p:sp>
      <p:sp>
        <p:nvSpPr>
          <p:cNvPr id="7" name="Rounded Rectangle 6"/>
          <p:cNvSpPr/>
          <p:nvPr/>
        </p:nvSpPr>
        <p:spPr>
          <a:xfrm>
            <a:off x="548640" y="3749039"/>
            <a:ext cx="3200400" cy="19202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8" name="Oval 7"/>
          <p:cNvSpPr/>
          <p:nvPr/>
        </p:nvSpPr>
        <p:spPr>
          <a:xfrm>
            <a:off x="731520" y="3931920"/>
            <a:ext cx="411480" cy="41148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1</a:t>
            </a:r>
          </a:p>
        </p:txBody>
      </p:sp>
      <p:sp>
        <p:nvSpPr>
          <p:cNvPr id="9" name="TextBox 8"/>
          <p:cNvSpPr txBox="1"/>
          <p:nvPr/>
        </p:nvSpPr>
        <p:spPr>
          <a:xfrm>
            <a:off x="1280160" y="3913632"/>
            <a:ext cx="2377440" cy="457200"/>
          </a:xfrm>
          <a:prstGeom prst="rect">
            <a:avLst/>
          </a:prstGeom>
          <a:noFill/>
        </p:spPr>
        <p:txBody>
          <a:bodyPr wrap="square" anchor="ctr" lIns="45720" rIns="45720"/>
          <a:lstStyle/>
          <a:p>
            <a:pPr algn="l">
              <a:spcAft>
                <a:spcPts val="400"/>
              </a:spcAft>
            </a:pPr>
            <a:r>
              <a:rPr sz="1600" b="1" i="0">
                <a:solidFill>
                  <a:srgbClr val="1F1F1F"/>
                </a:solidFill>
                <a:latin typeface="MS PGothic"/>
                <a:ea typeface="MS PGothic"/>
                <a:cs typeface="MS PGothic"/>
              </a:rPr>
              <a:t>既存機体の保守</a:t>
            </a:r>
          </a:p>
        </p:txBody>
      </p:sp>
      <p:sp>
        <p:nvSpPr>
          <p:cNvPr id="10" name="TextBox 9"/>
          <p:cNvSpPr txBox="1"/>
          <p:nvPr/>
        </p:nvSpPr>
        <p:spPr>
          <a:xfrm>
            <a:off x="731520" y="4526280"/>
            <a:ext cx="2834640" cy="1097280"/>
          </a:xfrm>
          <a:prstGeom prst="rect">
            <a:avLst/>
          </a:prstGeom>
          <a:noFill/>
        </p:spPr>
        <p:txBody>
          <a:bodyPr wrap="square" anchor="t" lIns="45720" rIns="45720"/>
          <a:lstStyle/>
          <a:p>
            <a:pPr algn="l">
              <a:spcAft>
                <a:spcPts val="400"/>
              </a:spcAft>
            </a:pPr>
            <a:r>
              <a:rPr sz="1300" b="0" i="0">
                <a:solidFill>
                  <a:srgbClr val="595959"/>
                </a:solidFill>
                <a:latin typeface="MS PGothic"/>
                <a:ea typeface="MS PGothic"/>
                <a:cs typeface="MS PGothic"/>
              </a:rPr>
              <a:t>serial_bridge で動いている機体を読んで・直せるようになる</a:t>
            </a:r>
          </a:p>
        </p:txBody>
      </p:sp>
      <p:sp>
        <p:nvSpPr>
          <p:cNvPr id="11" name="Rounded Rectangle 10"/>
          <p:cNvSpPr/>
          <p:nvPr/>
        </p:nvSpPr>
        <p:spPr>
          <a:xfrm>
            <a:off x="3977639" y="3749039"/>
            <a:ext cx="3200400" cy="19202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2" name="Oval 11"/>
          <p:cNvSpPr/>
          <p:nvPr/>
        </p:nvSpPr>
        <p:spPr>
          <a:xfrm>
            <a:off x="4160520" y="3931920"/>
            <a:ext cx="411480" cy="41148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2</a:t>
            </a:r>
          </a:p>
        </p:txBody>
      </p:sp>
      <p:sp>
        <p:nvSpPr>
          <p:cNvPr id="13" name="TextBox 12"/>
          <p:cNvSpPr txBox="1"/>
          <p:nvPr/>
        </p:nvSpPr>
        <p:spPr>
          <a:xfrm>
            <a:off x="4709159" y="3913632"/>
            <a:ext cx="2377440" cy="457200"/>
          </a:xfrm>
          <a:prstGeom prst="rect">
            <a:avLst/>
          </a:prstGeom>
          <a:noFill/>
        </p:spPr>
        <p:txBody>
          <a:bodyPr wrap="square" anchor="ctr" lIns="45720" rIns="45720"/>
          <a:lstStyle/>
          <a:p>
            <a:pPr algn="l">
              <a:spcAft>
                <a:spcPts val="400"/>
              </a:spcAft>
            </a:pPr>
            <a:r>
              <a:rPr sz="1600" b="1" i="0">
                <a:solidFill>
                  <a:srgbClr val="1F1F1F"/>
                </a:solidFill>
                <a:latin typeface="MS PGothic"/>
                <a:ea typeface="MS PGothic"/>
                <a:cs typeface="MS PGothic"/>
              </a:rPr>
              <a:t>設計思想を知る</a:t>
            </a:r>
          </a:p>
        </p:txBody>
      </p:sp>
      <p:sp>
        <p:nvSpPr>
          <p:cNvPr id="14" name="TextBox 13"/>
          <p:cNvSpPr txBox="1"/>
          <p:nvPr/>
        </p:nvSpPr>
        <p:spPr>
          <a:xfrm>
            <a:off x="4160520" y="4526280"/>
            <a:ext cx="2834640" cy="1097280"/>
          </a:xfrm>
          <a:prstGeom prst="rect">
            <a:avLst/>
          </a:prstGeom>
          <a:noFill/>
        </p:spPr>
        <p:txBody>
          <a:bodyPr wrap="square" anchor="t" lIns="45720" rIns="45720"/>
          <a:lstStyle/>
          <a:p>
            <a:pPr algn="l">
              <a:spcAft>
                <a:spcPts val="400"/>
              </a:spcAft>
            </a:pPr>
            <a:r>
              <a:rPr sz="1300" b="0" i="0">
                <a:solidFill>
                  <a:srgbClr val="595959"/>
                </a:solidFill>
                <a:latin typeface="MS PGothic"/>
                <a:ea typeface="MS PGothic"/>
                <a:cs typeface="MS PGothic"/>
              </a:rPr>
              <a:t>ID方式・仲介ノード・24スロットのフレームは ros2can にもそのまま引き継がれている</a:t>
            </a:r>
          </a:p>
        </p:txBody>
      </p:sp>
      <p:sp>
        <p:nvSpPr>
          <p:cNvPr id="15" name="Rounded Rectangle 14"/>
          <p:cNvSpPr/>
          <p:nvPr/>
        </p:nvSpPr>
        <p:spPr>
          <a:xfrm>
            <a:off x="7406640" y="3749039"/>
            <a:ext cx="3200400" cy="19202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6" name="Oval 15"/>
          <p:cNvSpPr/>
          <p:nvPr/>
        </p:nvSpPr>
        <p:spPr>
          <a:xfrm>
            <a:off x="7589519" y="3931920"/>
            <a:ext cx="411480" cy="41148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3</a:t>
            </a:r>
          </a:p>
        </p:txBody>
      </p:sp>
      <p:sp>
        <p:nvSpPr>
          <p:cNvPr id="17" name="TextBox 16"/>
          <p:cNvSpPr txBox="1"/>
          <p:nvPr/>
        </p:nvSpPr>
        <p:spPr>
          <a:xfrm>
            <a:off x="8138160" y="3913632"/>
            <a:ext cx="2377440" cy="457200"/>
          </a:xfrm>
          <a:prstGeom prst="rect">
            <a:avLst/>
          </a:prstGeom>
          <a:noFill/>
        </p:spPr>
        <p:txBody>
          <a:bodyPr wrap="square" anchor="ctr" lIns="45720" rIns="45720"/>
          <a:lstStyle/>
          <a:p>
            <a:pPr algn="l">
              <a:spcAft>
                <a:spcPts val="400"/>
              </a:spcAft>
            </a:pPr>
            <a:r>
              <a:rPr sz="1600" b="1" i="0">
                <a:solidFill>
                  <a:srgbClr val="1F1F1F"/>
                </a:solidFill>
                <a:latin typeface="MS PGothic"/>
                <a:ea typeface="MS PGothic"/>
                <a:cs typeface="MS PGothic"/>
              </a:rPr>
              <a:t>移行の準備</a:t>
            </a:r>
          </a:p>
        </p:txBody>
      </p:sp>
      <p:sp>
        <p:nvSpPr>
          <p:cNvPr id="18" name="TextBox 17"/>
          <p:cNvSpPr txBox="1"/>
          <p:nvPr/>
        </p:nvSpPr>
        <p:spPr>
          <a:xfrm>
            <a:off x="7589519" y="4526280"/>
            <a:ext cx="2834640" cy="1097280"/>
          </a:xfrm>
          <a:prstGeom prst="rect">
            <a:avLst/>
          </a:prstGeom>
          <a:noFill/>
        </p:spPr>
        <p:txBody>
          <a:bodyPr wrap="square" anchor="t" lIns="45720" rIns="45720"/>
          <a:lstStyle/>
          <a:p>
            <a:pPr algn="l">
              <a:spcAft>
                <a:spcPts val="400"/>
              </a:spcAft>
            </a:pPr>
            <a:r>
              <a:rPr sz="1300" b="0" i="0">
                <a:solidFill>
                  <a:srgbClr val="595959"/>
                </a:solidFill>
                <a:latin typeface="MS PGothic"/>
                <a:ea typeface="MS PGothic"/>
                <a:cs typeface="MS PGothic"/>
              </a:rPr>
              <a:t>違いがわかれば ros2can への移行がスムーズになる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serial_bridgeとは</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3</a:t>
            </a:r>
          </a:p>
        </p:txBody>
      </p:sp>
      <p:sp>
        <p:nvSpPr>
          <p:cNvPr id="4" name="TextBox 3"/>
          <p:cNvSpPr txBox="1"/>
          <p:nvPr/>
        </p:nvSpPr>
        <p:spPr>
          <a:xfrm>
            <a:off x="548640" y="1325880"/>
            <a:ext cx="10149840" cy="822960"/>
          </a:xfrm>
          <a:prstGeom prst="rect">
            <a:avLst/>
          </a:prstGeom>
          <a:noFill/>
        </p:spPr>
        <p:txBody>
          <a:bodyPr wrap="square" anchor="t" lIns="45720" rIns="45720"/>
          <a:lstStyle/>
          <a:p>
            <a:pPr algn="l">
              <a:spcAft>
                <a:spcPts val="400"/>
              </a:spcAft>
            </a:pPr>
            <a:r>
              <a:rPr sz="1550" b="0" i="0">
                <a:solidFill>
                  <a:srgbClr val="1F1F1F"/>
                </a:solidFill>
                <a:latin typeface="MS PGothic"/>
                <a:ea typeface="MS PGothic"/>
                <a:cs typeface="MS PGothic"/>
              </a:rPr>
              <a:t>ROS 2 と複数マイコンの</a:t>
            </a:r>
            <a:r>
              <a:rPr sz="1550" b="1" i="0">
                <a:solidFill>
                  <a:srgbClr val="CB1C14"/>
                </a:solidFill>
                <a:latin typeface="MS PGothic"/>
                <a:ea typeface="MS PGothic"/>
                <a:cs typeface="MS PGothic"/>
              </a:rPr>
              <a:t>双方向通信</a:t>
            </a:r>
            <a:r>
              <a:rPr sz="1550" b="0" i="0">
                <a:solidFill>
                  <a:srgbClr val="1F1F1F"/>
                </a:solidFill>
                <a:latin typeface="MS PGothic"/>
                <a:ea typeface="MS PGothic"/>
                <a:cs typeface="MS PGothic"/>
              </a:rPr>
              <a:t>を実現する軽量・高速な通信パッケージ。micro-ROSと比べて容量・動作が軽く、ロボコンに特化しています。学ロボ26向けに開発しましたが、機体に依存せず使えます。</a:t>
            </a:r>
          </a:p>
        </p:txBody>
      </p:sp>
      <p:sp>
        <p:nvSpPr>
          <p:cNvPr id="5" name="Rounded Rectangle 4"/>
          <p:cNvSpPr/>
          <p:nvPr/>
        </p:nvSpPr>
        <p:spPr>
          <a:xfrm>
            <a:off x="548640" y="2331720"/>
            <a:ext cx="233172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6" name="TextBox 5"/>
          <p:cNvSpPr txBox="1"/>
          <p:nvPr/>
        </p:nvSpPr>
        <p:spPr>
          <a:xfrm>
            <a:off x="548640" y="2377440"/>
            <a:ext cx="2331720" cy="822960"/>
          </a:xfrm>
          <a:prstGeom prst="rect">
            <a:avLst/>
          </a:prstGeom>
          <a:noFill/>
        </p:spPr>
        <p:txBody>
          <a:bodyPr wrap="square" anchor="b" lIns="0" rIns="0" tIns="0" bIns="0"/>
          <a:lstStyle/>
          <a:p>
            <a:pPr algn="ctr">
              <a:spcAft>
                <a:spcPts val="400"/>
              </a:spcAft>
            </a:pPr>
            <a:r>
              <a:rPr sz="3400" b="1" i="0">
                <a:solidFill>
                  <a:srgbClr val="CB1C14"/>
                </a:solidFill>
                <a:latin typeface="MS PGothic"/>
                <a:ea typeface="MS PGothic"/>
                <a:cs typeface="MS PGothic"/>
              </a:rPr>
              <a:t>24</a:t>
            </a:r>
          </a:p>
        </p:txBody>
      </p:sp>
      <p:sp>
        <p:nvSpPr>
          <p:cNvPr id="7" name="TextBox 6"/>
          <p:cNvSpPr txBox="1"/>
          <p:nvPr/>
        </p:nvSpPr>
        <p:spPr>
          <a:xfrm>
            <a:off x="548640" y="3218688"/>
            <a:ext cx="2331720" cy="548640"/>
          </a:xfrm>
          <a:prstGeom prst="rect">
            <a:avLst/>
          </a:prstGeom>
          <a:noFill/>
        </p:spPr>
        <p:txBody>
          <a:bodyPr wrap="square" anchor="t" lIns="0" rIns="0" tIns="0" bIns="0"/>
          <a:lstStyle/>
          <a:p>
            <a:pPr algn="ctr">
              <a:spcAft>
                <a:spcPts val="400"/>
              </a:spcAft>
            </a:pPr>
            <a:r>
              <a:rPr sz="1250" b="0" i="0">
                <a:solidFill>
                  <a:srgbClr val="595959"/>
                </a:solidFill>
                <a:latin typeface="MS PGothic"/>
                <a:ea typeface="MS PGothic"/>
                <a:cs typeface="MS PGothic"/>
              </a:rPr>
              <a:t>× int16 スロット
（送信・受信それぞれ）</a:t>
            </a:r>
          </a:p>
        </p:txBody>
      </p:sp>
      <p:sp>
        <p:nvSpPr>
          <p:cNvPr id="8" name="Rounded Rectangle 7"/>
          <p:cNvSpPr/>
          <p:nvPr/>
        </p:nvSpPr>
        <p:spPr>
          <a:xfrm>
            <a:off x="3108960" y="2331720"/>
            <a:ext cx="233172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9" name="TextBox 8"/>
          <p:cNvSpPr txBox="1"/>
          <p:nvPr/>
        </p:nvSpPr>
        <p:spPr>
          <a:xfrm>
            <a:off x="3108960" y="2377440"/>
            <a:ext cx="2331720" cy="822960"/>
          </a:xfrm>
          <a:prstGeom prst="rect">
            <a:avLst/>
          </a:prstGeom>
          <a:noFill/>
        </p:spPr>
        <p:txBody>
          <a:bodyPr wrap="square" anchor="b" lIns="0" rIns="0" tIns="0" bIns="0"/>
          <a:lstStyle/>
          <a:p>
            <a:pPr algn="ctr">
              <a:spcAft>
                <a:spcPts val="400"/>
              </a:spcAft>
            </a:pPr>
            <a:r>
              <a:rPr sz="2600" b="1" i="0">
                <a:solidFill>
                  <a:srgbClr val="CB1C14"/>
                </a:solidFill>
                <a:latin typeface="MS PGothic"/>
                <a:ea typeface="MS PGothic"/>
                <a:cs typeface="MS PGothic"/>
              </a:rPr>
              <a:t>115200</a:t>
            </a:r>
          </a:p>
        </p:txBody>
      </p:sp>
      <p:sp>
        <p:nvSpPr>
          <p:cNvPr id="10" name="TextBox 9"/>
          <p:cNvSpPr txBox="1"/>
          <p:nvPr/>
        </p:nvSpPr>
        <p:spPr>
          <a:xfrm>
            <a:off x="3108960" y="3218688"/>
            <a:ext cx="2331720" cy="548640"/>
          </a:xfrm>
          <a:prstGeom prst="rect">
            <a:avLst/>
          </a:prstGeom>
          <a:noFill/>
        </p:spPr>
        <p:txBody>
          <a:bodyPr wrap="square" anchor="t" lIns="0" rIns="0" tIns="0" bIns="0"/>
          <a:lstStyle/>
          <a:p>
            <a:pPr algn="ctr">
              <a:spcAft>
                <a:spcPts val="400"/>
              </a:spcAft>
            </a:pPr>
            <a:r>
              <a:rPr sz="1250" b="0" i="0">
                <a:solidFill>
                  <a:srgbClr val="595959"/>
                </a:solidFill>
                <a:latin typeface="MS PGothic"/>
                <a:ea typeface="MS PGothic"/>
                <a:cs typeface="MS PGothic"/>
              </a:rPr>
              <a:t>bps のUSBシリアル</a:t>
            </a:r>
          </a:p>
        </p:txBody>
      </p:sp>
      <p:sp>
        <p:nvSpPr>
          <p:cNvPr id="11" name="Rounded Rectangle 10"/>
          <p:cNvSpPr/>
          <p:nvPr/>
        </p:nvSpPr>
        <p:spPr>
          <a:xfrm>
            <a:off x="5669279" y="2331720"/>
            <a:ext cx="233172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2" name="TextBox 11"/>
          <p:cNvSpPr txBox="1"/>
          <p:nvPr/>
        </p:nvSpPr>
        <p:spPr>
          <a:xfrm>
            <a:off x="5669279" y="2377440"/>
            <a:ext cx="2331720" cy="822960"/>
          </a:xfrm>
          <a:prstGeom prst="rect">
            <a:avLst/>
          </a:prstGeom>
          <a:noFill/>
        </p:spPr>
        <p:txBody>
          <a:bodyPr wrap="square" anchor="b" lIns="0" rIns="0" tIns="0" bIns="0"/>
          <a:lstStyle/>
          <a:p>
            <a:pPr algn="ctr">
              <a:spcAft>
                <a:spcPts val="400"/>
              </a:spcAft>
            </a:pPr>
            <a:r>
              <a:rPr sz="3400" b="1" i="0">
                <a:solidFill>
                  <a:srgbClr val="CB1C14"/>
                </a:solidFill>
                <a:latin typeface="MS PGothic"/>
                <a:ea typeface="MS PGothic"/>
                <a:cs typeface="MS PGothic"/>
              </a:rPr>
              <a:t>自動</a:t>
            </a:r>
          </a:p>
        </p:txBody>
      </p:sp>
      <p:sp>
        <p:nvSpPr>
          <p:cNvPr id="13" name="TextBox 12"/>
          <p:cNvSpPr txBox="1"/>
          <p:nvPr/>
        </p:nvSpPr>
        <p:spPr>
          <a:xfrm>
            <a:off x="5669279" y="3218688"/>
            <a:ext cx="2331720" cy="548640"/>
          </a:xfrm>
          <a:prstGeom prst="rect">
            <a:avLst/>
          </a:prstGeom>
          <a:noFill/>
        </p:spPr>
        <p:txBody>
          <a:bodyPr wrap="square" anchor="t" lIns="0" rIns="0" tIns="0" bIns="0"/>
          <a:lstStyle/>
          <a:p>
            <a:pPr algn="ctr">
              <a:spcAft>
                <a:spcPts val="400"/>
              </a:spcAft>
            </a:pPr>
            <a:r>
              <a:rPr sz="1250" b="0" i="0">
                <a:solidFill>
                  <a:srgbClr val="595959"/>
                </a:solidFill>
                <a:latin typeface="MS PGothic"/>
                <a:ea typeface="MS PGothic"/>
                <a:cs typeface="MS PGothic"/>
              </a:rPr>
              <a:t>ポートスキャン
（ポート指定不要）</a:t>
            </a:r>
          </a:p>
        </p:txBody>
      </p:sp>
      <p:sp>
        <p:nvSpPr>
          <p:cNvPr id="14" name="Rounded Rectangle 13"/>
          <p:cNvSpPr/>
          <p:nvPr/>
        </p:nvSpPr>
        <p:spPr>
          <a:xfrm>
            <a:off x="8229599" y="2331720"/>
            <a:ext cx="2331720" cy="18288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5" name="TextBox 14"/>
          <p:cNvSpPr txBox="1"/>
          <p:nvPr/>
        </p:nvSpPr>
        <p:spPr>
          <a:xfrm>
            <a:off x="8229599" y="2377440"/>
            <a:ext cx="2331720" cy="822960"/>
          </a:xfrm>
          <a:prstGeom prst="rect">
            <a:avLst/>
          </a:prstGeom>
          <a:noFill/>
        </p:spPr>
        <p:txBody>
          <a:bodyPr wrap="square" anchor="b" lIns="0" rIns="0" tIns="0" bIns="0"/>
          <a:lstStyle/>
          <a:p>
            <a:pPr algn="ctr">
              <a:spcAft>
                <a:spcPts val="400"/>
              </a:spcAft>
            </a:pPr>
            <a:r>
              <a:rPr sz="2600" b="1" i="0">
                <a:solidFill>
                  <a:srgbClr val="CB1C14"/>
                </a:solidFill>
                <a:latin typeface="MS PGothic"/>
                <a:ea typeface="MS PGothic"/>
                <a:cs typeface="MS PGothic"/>
              </a:rPr>
              <a:t>ホットプラグ</a:t>
            </a:r>
          </a:p>
        </p:txBody>
      </p:sp>
      <p:sp>
        <p:nvSpPr>
          <p:cNvPr id="16" name="TextBox 15"/>
          <p:cNvSpPr txBox="1"/>
          <p:nvPr/>
        </p:nvSpPr>
        <p:spPr>
          <a:xfrm>
            <a:off x="8229599" y="3218688"/>
            <a:ext cx="2331720" cy="548640"/>
          </a:xfrm>
          <a:prstGeom prst="rect">
            <a:avLst/>
          </a:prstGeom>
          <a:noFill/>
        </p:spPr>
        <p:txBody>
          <a:bodyPr wrap="square" anchor="t" lIns="0" rIns="0" tIns="0" bIns="0"/>
          <a:lstStyle/>
          <a:p>
            <a:pPr algn="ctr">
              <a:spcAft>
                <a:spcPts val="400"/>
              </a:spcAft>
            </a:pPr>
            <a:r>
              <a:rPr sz="1250" b="0" i="0">
                <a:solidFill>
                  <a:srgbClr val="595959"/>
                </a:solidFill>
                <a:latin typeface="MS PGothic"/>
                <a:ea typeface="MS PGothic"/>
                <a:cs typeface="MS PGothic"/>
              </a:rPr>
              <a:t>抜き挿ししても
自動で復帰</a:t>
            </a:r>
          </a:p>
        </p:txBody>
      </p:sp>
      <p:sp>
        <p:nvSpPr>
          <p:cNvPr id="17" name="TextBox 16"/>
          <p:cNvSpPr txBox="1"/>
          <p:nvPr/>
        </p:nvSpPr>
        <p:spPr>
          <a:xfrm>
            <a:off x="548640" y="4434840"/>
            <a:ext cx="10149840" cy="1371600"/>
          </a:xfrm>
          <a:prstGeom prst="rect">
            <a:avLst/>
          </a:prstGeom>
          <a:noFill/>
        </p:spPr>
        <p:txBody>
          <a:bodyPr wrap="square" anchor="t" lIns="45720" rIns="45720"/>
          <a:lstStyle/>
          <a:p>
            <a:pPr algn="l" marL="201168" indent="-201168">
              <a:spcAft>
                <a:spcPts val="800"/>
              </a:spcAft>
              <a:buClr>
                <a:srgbClr val="CB1C14"/>
              </a:buClr>
              <a:buFont typeface="Arial"/>
              <a:buChar char="•"/>
            </a:pPr>
            <a:r>
              <a:rPr sz="1400" b="0" i="0">
                <a:solidFill>
                  <a:srgbClr val="1F1F1F"/>
                </a:solidFill>
                <a:latin typeface="MS PGothic"/>
                <a:ea typeface="MS PGothic"/>
                <a:cs typeface="MS PGothic"/>
              </a:rPr>
              <a:t>マイコンはフレーム内の DEVICE_ID で識別するので、USBポートの順番に依存しない</a:t>
            </a:r>
          </a:p>
          <a:p>
            <a:pPr algn="l" marL="201168" indent="-201168">
              <a:spcAft>
                <a:spcPts val="800"/>
              </a:spcAft>
              <a:buClr>
                <a:srgbClr val="CB1C14"/>
              </a:buClr>
              <a:buFont typeface="Arial"/>
              <a:buChar char="•"/>
            </a:pPr>
            <a:r>
              <a:rPr sz="1400" b="0" i="0">
                <a:solidFill>
                  <a:srgbClr val="1F1F1F"/>
                </a:solidFill>
                <a:latin typeface="MS PGothic"/>
                <a:ea typeface="MS PGothic"/>
                <a:cs typeface="MS PGothic"/>
              </a:rPr>
              <a:t>XORチェックサムでフレームを検証、切断・タイムアウト時は自動で再接続</a:t>
            </a:r>
          </a:p>
          <a:p>
            <a:pPr algn="l" marL="201168" indent="-201168">
              <a:spcAft>
                <a:spcPts val="800"/>
              </a:spcAft>
              <a:buClr>
                <a:srgbClr val="CB1C14"/>
              </a:buClr>
              <a:buFont typeface="Arial"/>
              <a:buChar char="•"/>
            </a:pPr>
            <a:r>
              <a:rPr sz="1400" b="0" i="0">
                <a:solidFill>
                  <a:srgbClr val="1F1F1F"/>
                </a:solidFill>
                <a:latin typeface="MS PGothic"/>
                <a:ea typeface="MS PGothic"/>
                <a:cs typeface="MS PGothic"/>
              </a:rPr>
              <a:t>ESP32 / STM32 / B-G431 等のファームウェアを同梱（PlatformIO）。IDとモードを設定して書き込むだけ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377440"/>
            <a:ext cx="9144000" cy="1188720"/>
          </a:xfrm>
        </p:spPr>
        <p:txBody>
          <a:bodyPr anchor="t"/>
          <a:lstStyle/>
          <a:p>
            <a:pPr algn="l">
              <a:spcAft>
                <a:spcPts val="400"/>
              </a:spcAft>
            </a:pPr>
            <a:r>
              <a:rPr sz="4000" b="1" i="0">
                <a:solidFill>
                  <a:srgbClr val="1F1F1F"/>
                </a:solidFill>
                <a:latin typeface="MS PGothic"/>
                <a:ea typeface="MS PGothic"/>
                <a:cs typeface="MS PGothic"/>
              </a:rPr>
              <a:t>開発背景と要件</a:t>
            </a:r>
          </a:p>
        </p:txBody>
      </p:sp>
      <p:sp>
        <p:nvSpPr>
          <p:cNvPr id="3" name="Text Placeholder 2"/>
          <p:cNvSpPr>
            <a:spLocks noGrp="1"/>
          </p:cNvSpPr>
          <p:nvPr>
            <p:ph type="body" idx="1"/>
          </p:nvPr>
        </p:nvSpPr>
        <p:spPr>
          <a:xfrm>
            <a:off x="822960" y="3566160"/>
            <a:ext cx="9144000" cy="914400"/>
          </a:xfrm>
        </p:spPr>
        <p:txBody>
          <a:bodyPr/>
          <a:lstStyle/>
          <a:p>
            <a:pPr algn="l">
              <a:spcAft>
                <a:spcPts val="400"/>
              </a:spcAft>
            </a:pPr>
            <a:r>
              <a:rPr sz="1800" b="0" i="0">
                <a:solidFill>
                  <a:srgbClr val="595959"/>
                </a:solidFill>
                <a:latin typeface="MS PGothic"/>
                <a:ea typeface="MS PGothic"/>
                <a:cs typeface="MS PGothic"/>
              </a:rPr>
              <a:t>なぜシリアル通信 + ESP32 なのか</a:t>
            </a:r>
          </a:p>
        </p:txBody>
      </p:sp>
      <p:sp>
        <p:nvSpPr>
          <p:cNvPr id="4" name="TextBox 3"/>
          <p:cNvSpPr txBox="1"/>
          <p:nvPr/>
        </p:nvSpPr>
        <p:spPr>
          <a:xfrm>
            <a:off x="822960" y="1234440"/>
            <a:ext cx="2743200" cy="1097280"/>
          </a:xfrm>
          <a:prstGeom prst="rect">
            <a:avLst/>
          </a:prstGeom>
          <a:noFill/>
        </p:spPr>
        <p:txBody>
          <a:bodyPr wrap="square" anchor="b" lIns="0" rIns="0" tIns="0" bIns="0"/>
          <a:lstStyle/>
          <a:p>
            <a:pPr algn="l">
              <a:spcAft>
                <a:spcPts val="400"/>
              </a:spcAft>
            </a:pPr>
            <a:r>
              <a:rPr sz="7200" b="1" i="0">
                <a:solidFill>
                  <a:srgbClr val="CB1C14"/>
                </a:solidFill>
                <a:latin typeface="MS PGothic"/>
                <a:ea typeface="MS PGothic"/>
                <a:cs typeface="MS PGothic"/>
              </a:rPr>
              <a:t>01</a:t>
            </a:r>
          </a:p>
        </p:txBody>
      </p:sp>
      <p:sp>
        <p:nvSpPr>
          <p:cNvPr id="5" name="TextBox 4"/>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開発背景：無線から有線へ</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5</a:t>
            </a:r>
          </a:p>
        </p:txBody>
      </p:sp>
      <p:sp>
        <p:nvSpPr>
          <p:cNvPr id="4" name="Rounded Rectangle 3"/>
          <p:cNvSpPr/>
          <p:nvPr/>
        </p:nvSpPr>
        <p:spPr>
          <a:xfrm>
            <a:off x="548640" y="1417320"/>
            <a:ext cx="3017520" cy="13716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800" b="1" i="0">
                <a:solidFill>
                  <a:srgbClr val="1F1F1F"/>
                </a:solidFill>
                <a:latin typeface="MS PGothic"/>
                <a:ea typeface="MS PGothic"/>
                <a:cs typeface="MS PGothic"/>
              </a:rPr>
              <a:t>学ロボ25</a:t>
            </a:r>
          </a:p>
          <a:p>
            <a:pPr algn="ctr">
              <a:spcAft>
                <a:spcPts val="0"/>
              </a:spcAft>
            </a:pPr>
            <a:r>
              <a:rPr sz="1300" b="0" i="0">
                <a:solidFill>
                  <a:srgbClr val="1F1F1F"/>
                </a:solidFill>
                <a:latin typeface="MS PGothic"/>
                <a:ea typeface="MS PGothic"/>
                <a:cs typeface="MS PGothic"/>
              </a:rPr>
              <a:t>UDP経由の無線通信</a:t>
            </a:r>
          </a:p>
        </p:txBody>
      </p:sp>
      <p:cxnSp>
        <p:nvCxnSpPr>
          <p:cNvPr id="5" name="Connector 4"/>
          <p:cNvCxnSpPr/>
          <p:nvPr/>
        </p:nvCxnSpPr>
        <p:spPr>
          <a:xfrm>
            <a:off x="3611880" y="2103120"/>
            <a:ext cx="54864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206240" y="1417320"/>
            <a:ext cx="3017520" cy="1371600"/>
          </a:xfrm>
          <a:prstGeom prst="roundRect">
            <a:avLst>
              <a:gd name="adj" fmla="val 12000"/>
            </a:avLst>
          </a:prstGeom>
          <a:solidFill>
            <a:srgbClr val="F9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800" b="1" i="0">
                <a:solidFill>
                  <a:srgbClr val="CB1C14"/>
                </a:solidFill>
                <a:latin typeface="MS PGothic"/>
                <a:ea typeface="MS PGothic"/>
                <a:cs typeface="MS PGothic"/>
              </a:rPr>
              <a:t>問題</a:t>
            </a:r>
          </a:p>
          <a:p>
            <a:pPr algn="ctr">
              <a:spcAft>
                <a:spcPts val="0"/>
              </a:spcAft>
            </a:pPr>
            <a:r>
              <a:rPr sz="1300" b="0" i="0">
                <a:solidFill>
                  <a:srgbClr val="1F1F1F"/>
                </a:solidFill>
                <a:latin typeface="MS PGothic"/>
                <a:ea typeface="MS PGothic"/>
                <a:cs typeface="MS PGothic"/>
              </a:rPr>
              <a:t>電波干渉で会場での通信が不安定</a:t>
            </a:r>
          </a:p>
        </p:txBody>
      </p:sp>
      <p:cxnSp>
        <p:nvCxnSpPr>
          <p:cNvPr id="7" name="Connector 6"/>
          <p:cNvCxnSpPr/>
          <p:nvPr/>
        </p:nvCxnSpPr>
        <p:spPr>
          <a:xfrm>
            <a:off x="7269480" y="2103120"/>
            <a:ext cx="548640" cy="0"/>
          </a:xfrm>
          <a:prstGeom prst="line">
            <a:avLst/>
          </a:prstGeom>
          <a:ln w="317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863840" y="1417320"/>
            <a:ext cx="2834640" cy="137160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800" b="1" i="0">
                <a:solidFill>
                  <a:srgbClr val="FFFFFF"/>
                </a:solidFill>
                <a:latin typeface="MS PGothic"/>
                <a:ea typeface="MS PGothic"/>
                <a:cs typeface="MS PGothic"/>
              </a:rPr>
              <a:t>学ロボ26</a:t>
            </a:r>
          </a:p>
          <a:p>
            <a:pPr algn="ctr">
              <a:spcAft>
                <a:spcPts val="0"/>
              </a:spcAft>
            </a:pPr>
            <a:r>
              <a:rPr sz="1300" b="0" i="0">
                <a:solidFill>
                  <a:srgbClr val="FFFFFF"/>
                </a:solidFill>
                <a:latin typeface="MS PGothic"/>
                <a:ea typeface="MS PGothic"/>
                <a:cs typeface="MS PGothic"/>
              </a:rPr>
              <a:t>有線通信の確立を目標に</a:t>
            </a:r>
          </a:p>
        </p:txBody>
      </p:sp>
      <p:sp>
        <p:nvSpPr>
          <p:cNvPr id="9" name="TextBox 8"/>
          <p:cNvSpPr txBox="1"/>
          <p:nvPr/>
        </p:nvSpPr>
        <p:spPr>
          <a:xfrm>
            <a:off x="548640" y="3063240"/>
            <a:ext cx="10058400" cy="457200"/>
          </a:xfrm>
          <a:prstGeom prst="rect">
            <a:avLst/>
          </a:prstGeom>
          <a:noFill/>
        </p:spPr>
        <p:txBody>
          <a:bodyPr wrap="square" anchor="t" lIns="45720" rIns="45720"/>
          <a:lstStyle/>
          <a:p>
            <a:pPr algn="l">
              <a:spcAft>
                <a:spcPts val="400"/>
              </a:spcAft>
            </a:pPr>
            <a:r>
              <a:rPr sz="1800" b="1" i="0">
                <a:solidFill>
                  <a:srgbClr val="1F1F1F"/>
                </a:solidFill>
                <a:latin typeface="MS PGothic"/>
                <a:ea typeface="MS PGothic"/>
                <a:cs typeface="MS PGothic"/>
              </a:rPr>
              <a:t>有線通信の選択肢</a:t>
            </a:r>
          </a:p>
        </p:txBody>
      </p:sp>
      <p:sp>
        <p:nvSpPr>
          <p:cNvPr id="10" name="Rounded Rectangle 9"/>
          <p:cNvSpPr/>
          <p:nvPr/>
        </p:nvSpPr>
        <p:spPr>
          <a:xfrm>
            <a:off x="548640" y="3611880"/>
            <a:ext cx="3200400" cy="2148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1" name="TextBox 10"/>
          <p:cNvSpPr txBox="1"/>
          <p:nvPr/>
        </p:nvSpPr>
        <p:spPr>
          <a:xfrm>
            <a:off x="777240" y="3749039"/>
            <a:ext cx="2743200" cy="457200"/>
          </a:xfrm>
          <a:prstGeom prst="rect">
            <a:avLst/>
          </a:prstGeom>
          <a:noFill/>
        </p:spPr>
        <p:txBody>
          <a:bodyPr wrap="square" anchor="t" lIns="45720" rIns="45720"/>
          <a:lstStyle/>
          <a:p>
            <a:pPr algn="l">
              <a:spcAft>
                <a:spcPts val="400"/>
              </a:spcAft>
            </a:pPr>
            <a:r>
              <a:rPr sz="1800" b="1" i="0">
                <a:solidFill>
                  <a:srgbClr val="1F1F1F"/>
                </a:solidFill>
                <a:latin typeface="MS PGothic"/>
                <a:ea typeface="MS PGothic"/>
                <a:cs typeface="MS PGothic"/>
              </a:rPr>
              <a:t>EtherCAT</a:t>
            </a:r>
          </a:p>
        </p:txBody>
      </p:sp>
      <p:sp>
        <p:nvSpPr>
          <p:cNvPr id="12" name="TextBox 11"/>
          <p:cNvSpPr txBox="1"/>
          <p:nvPr/>
        </p:nvSpPr>
        <p:spPr>
          <a:xfrm>
            <a:off x="777240" y="4206240"/>
            <a:ext cx="2743200" cy="365760"/>
          </a:xfrm>
          <a:prstGeom prst="rect">
            <a:avLst/>
          </a:prstGeom>
          <a:noFill/>
        </p:spPr>
        <p:txBody>
          <a:bodyPr wrap="square" anchor="t" lIns="45720" rIns="45720"/>
          <a:lstStyle/>
          <a:p>
            <a:pPr algn="l">
              <a:spcAft>
                <a:spcPts val="400"/>
              </a:spcAft>
            </a:pPr>
            <a:r>
              <a:rPr sz="1200" b="1" i="0">
                <a:solidFill>
                  <a:srgbClr val="8C8C8C"/>
                </a:solidFill>
                <a:latin typeface="MS PGothic"/>
                <a:ea typeface="MS PGothic"/>
                <a:cs typeface="MS PGothic"/>
              </a:rPr>
              <a:t>ロボコンの主流の1つ</a:t>
            </a:r>
          </a:p>
        </p:txBody>
      </p:sp>
      <p:sp>
        <p:nvSpPr>
          <p:cNvPr id="13" name="TextBox 12"/>
          <p:cNvSpPr txBox="1"/>
          <p:nvPr/>
        </p:nvSpPr>
        <p:spPr>
          <a:xfrm>
            <a:off x="777240" y="4572000"/>
            <a:ext cx="2743200" cy="1143000"/>
          </a:xfrm>
          <a:prstGeom prst="rect">
            <a:avLst/>
          </a:prstGeom>
          <a:noFill/>
        </p:spPr>
        <p:txBody>
          <a:bodyPr wrap="square" anchor="t" lIns="45720" rIns="45720"/>
          <a:lstStyle/>
          <a:p>
            <a:pPr algn="l">
              <a:spcAft>
                <a:spcPts val="400"/>
              </a:spcAft>
            </a:pPr>
            <a:r>
              <a:rPr sz="1250" b="0" i="0">
                <a:solidFill>
                  <a:srgbClr val="595959"/>
                </a:solidFill>
                <a:latin typeface="MS PGothic"/>
                <a:ea typeface="MS PGothic"/>
                <a:cs typeface="MS PGothic"/>
              </a:rPr>
              <a:t>導入コストが大きく、予算の少ないプロジェクトでは困難</a:t>
            </a:r>
          </a:p>
        </p:txBody>
      </p:sp>
      <p:sp>
        <p:nvSpPr>
          <p:cNvPr id="14" name="Rounded Rectangle 13"/>
          <p:cNvSpPr/>
          <p:nvPr/>
        </p:nvSpPr>
        <p:spPr>
          <a:xfrm>
            <a:off x="3977639" y="3611880"/>
            <a:ext cx="3200400" cy="21488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5" name="TextBox 14"/>
          <p:cNvSpPr txBox="1"/>
          <p:nvPr/>
        </p:nvSpPr>
        <p:spPr>
          <a:xfrm>
            <a:off x="4206240" y="3749039"/>
            <a:ext cx="2743200" cy="457200"/>
          </a:xfrm>
          <a:prstGeom prst="rect">
            <a:avLst/>
          </a:prstGeom>
          <a:noFill/>
        </p:spPr>
        <p:txBody>
          <a:bodyPr wrap="square" anchor="t" lIns="45720" rIns="45720"/>
          <a:lstStyle/>
          <a:p>
            <a:pPr algn="l">
              <a:spcAft>
                <a:spcPts val="400"/>
              </a:spcAft>
            </a:pPr>
            <a:r>
              <a:rPr sz="1800" b="1" i="0">
                <a:solidFill>
                  <a:srgbClr val="1F1F1F"/>
                </a:solidFill>
                <a:latin typeface="MS PGothic"/>
                <a:ea typeface="MS PGothic"/>
                <a:cs typeface="MS PGothic"/>
              </a:rPr>
              <a:t>CAN</a:t>
            </a:r>
          </a:p>
        </p:txBody>
      </p:sp>
      <p:sp>
        <p:nvSpPr>
          <p:cNvPr id="16" name="TextBox 15"/>
          <p:cNvSpPr txBox="1"/>
          <p:nvPr/>
        </p:nvSpPr>
        <p:spPr>
          <a:xfrm>
            <a:off x="4206240" y="4206240"/>
            <a:ext cx="2743200" cy="365760"/>
          </a:xfrm>
          <a:prstGeom prst="rect">
            <a:avLst/>
          </a:prstGeom>
          <a:noFill/>
        </p:spPr>
        <p:txBody>
          <a:bodyPr wrap="square" anchor="t" lIns="45720" rIns="45720"/>
          <a:lstStyle/>
          <a:p>
            <a:pPr algn="l">
              <a:spcAft>
                <a:spcPts val="400"/>
              </a:spcAft>
            </a:pPr>
            <a:r>
              <a:rPr sz="1200" b="1" i="0">
                <a:solidFill>
                  <a:srgbClr val="8C8C8C"/>
                </a:solidFill>
                <a:latin typeface="MS PGothic"/>
                <a:ea typeface="MS PGothic"/>
                <a:cs typeface="MS PGothic"/>
              </a:rPr>
              <a:t>ロボコンの主流の1つ</a:t>
            </a:r>
          </a:p>
        </p:txBody>
      </p:sp>
      <p:sp>
        <p:nvSpPr>
          <p:cNvPr id="17" name="TextBox 16"/>
          <p:cNvSpPr txBox="1"/>
          <p:nvPr/>
        </p:nvSpPr>
        <p:spPr>
          <a:xfrm>
            <a:off x="4206240" y="4572000"/>
            <a:ext cx="2743200" cy="1143000"/>
          </a:xfrm>
          <a:prstGeom prst="rect">
            <a:avLst/>
          </a:prstGeom>
          <a:noFill/>
        </p:spPr>
        <p:txBody>
          <a:bodyPr wrap="square" anchor="t" lIns="45720" rIns="45720"/>
          <a:lstStyle/>
          <a:p>
            <a:pPr algn="l">
              <a:spcAft>
                <a:spcPts val="400"/>
              </a:spcAft>
            </a:pPr>
            <a:r>
              <a:rPr sz="1250" b="0" i="0">
                <a:solidFill>
                  <a:srgbClr val="595959"/>
                </a:solidFill>
                <a:latin typeface="MS PGothic"/>
                <a:ea typeface="MS PGothic"/>
                <a:cs typeface="MS PGothic"/>
              </a:rPr>
              <a:t>導入コストは低いが、CAN対応MDや各アクチュエータへの変換など開発コストが高い</a:t>
            </a:r>
          </a:p>
        </p:txBody>
      </p:sp>
      <p:sp>
        <p:nvSpPr>
          <p:cNvPr id="18" name="Rounded Rectangle 17"/>
          <p:cNvSpPr/>
          <p:nvPr/>
        </p:nvSpPr>
        <p:spPr>
          <a:xfrm>
            <a:off x="7406640" y="3611880"/>
            <a:ext cx="3200400" cy="2148840"/>
          </a:xfrm>
          <a:prstGeom prst="roundRect">
            <a:avLst>
              <a:gd name="adj" fmla="val 12000"/>
            </a:avLst>
          </a:prstGeom>
          <a:solidFill>
            <a:srgbClr val="F9E3E1"/>
          </a:solidFill>
          <a:ln w="254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9" name="TextBox 18"/>
          <p:cNvSpPr txBox="1"/>
          <p:nvPr/>
        </p:nvSpPr>
        <p:spPr>
          <a:xfrm>
            <a:off x="7635240" y="3749039"/>
            <a:ext cx="2743200" cy="457200"/>
          </a:xfrm>
          <a:prstGeom prst="rect">
            <a:avLst/>
          </a:prstGeom>
          <a:noFill/>
        </p:spPr>
        <p:txBody>
          <a:bodyPr wrap="square" anchor="t" lIns="45720" rIns="45720"/>
          <a:lstStyle/>
          <a:p>
            <a:pPr algn="l">
              <a:spcAft>
                <a:spcPts val="400"/>
              </a:spcAft>
            </a:pPr>
            <a:r>
              <a:rPr sz="1800" b="1" i="0">
                <a:solidFill>
                  <a:srgbClr val="CB1C14"/>
                </a:solidFill>
                <a:latin typeface="MS PGothic"/>
                <a:ea typeface="MS PGothic"/>
                <a:cs typeface="MS PGothic"/>
              </a:rPr>
              <a:t>シリアル通信</a:t>
            </a:r>
          </a:p>
        </p:txBody>
      </p:sp>
      <p:sp>
        <p:nvSpPr>
          <p:cNvPr id="20" name="TextBox 19"/>
          <p:cNvSpPr txBox="1"/>
          <p:nvPr/>
        </p:nvSpPr>
        <p:spPr>
          <a:xfrm>
            <a:off x="7635240" y="4206240"/>
            <a:ext cx="2743200" cy="365760"/>
          </a:xfrm>
          <a:prstGeom prst="rect">
            <a:avLst/>
          </a:prstGeom>
          <a:noFill/>
        </p:spPr>
        <p:txBody>
          <a:bodyPr wrap="square" anchor="t" lIns="45720" rIns="45720"/>
          <a:lstStyle/>
          <a:p>
            <a:pPr algn="l">
              <a:spcAft>
                <a:spcPts val="400"/>
              </a:spcAft>
            </a:pPr>
            <a:r>
              <a:rPr sz="1200" b="1" i="0">
                <a:solidFill>
                  <a:srgbClr val="CB1C14"/>
                </a:solidFill>
                <a:latin typeface="MS PGothic"/>
                <a:ea typeface="MS PGothic"/>
                <a:cs typeface="MS PGothic"/>
              </a:rPr>
              <a:t>採用</a:t>
            </a:r>
          </a:p>
        </p:txBody>
      </p:sp>
      <p:sp>
        <p:nvSpPr>
          <p:cNvPr id="21" name="TextBox 20"/>
          <p:cNvSpPr txBox="1"/>
          <p:nvPr/>
        </p:nvSpPr>
        <p:spPr>
          <a:xfrm>
            <a:off x="7635240" y="4572000"/>
            <a:ext cx="2743200" cy="1143000"/>
          </a:xfrm>
          <a:prstGeom prst="rect">
            <a:avLst/>
          </a:prstGeom>
          <a:noFill/>
        </p:spPr>
        <p:txBody>
          <a:bodyPr wrap="square" anchor="t" lIns="45720" rIns="45720"/>
          <a:lstStyle/>
          <a:p>
            <a:pPr algn="l">
              <a:spcAft>
                <a:spcPts val="400"/>
              </a:spcAft>
            </a:pPr>
            <a:r>
              <a:rPr sz="1250" b="0" i="0">
                <a:solidFill>
                  <a:srgbClr val="595959"/>
                </a:solidFill>
                <a:latin typeface="MS PGothic"/>
                <a:ea typeface="MS PGothic"/>
                <a:cs typeface="MS PGothic"/>
              </a:rPr>
              <a:t>講習でも扱っており、追加のハードウェアやライブラリなしで実装できる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要件の設定</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6</a:t>
            </a:r>
          </a:p>
        </p:txBody>
      </p:sp>
      <p:sp>
        <p:nvSpPr>
          <p:cNvPr id="4" name="TextBox 3"/>
          <p:cNvSpPr txBox="1"/>
          <p:nvPr/>
        </p:nvSpPr>
        <p:spPr>
          <a:xfrm>
            <a:off x="548640" y="1280160"/>
            <a:ext cx="10149840" cy="548640"/>
          </a:xfrm>
          <a:prstGeom prst="rect">
            <a:avLst/>
          </a:prstGeom>
          <a:noFill/>
        </p:spPr>
        <p:txBody>
          <a:bodyPr wrap="square" anchor="t" lIns="45720" rIns="45720"/>
          <a:lstStyle/>
          <a:p>
            <a:pPr algn="l">
              <a:spcAft>
                <a:spcPts val="400"/>
              </a:spcAft>
            </a:pPr>
            <a:r>
              <a:rPr sz="1450" b="0" i="0">
                <a:solidFill>
                  <a:srgbClr val="595959"/>
                </a:solidFill>
                <a:latin typeface="MS PGothic"/>
                <a:ea typeface="MS PGothic"/>
                <a:cs typeface="MS PGothic"/>
              </a:rPr>
              <a:t>1回生ではじめてロボットを触る人が大多数。システムの維持・開発を極力簡単にするため、次の要件を定めました。</a:t>
            </a:r>
          </a:p>
        </p:txBody>
      </p:sp>
      <p:sp>
        <p:nvSpPr>
          <p:cNvPr id="5" name="Rounded Rectangle 4"/>
          <p:cNvSpPr/>
          <p:nvPr/>
        </p:nvSpPr>
        <p:spPr>
          <a:xfrm>
            <a:off x="548640" y="201168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6" name="Oval 5"/>
          <p:cNvSpPr/>
          <p:nvPr/>
        </p:nvSpPr>
        <p:spPr>
          <a:xfrm>
            <a:off x="731520" y="234086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1</a:t>
            </a:r>
          </a:p>
        </p:txBody>
      </p:sp>
      <p:sp>
        <p:nvSpPr>
          <p:cNvPr id="7" name="TextBox 6"/>
          <p:cNvSpPr txBox="1"/>
          <p:nvPr/>
        </p:nvSpPr>
        <p:spPr>
          <a:xfrm>
            <a:off x="1325880" y="210312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開発者1名で開発できる</a:t>
            </a:r>
          </a:p>
        </p:txBody>
      </p:sp>
      <p:sp>
        <p:nvSpPr>
          <p:cNvPr id="8" name="Rounded Rectangle 7"/>
          <p:cNvSpPr/>
          <p:nvPr/>
        </p:nvSpPr>
        <p:spPr>
          <a:xfrm>
            <a:off x="3977639" y="201168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9" name="Oval 8"/>
          <p:cNvSpPr/>
          <p:nvPr/>
        </p:nvSpPr>
        <p:spPr>
          <a:xfrm>
            <a:off x="4160520" y="234086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2</a:t>
            </a:r>
          </a:p>
        </p:txBody>
      </p:sp>
      <p:sp>
        <p:nvSpPr>
          <p:cNvPr id="10" name="TextBox 9"/>
          <p:cNvSpPr txBox="1"/>
          <p:nvPr/>
        </p:nvSpPr>
        <p:spPr>
          <a:xfrm>
            <a:off x="4754879" y="210312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低予算で実装できる</a:t>
            </a:r>
          </a:p>
        </p:txBody>
      </p:sp>
      <p:sp>
        <p:nvSpPr>
          <p:cNvPr id="11" name="Rounded Rectangle 10"/>
          <p:cNvSpPr/>
          <p:nvPr/>
        </p:nvSpPr>
        <p:spPr>
          <a:xfrm>
            <a:off x="7406640" y="201168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2" name="Oval 11"/>
          <p:cNvSpPr/>
          <p:nvPr/>
        </p:nvSpPr>
        <p:spPr>
          <a:xfrm>
            <a:off x="7589519" y="234086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3</a:t>
            </a:r>
          </a:p>
        </p:txBody>
      </p:sp>
      <p:sp>
        <p:nvSpPr>
          <p:cNvPr id="13" name="TextBox 12"/>
          <p:cNvSpPr txBox="1"/>
          <p:nvPr/>
        </p:nvSpPr>
        <p:spPr>
          <a:xfrm>
            <a:off x="8183879" y="210312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追加のハードウェアが少ない（既存のハードを活用）</a:t>
            </a:r>
          </a:p>
        </p:txBody>
      </p:sp>
      <p:sp>
        <p:nvSpPr>
          <p:cNvPr id="14" name="Rounded Rectangle 13"/>
          <p:cNvSpPr/>
          <p:nvPr/>
        </p:nvSpPr>
        <p:spPr>
          <a:xfrm>
            <a:off x="548640" y="329184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5" name="Oval 14"/>
          <p:cNvSpPr/>
          <p:nvPr/>
        </p:nvSpPr>
        <p:spPr>
          <a:xfrm>
            <a:off x="731520" y="362102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4</a:t>
            </a:r>
          </a:p>
        </p:txBody>
      </p:sp>
      <p:sp>
        <p:nvSpPr>
          <p:cNvPr id="16" name="TextBox 15"/>
          <p:cNvSpPr txBox="1"/>
          <p:nvPr/>
        </p:nvSpPr>
        <p:spPr>
          <a:xfrm>
            <a:off x="1325880" y="338328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高速である</a:t>
            </a:r>
          </a:p>
        </p:txBody>
      </p:sp>
      <p:sp>
        <p:nvSpPr>
          <p:cNvPr id="17" name="Rounded Rectangle 16"/>
          <p:cNvSpPr/>
          <p:nvPr/>
        </p:nvSpPr>
        <p:spPr>
          <a:xfrm>
            <a:off x="3977639" y="329184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8" name="Oval 17"/>
          <p:cNvSpPr/>
          <p:nvPr/>
        </p:nvSpPr>
        <p:spPr>
          <a:xfrm>
            <a:off x="4160520" y="362102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5</a:t>
            </a:r>
          </a:p>
        </p:txBody>
      </p:sp>
      <p:sp>
        <p:nvSpPr>
          <p:cNvPr id="19" name="TextBox 18"/>
          <p:cNvSpPr txBox="1"/>
          <p:nvPr/>
        </p:nvSpPr>
        <p:spPr>
          <a:xfrm>
            <a:off x="4754879" y="338328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軽量である</a:t>
            </a:r>
          </a:p>
        </p:txBody>
      </p:sp>
      <p:sp>
        <p:nvSpPr>
          <p:cNvPr id="20" name="Rounded Rectangle 19"/>
          <p:cNvSpPr/>
          <p:nvPr/>
        </p:nvSpPr>
        <p:spPr>
          <a:xfrm>
            <a:off x="7406640" y="329184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1" name="Oval 20"/>
          <p:cNvSpPr/>
          <p:nvPr/>
        </p:nvSpPr>
        <p:spPr>
          <a:xfrm>
            <a:off x="7589519" y="362102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6</a:t>
            </a:r>
          </a:p>
        </p:txBody>
      </p:sp>
      <p:sp>
        <p:nvSpPr>
          <p:cNvPr id="22" name="TextBox 21"/>
          <p:cNvSpPr txBox="1"/>
          <p:nvPr/>
        </p:nvSpPr>
        <p:spPr>
          <a:xfrm>
            <a:off x="8183879" y="338328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学習コストが低い（できればArduino言語）</a:t>
            </a:r>
          </a:p>
        </p:txBody>
      </p:sp>
      <p:sp>
        <p:nvSpPr>
          <p:cNvPr id="23" name="Rounded Rectangle 22"/>
          <p:cNvSpPr/>
          <p:nvPr/>
        </p:nvSpPr>
        <p:spPr>
          <a:xfrm>
            <a:off x="548640" y="457200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4" name="Oval 23"/>
          <p:cNvSpPr/>
          <p:nvPr/>
        </p:nvSpPr>
        <p:spPr>
          <a:xfrm>
            <a:off x="731520" y="490118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7</a:t>
            </a:r>
          </a:p>
        </p:txBody>
      </p:sp>
      <p:sp>
        <p:nvSpPr>
          <p:cNvPr id="25" name="TextBox 24"/>
          <p:cNvSpPr txBox="1"/>
          <p:nvPr/>
        </p:nvSpPr>
        <p:spPr>
          <a:xfrm>
            <a:off x="1325880" y="466344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ROSに依存しない</a:t>
            </a:r>
          </a:p>
        </p:txBody>
      </p:sp>
      <p:sp>
        <p:nvSpPr>
          <p:cNvPr id="26" name="Rounded Rectangle 25"/>
          <p:cNvSpPr/>
          <p:nvPr/>
        </p:nvSpPr>
        <p:spPr>
          <a:xfrm>
            <a:off x="3977639" y="457200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7" name="Oval 26"/>
          <p:cNvSpPr/>
          <p:nvPr/>
        </p:nvSpPr>
        <p:spPr>
          <a:xfrm>
            <a:off x="4160520" y="490118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8</a:t>
            </a:r>
          </a:p>
        </p:txBody>
      </p:sp>
      <p:sp>
        <p:nvSpPr>
          <p:cNvPr id="28" name="TextBox 27"/>
          <p:cNvSpPr txBox="1"/>
          <p:nvPr/>
        </p:nvSpPr>
        <p:spPr>
          <a:xfrm>
            <a:off x="4754879" y="466344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有線通信である</a:t>
            </a:r>
          </a:p>
        </p:txBody>
      </p:sp>
      <p:sp>
        <p:nvSpPr>
          <p:cNvPr id="29" name="Rounded Rectangle 28"/>
          <p:cNvSpPr/>
          <p:nvPr/>
        </p:nvSpPr>
        <p:spPr>
          <a:xfrm>
            <a:off x="7406640" y="4572000"/>
            <a:ext cx="320040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30" name="Oval 29"/>
          <p:cNvSpPr/>
          <p:nvPr/>
        </p:nvSpPr>
        <p:spPr>
          <a:xfrm>
            <a:off x="7589519" y="490118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9</a:t>
            </a:r>
          </a:p>
        </p:txBody>
      </p:sp>
      <p:sp>
        <p:nvSpPr>
          <p:cNvPr id="31" name="TextBox 30"/>
          <p:cNvSpPr txBox="1"/>
          <p:nvPr/>
        </p:nvSpPr>
        <p:spPr>
          <a:xfrm>
            <a:off x="8183879" y="4663440"/>
            <a:ext cx="2331720" cy="914400"/>
          </a:xfrm>
          <a:prstGeom prst="rect">
            <a:avLst/>
          </a:prstGeom>
          <a:noFill/>
        </p:spPr>
        <p:txBody>
          <a:bodyPr wrap="square" anchor="ctr" lIns="45720" rIns="45720"/>
          <a:lstStyle/>
          <a:p>
            <a:pPr algn="l">
              <a:spcAft>
                <a:spcPts val="400"/>
              </a:spcAft>
            </a:pPr>
            <a:r>
              <a:rPr sz="1350" b="1" i="0">
                <a:solidFill>
                  <a:srgbClr val="1F1F1F"/>
                </a:solidFill>
                <a:latin typeface="MS PGothic"/>
                <a:ea typeface="MS PGothic"/>
                <a:cs typeface="MS PGothic"/>
              </a:rPr>
              <a:t>汎用性が高い（他の機体でも流用）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仕様の決定</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7</a:t>
            </a:r>
          </a:p>
        </p:txBody>
      </p:sp>
      <p:sp>
        <p:nvSpPr>
          <p:cNvPr id="4" name="Rounded Rectangle 3"/>
          <p:cNvSpPr/>
          <p:nvPr/>
        </p:nvSpPr>
        <p:spPr>
          <a:xfrm>
            <a:off x="548640" y="1417320"/>
            <a:ext cx="4937760" cy="3017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5" name="TextBox 4"/>
          <p:cNvSpPr txBox="1"/>
          <p:nvPr/>
        </p:nvSpPr>
        <p:spPr>
          <a:xfrm>
            <a:off x="822959" y="1554480"/>
            <a:ext cx="4389120" cy="365760"/>
          </a:xfrm>
          <a:prstGeom prst="rect">
            <a:avLst/>
          </a:prstGeom>
          <a:noFill/>
        </p:spPr>
        <p:txBody>
          <a:bodyPr wrap="square" anchor="t" lIns="45720" rIns="45720"/>
          <a:lstStyle/>
          <a:p>
            <a:pPr algn="l">
              <a:spcAft>
                <a:spcPts val="400"/>
              </a:spcAft>
            </a:pPr>
            <a:r>
              <a:rPr sz="1400" b="1" i="0">
                <a:solidFill>
                  <a:srgbClr val="595959"/>
                </a:solidFill>
                <a:latin typeface="MS PGothic"/>
                <a:ea typeface="MS PGothic"/>
                <a:cs typeface="MS PGothic"/>
              </a:rPr>
              <a:t>通信方式</a:t>
            </a:r>
          </a:p>
        </p:txBody>
      </p:sp>
      <p:sp>
        <p:nvSpPr>
          <p:cNvPr id="6" name="TextBox 5"/>
          <p:cNvSpPr txBox="1"/>
          <p:nvPr/>
        </p:nvSpPr>
        <p:spPr>
          <a:xfrm>
            <a:off x="822959" y="1920240"/>
            <a:ext cx="4389120" cy="731520"/>
          </a:xfrm>
          <a:prstGeom prst="rect">
            <a:avLst/>
          </a:prstGeom>
          <a:noFill/>
        </p:spPr>
        <p:txBody>
          <a:bodyPr wrap="square" anchor="t" lIns="45720" rIns="45720"/>
          <a:lstStyle/>
          <a:p>
            <a:pPr algn="l">
              <a:spcAft>
                <a:spcPts val="400"/>
              </a:spcAft>
            </a:pPr>
            <a:r>
              <a:rPr sz="3200" b="1" i="0">
                <a:solidFill>
                  <a:srgbClr val="CB1C14"/>
                </a:solidFill>
                <a:latin typeface="MS PGothic"/>
                <a:ea typeface="MS PGothic"/>
                <a:cs typeface="MS PGothic"/>
              </a:rPr>
              <a:t>シリアル通信</a:t>
            </a:r>
          </a:p>
        </p:txBody>
      </p:sp>
      <p:sp>
        <p:nvSpPr>
          <p:cNvPr id="7" name="TextBox 6"/>
          <p:cNvSpPr txBox="1"/>
          <p:nvPr/>
        </p:nvSpPr>
        <p:spPr>
          <a:xfrm>
            <a:off x="822959" y="2743200"/>
            <a:ext cx="4389120" cy="1645920"/>
          </a:xfrm>
          <a:prstGeom prst="rect">
            <a:avLst/>
          </a:prstGeom>
          <a:noFill/>
        </p:spPr>
        <p:txBody>
          <a:bodyPr wrap="square" anchor="t" lIns="45720" rIns="45720"/>
          <a:lstStyle/>
          <a:p>
            <a:pPr algn="l" marL="201168" indent="-201168">
              <a:spcAft>
                <a:spcPts val="600"/>
              </a:spcAft>
              <a:buClr>
                <a:srgbClr val="CB1C14"/>
              </a:buClr>
              <a:buFont typeface="Arial"/>
              <a:buChar char="•"/>
            </a:pPr>
            <a:r>
              <a:rPr sz="1400" b="0" i="0">
                <a:solidFill>
                  <a:srgbClr val="1F1F1F"/>
                </a:solidFill>
                <a:latin typeface="MS PGothic"/>
                <a:ea typeface="MS PGothic"/>
                <a:cs typeface="MS PGothic"/>
              </a:rPr>
              <a:t>講習でも扱っている</a:t>
            </a:r>
          </a:p>
          <a:p>
            <a:pPr algn="l" marL="201168" indent="-201168">
              <a:spcAft>
                <a:spcPts val="600"/>
              </a:spcAft>
              <a:buClr>
                <a:srgbClr val="CB1C14"/>
              </a:buClr>
              <a:buFont typeface="Arial"/>
              <a:buChar char="•"/>
            </a:pPr>
            <a:r>
              <a:rPr sz="1400" b="0" i="0">
                <a:solidFill>
                  <a:srgbClr val="1F1F1F"/>
                </a:solidFill>
                <a:latin typeface="MS PGothic"/>
                <a:ea typeface="MS PGothic"/>
                <a:cs typeface="MS PGothic"/>
              </a:rPr>
              <a:t>追加のハードウェア・ライブラリが不要</a:t>
            </a:r>
          </a:p>
        </p:txBody>
      </p:sp>
      <p:sp>
        <p:nvSpPr>
          <p:cNvPr id="8" name="Rounded Rectangle 7"/>
          <p:cNvSpPr/>
          <p:nvPr/>
        </p:nvSpPr>
        <p:spPr>
          <a:xfrm>
            <a:off x="5715000" y="1417320"/>
            <a:ext cx="4937760" cy="3017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9" name="TextBox 8"/>
          <p:cNvSpPr txBox="1"/>
          <p:nvPr/>
        </p:nvSpPr>
        <p:spPr>
          <a:xfrm>
            <a:off x="5989320" y="1554480"/>
            <a:ext cx="4389120" cy="365760"/>
          </a:xfrm>
          <a:prstGeom prst="rect">
            <a:avLst/>
          </a:prstGeom>
          <a:noFill/>
        </p:spPr>
        <p:txBody>
          <a:bodyPr wrap="square" anchor="t" lIns="45720" rIns="45720"/>
          <a:lstStyle/>
          <a:p>
            <a:pPr algn="l">
              <a:spcAft>
                <a:spcPts val="400"/>
              </a:spcAft>
            </a:pPr>
            <a:r>
              <a:rPr sz="1400" b="1" i="0">
                <a:solidFill>
                  <a:srgbClr val="595959"/>
                </a:solidFill>
                <a:latin typeface="MS PGothic"/>
                <a:ea typeface="MS PGothic"/>
                <a:cs typeface="MS PGothic"/>
              </a:rPr>
              <a:t>マイコン</a:t>
            </a:r>
          </a:p>
        </p:txBody>
      </p:sp>
      <p:sp>
        <p:nvSpPr>
          <p:cNvPr id="10" name="TextBox 9"/>
          <p:cNvSpPr txBox="1"/>
          <p:nvPr/>
        </p:nvSpPr>
        <p:spPr>
          <a:xfrm>
            <a:off x="5989320" y="1920240"/>
            <a:ext cx="4389120" cy="731520"/>
          </a:xfrm>
          <a:prstGeom prst="rect">
            <a:avLst/>
          </a:prstGeom>
          <a:noFill/>
        </p:spPr>
        <p:txBody>
          <a:bodyPr wrap="square" anchor="t" lIns="45720" rIns="45720"/>
          <a:lstStyle/>
          <a:p>
            <a:pPr algn="l">
              <a:spcAft>
                <a:spcPts val="400"/>
              </a:spcAft>
            </a:pPr>
            <a:r>
              <a:rPr sz="3200" b="1" i="0">
                <a:solidFill>
                  <a:srgbClr val="CB1C14"/>
                </a:solidFill>
                <a:latin typeface="MS PGothic"/>
                <a:ea typeface="MS PGothic"/>
                <a:cs typeface="MS PGothic"/>
              </a:rPr>
              <a:t>ESP32</a:t>
            </a:r>
          </a:p>
        </p:txBody>
      </p:sp>
      <p:sp>
        <p:nvSpPr>
          <p:cNvPr id="11" name="TextBox 10"/>
          <p:cNvSpPr txBox="1"/>
          <p:nvPr/>
        </p:nvSpPr>
        <p:spPr>
          <a:xfrm>
            <a:off x="5989320" y="2743200"/>
            <a:ext cx="4389120" cy="1645920"/>
          </a:xfrm>
          <a:prstGeom prst="rect">
            <a:avLst/>
          </a:prstGeom>
          <a:noFill/>
        </p:spPr>
        <p:txBody>
          <a:bodyPr wrap="square" anchor="t" lIns="45720" rIns="45720"/>
          <a:lstStyle/>
          <a:p>
            <a:pPr algn="l" marL="201168" indent="-201168">
              <a:spcAft>
                <a:spcPts val="600"/>
              </a:spcAft>
              <a:buClr>
                <a:srgbClr val="CB1C14"/>
              </a:buClr>
              <a:buFont typeface="Arial"/>
              <a:buChar char="•"/>
            </a:pPr>
            <a:r>
              <a:rPr sz="1400" b="0" i="0">
                <a:solidFill>
                  <a:srgbClr val="1F1F1F"/>
                </a:solidFill>
                <a:latin typeface="MS PGothic"/>
                <a:ea typeface="MS PGothic"/>
                <a:cs typeface="MS PGothic"/>
              </a:rPr>
              <a:t>Arduino言語で扱える</a:t>
            </a:r>
          </a:p>
          <a:p>
            <a:pPr algn="l" marL="201168" indent="-201168">
              <a:spcAft>
                <a:spcPts val="600"/>
              </a:spcAft>
              <a:buClr>
                <a:srgbClr val="CB1C14"/>
              </a:buClr>
              <a:buFont typeface="Arial"/>
              <a:buChar char="•"/>
            </a:pPr>
            <a:r>
              <a:rPr sz="1400" b="0" i="0">
                <a:solidFill>
                  <a:srgbClr val="1F1F1F"/>
                </a:solidFill>
                <a:latin typeface="MS PGothic"/>
                <a:ea typeface="MS PGothic"/>
                <a:cs typeface="MS PGothic"/>
              </a:rPr>
              <a:t>速度・ピン数も問題なし</a:t>
            </a:r>
          </a:p>
          <a:p>
            <a:pPr algn="l" marL="201168" indent="-201168">
              <a:spcAft>
                <a:spcPts val="600"/>
              </a:spcAft>
              <a:buClr>
                <a:srgbClr val="CB1C14"/>
              </a:buClr>
              <a:buFont typeface="Arial"/>
              <a:buChar char="•"/>
            </a:pPr>
            <a:r>
              <a:rPr sz="1400" b="0" i="0">
                <a:solidFill>
                  <a:srgbClr val="1F1F1F"/>
                </a:solidFill>
                <a:latin typeface="MS PGothic"/>
                <a:ea typeface="MS PGothic"/>
                <a:cs typeface="MS PGothic"/>
              </a:rPr>
              <a:t>STM32は主流だがCubeIDEの学習コストが高く断念</a:t>
            </a:r>
          </a:p>
        </p:txBody>
      </p:sp>
      <p:sp>
        <p:nvSpPr>
          <p:cNvPr id="12" name="Rounded Rectangle 11"/>
          <p:cNvSpPr/>
          <p:nvPr/>
        </p:nvSpPr>
        <p:spPr>
          <a:xfrm>
            <a:off x="548640" y="4663440"/>
            <a:ext cx="10104120" cy="109728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3" name="TextBox 12"/>
          <p:cNvSpPr txBox="1"/>
          <p:nvPr/>
        </p:nvSpPr>
        <p:spPr>
          <a:xfrm>
            <a:off x="822960" y="4709160"/>
            <a:ext cx="9601200" cy="1005840"/>
          </a:xfrm>
          <a:prstGeom prst="rect">
            <a:avLst/>
          </a:prstGeom>
          <a:noFill/>
        </p:spPr>
        <p:txBody>
          <a:bodyPr wrap="square" anchor="ctr" lIns="45720" rIns="45720"/>
          <a:lstStyle/>
          <a:p>
            <a:pPr algn="l">
              <a:spcAft>
                <a:spcPts val="400"/>
              </a:spcAft>
            </a:pPr>
            <a:r>
              <a:rPr sz="1500" b="1" i="0">
                <a:solidFill>
                  <a:srgbClr val="FF8A80"/>
                </a:solidFill>
                <a:latin typeface="MS PGothic"/>
                <a:ea typeface="MS PGothic"/>
                <a:cs typeface="MS PGothic"/>
              </a:rPr>
              <a:t>設計方針：</a:t>
            </a:r>
            <a:r>
              <a:rPr sz="1500" b="0" i="0">
                <a:solidFill>
                  <a:srgbClr val="FFFFFF"/>
                </a:solidFill>
                <a:latin typeface="MS PGothic"/>
                <a:ea typeface="MS PGothic"/>
                <a:cs typeface="MS PGothic"/>
              </a:rPr>
              <a:t>通信部分は特定のマイコンに依存しないシンプルな設計に。</a:t>
            </a:r>
          </a:p>
          <a:p>
            <a:pPr algn="l">
              <a:spcAft>
                <a:spcPts val="400"/>
              </a:spcAft>
            </a:pPr>
            <a:r>
              <a:rPr sz="1300" b="0" i="0">
                <a:solidFill>
                  <a:srgbClr val="D9D9D9"/>
                </a:solidFill>
                <a:latin typeface="MS PGothic"/>
                <a:ea typeface="MS PGothic"/>
                <a:cs typeface="MS PGothic"/>
              </a:rPr>
              <a:t>→ 後に STM32 / B-G431（SimpleFOC）版のファームウェアや、ros2can への拡張ができた土台になっています。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377440"/>
            <a:ext cx="9144000" cy="1188720"/>
          </a:xfrm>
        </p:spPr>
        <p:txBody>
          <a:bodyPr anchor="t"/>
          <a:lstStyle/>
          <a:p>
            <a:pPr algn="l">
              <a:spcAft>
                <a:spcPts val="400"/>
              </a:spcAft>
            </a:pPr>
            <a:r>
              <a:rPr sz="4000" b="1" i="0">
                <a:solidFill>
                  <a:srgbClr val="1F1F1F"/>
                </a:solidFill>
                <a:latin typeface="MS PGothic"/>
                <a:ea typeface="MS PGothic"/>
                <a:cs typeface="MS PGothic"/>
              </a:rPr>
              <a:t>システム設計</a:t>
            </a:r>
          </a:p>
        </p:txBody>
      </p:sp>
      <p:sp>
        <p:nvSpPr>
          <p:cNvPr id="3" name="Text Placeholder 2"/>
          <p:cNvSpPr>
            <a:spLocks noGrp="1"/>
          </p:cNvSpPr>
          <p:nvPr>
            <p:ph type="body" idx="1"/>
          </p:nvPr>
        </p:nvSpPr>
        <p:spPr>
          <a:xfrm>
            <a:off x="822960" y="3566160"/>
            <a:ext cx="9144000" cy="914400"/>
          </a:xfrm>
        </p:spPr>
        <p:txBody>
          <a:bodyPr/>
          <a:lstStyle/>
          <a:p>
            <a:pPr algn="l">
              <a:spcAft>
                <a:spcPts val="400"/>
              </a:spcAft>
            </a:pPr>
            <a:r>
              <a:rPr sz="1800" b="0" i="0">
                <a:solidFill>
                  <a:srgbClr val="595959"/>
                </a:solidFill>
                <a:latin typeface="MS PGothic"/>
                <a:ea typeface="MS PGothic"/>
                <a:cs typeface="MS PGothic"/>
              </a:rPr>
              <a:t>ポート番号問題と、ID方式・仲介ノードという解決策</a:t>
            </a:r>
          </a:p>
        </p:txBody>
      </p:sp>
      <p:sp>
        <p:nvSpPr>
          <p:cNvPr id="4" name="TextBox 3"/>
          <p:cNvSpPr txBox="1"/>
          <p:nvPr/>
        </p:nvSpPr>
        <p:spPr>
          <a:xfrm>
            <a:off x="822960" y="1234440"/>
            <a:ext cx="2743200" cy="1097280"/>
          </a:xfrm>
          <a:prstGeom prst="rect">
            <a:avLst/>
          </a:prstGeom>
          <a:noFill/>
        </p:spPr>
        <p:txBody>
          <a:bodyPr wrap="square" anchor="b" lIns="0" rIns="0" tIns="0" bIns="0"/>
          <a:lstStyle/>
          <a:p>
            <a:pPr algn="l">
              <a:spcAft>
                <a:spcPts val="400"/>
              </a:spcAft>
            </a:pPr>
            <a:r>
              <a:rPr sz="7200" b="1" i="0">
                <a:solidFill>
                  <a:srgbClr val="CB1C14"/>
                </a:solidFill>
                <a:latin typeface="MS PGothic"/>
                <a:ea typeface="MS PGothic"/>
                <a:cs typeface="MS PGothic"/>
              </a:rPr>
              <a:t>02</a:t>
            </a:r>
          </a:p>
        </p:txBody>
      </p:sp>
      <p:sp>
        <p:nvSpPr>
          <p:cNvPr id="5" name="TextBox 4"/>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課題：マイコンが識別できない</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9</a:t>
            </a:r>
          </a:p>
        </p:txBody>
      </p:sp>
      <p:sp>
        <p:nvSpPr>
          <p:cNvPr id="4" name="Rounded Rectangle 3"/>
          <p:cNvSpPr/>
          <p:nvPr/>
        </p:nvSpPr>
        <p:spPr>
          <a:xfrm>
            <a:off x="548640" y="1600200"/>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制御ノード（足回り）</a:t>
            </a:r>
          </a:p>
        </p:txBody>
      </p:sp>
      <p:sp>
        <p:nvSpPr>
          <p:cNvPr id="5" name="Rounded Rectangle 4"/>
          <p:cNvSpPr/>
          <p:nvPr/>
        </p:nvSpPr>
        <p:spPr>
          <a:xfrm>
            <a:off x="548640" y="2167128"/>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制御ノード（機構1）</a:t>
            </a:r>
          </a:p>
        </p:txBody>
      </p:sp>
      <p:sp>
        <p:nvSpPr>
          <p:cNvPr id="6" name="Rounded Rectangle 5"/>
          <p:cNvSpPr/>
          <p:nvPr/>
        </p:nvSpPr>
        <p:spPr>
          <a:xfrm>
            <a:off x="548640" y="2734056"/>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制御ノード（機構2）</a:t>
            </a:r>
          </a:p>
        </p:txBody>
      </p:sp>
      <p:sp>
        <p:nvSpPr>
          <p:cNvPr id="7" name="Rounded Rectangle 6"/>
          <p:cNvSpPr/>
          <p:nvPr/>
        </p:nvSpPr>
        <p:spPr>
          <a:xfrm>
            <a:off x="548640" y="3300984"/>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制御ノード（センサ）</a:t>
            </a:r>
          </a:p>
        </p:txBody>
      </p:sp>
      <p:sp>
        <p:nvSpPr>
          <p:cNvPr id="8" name="Rounded Rectangle 7"/>
          <p:cNvSpPr/>
          <p:nvPr/>
        </p:nvSpPr>
        <p:spPr>
          <a:xfrm>
            <a:off x="4480560" y="1600200"/>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マイコン【ttyUSB0】（機構2）</a:t>
            </a:r>
          </a:p>
        </p:txBody>
      </p:sp>
      <p:sp>
        <p:nvSpPr>
          <p:cNvPr id="9" name="Rounded Rectangle 8"/>
          <p:cNvSpPr/>
          <p:nvPr/>
        </p:nvSpPr>
        <p:spPr>
          <a:xfrm>
            <a:off x="4480560" y="2167128"/>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マイコン【ttyUSB1】（センサ）</a:t>
            </a:r>
          </a:p>
        </p:txBody>
      </p:sp>
      <p:sp>
        <p:nvSpPr>
          <p:cNvPr id="10" name="Rounded Rectangle 9"/>
          <p:cNvSpPr/>
          <p:nvPr/>
        </p:nvSpPr>
        <p:spPr>
          <a:xfrm>
            <a:off x="4480560" y="2734056"/>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マイコン【ttyUSB2】（機構1）</a:t>
            </a:r>
          </a:p>
        </p:txBody>
      </p:sp>
      <p:sp>
        <p:nvSpPr>
          <p:cNvPr id="11" name="Rounded Rectangle 10"/>
          <p:cNvSpPr/>
          <p:nvPr/>
        </p:nvSpPr>
        <p:spPr>
          <a:xfrm>
            <a:off x="4480560" y="3300984"/>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マイコン【ttyUSB3】（足回り）</a:t>
            </a:r>
          </a:p>
        </p:txBody>
      </p:sp>
      <p:sp>
        <p:nvSpPr>
          <p:cNvPr id="12" name="TextBox 11"/>
          <p:cNvSpPr txBox="1"/>
          <p:nvPr/>
        </p:nvSpPr>
        <p:spPr>
          <a:xfrm>
            <a:off x="4480560" y="3822192"/>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3" name="TextBox 12"/>
          <p:cNvSpPr txBox="1"/>
          <p:nvPr/>
        </p:nvSpPr>
        <p:spPr>
          <a:xfrm>
            <a:off x="4480560" y="3977640"/>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4" name="TextBox 13"/>
          <p:cNvSpPr txBox="1"/>
          <p:nvPr/>
        </p:nvSpPr>
        <p:spPr>
          <a:xfrm>
            <a:off x="4480560" y="4133088"/>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cxnSp>
        <p:nvCxnSpPr>
          <p:cNvPr id="15" name="Connector 14"/>
          <p:cNvCxnSpPr/>
          <p:nvPr/>
        </p:nvCxnSpPr>
        <p:spPr>
          <a:xfrm>
            <a:off x="2651760" y="1828800"/>
            <a:ext cx="777240" cy="82296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51760" y="2395728"/>
            <a:ext cx="777240" cy="25603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651760" y="2651760"/>
            <a:ext cx="777240" cy="310896"/>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651760" y="2651760"/>
            <a:ext cx="777240" cy="877824"/>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383280" y="1737360"/>
            <a:ext cx="1097280" cy="1828800"/>
          </a:xfrm>
          <a:prstGeom prst="rect">
            <a:avLst/>
          </a:prstGeom>
          <a:noFill/>
        </p:spPr>
        <p:txBody>
          <a:bodyPr wrap="square" anchor="ctr" lIns="0" rIns="0" tIns="0" bIns="0"/>
          <a:lstStyle/>
          <a:p>
            <a:pPr algn="ctr">
              <a:spcAft>
                <a:spcPts val="400"/>
              </a:spcAft>
            </a:pPr>
            <a:r>
              <a:rPr sz="8000" b="0" i="0">
                <a:solidFill>
                  <a:srgbClr val="CB1C14"/>
                </a:solidFill>
                <a:latin typeface="MS PGothic"/>
                <a:ea typeface="MS PGothic"/>
                <a:cs typeface="MS PGothic"/>
              </a:rPr>
              <a:t>?</a:t>
            </a:r>
          </a:p>
        </p:txBody>
      </p:sp>
      <p:sp>
        <p:nvSpPr>
          <p:cNvPr id="20" name="Rounded Rectangle 19"/>
          <p:cNvSpPr/>
          <p:nvPr/>
        </p:nvSpPr>
        <p:spPr>
          <a:xfrm>
            <a:off x="7315200" y="1600200"/>
            <a:ext cx="3383280" cy="27432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1" name="TextBox 20"/>
          <p:cNvSpPr txBox="1"/>
          <p:nvPr/>
        </p:nvSpPr>
        <p:spPr>
          <a:xfrm>
            <a:off x="7543800" y="1737360"/>
            <a:ext cx="3017520" cy="2560320"/>
          </a:xfrm>
          <a:prstGeom prst="rect">
            <a:avLst/>
          </a:prstGeom>
          <a:noFill/>
        </p:spPr>
        <p:txBody>
          <a:bodyPr wrap="square" anchor="t" lIns="45720" rIns="45720"/>
          <a:lstStyle/>
          <a:p>
            <a:pPr algn="l">
              <a:spcAft>
                <a:spcPts val="1000"/>
              </a:spcAft>
            </a:pPr>
            <a:r>
              <a:rPr sz="1350" b="1" i="0">
                <a:solidFill>
                  <a:srgbClr val="CB1C14"/>
                </a:solidFill>
                <a:latin typeface="MS PGothic"/>
                <a:ea typeface="MS PGothic"/>
                <a:cs typeface="MS PGothic"/>
              </a:rPr>
              <a:t>USBに挿した順番</a:t>
            </a:r>
            <a:r>
              <a:rPr sz="1350" b="0" i="0">
                <a:solidFill>
                  <a:srgbClr val="1F1F1F"/>
                </a:solidFill>
                <a:latin typeface="MS PGothic"/>
                <a:ea typeface="MS PGothic"/>
                <a:cs typeface="MS PGothic"/>
              </a:rPr>
              <a:t>にポート番号（ttyUSBの末尾）が割り当てられる</a:t>
            </a:r>
          </a:p>
          <a:p>
            <a:pPr algn="l">
              <a:spcAft>
                <a:spcPts val="1000"/>
              </a:spcAft>
            </a:pPr>
            <a:r>
              <a:rPr sz="1350" b="0" i="0">
                <a:solidFill>
                  <a:srgbClr val="1F1F1F"/>
                </a:solidFill>
                <a:latin typeface="MS PGothic"/>
                <a:ea typeface="MS PGothic"/>
                <a:cs typeface="MS PGothic"/>
              </a:rPr>
              <a:t>ノード側でポートを決め打ちしても、挿す順番が変わると通信できない</a:t>
            </a:r>
          </a:p>
          <a:p>
            <a:pPr algn="l">
              <a:spcAft>
                <a:spcPts val="1000"/>
              </a:spcAft>
            </a:pPr>
            <a:r>
              <a:rPr sz="1350" b="0" i="0">
                <a:solidFill>
                  <a:srgbClr val="1F1F1F"/>
                </a:solidFill>
                <a:latin typeface="MS PGothic"/>
                <a:ea typeface="MS PGothic"/>
                <a:cs typeface="MS PGothic"/>
              </a:rPr>
              <a:t>電源を入れるたびに順番通り挿し直すのは、セッティングタイムやリトライ中には現実的ではない</a:t>
            </a:r>
          </a:p>
        </p:txBody>
      </p:sp>
      <p:sp>
        <p:nvSpPr>
          <p:cNvPr id="22" name="TextBox 21"/>
          <p:cNvSpPr txBox="1"/>
          <p:nvPr/>
        </p:nvSpPr>
        <p:spPr>
          <a:xfrm>
            <a:off x="548640" y="4663440"/>
            <a:ext cx="10149840" cy="822960"/>
          </a:xfrm>
          <a:prstGeom prst="rect">
            <a:avLst/>
          </a:prstGeom>
          <a:noFill/>
        </p:spPr>
        <p:txBody>
          <a:bodyPr wrap="square" anchor="t" lIns="45720" rIns="45720"/>
          <a:lstStyle/>
          <a:p>
            <a:pPr algn="l">
              <a:spcAft>
                <a:spcPts val="400"/>
              </a:spcAft>
            </a:pPr>
            <a:r>
              <a:rPr sz="1500" b="0" i="0">
                <a:solidFill>
                  <a:srgbClr val="1F1F1F"/>
                </a:solidFill>
                <a:latin typeface="MS PGothic"/>
                <a:ea typeface="MS PGothic"/>
                <a:cs typeface="MS PGothic"/>
              </a:rPr>
              <a:t>→ どのポートにどのマイコンが挿さっているかを、</a:t>
            </a:r>
            <a:r>
              <a:rPr sz="1500" b="1" i="0">
                <a:solidFill>
                  <a:srgbClr val="1F1F1F"/>
                </a:solidFill>
                <a:latin typeface="MS PGothic"/>
                <a:ea typeface="MS PGothic"/>
                <a:cs typeface="MS PGothic"/>
              </a:rPr>
              <a:t>ソフト側で判別する仕組み</a:t>
            </a:r>
            <a:r>
              <a:rPr sz="1500" b="0" i="0">
                <a:solidFill>
                  <a:srgbClr val="1F1F1F"/>
                </a:solidFill>
                <a:latin typeface="MS PGothic"/>
                <a:ea typeface="MS PGothic"/>
                <a:cs typeface="MS PGothic"/>
              </a:rPr>
              <a:t>が必要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解決①：マイコンにIDを持たせる</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10</a:t>
            </a:r>
          </a:p>
        </p:txBody>
      </p:sp>
      <p:sp>
        <p:nvSpPr>
          <p:cNvPr id="4" name="Rounded Rectangle 3"/>
          <p:cNvSpPr/>
          <p:nvPr/>
        </p:nvSpPr>
        <p:spPr>
          <a:xfrm>
            <a:off x="548640" y="1600200"/>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制御ノード（足回り）</a:t>
            </a:r>
          </a:p>
        </p:txBody>
      </p:sp>
      <p:sp>
        <p:nvSpPr>
          <p:cNvPr id="5" name="Rounded Rectangle 4"/>
          <p:cNvSpPr/>
          <p:nvPr/>
        </p:nvSpPr>
        <p:spPr>
          <a:xfrm>
            <a:off x="548640" y="2167128"/>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制御ノード（機構1）</a:t>
            </a:r>
          </a:p>
        </p:txBody>
      </p:sp>
      <p:sp>
        <p:nvSpPr>
          <p:cNvPr id="6" name="Rounded Rectangle 5"/>
          <p:cNvSpPr/>
          <p:nvPr/>
        </p:nvSpPr>
        <p:spPr>
          <a:xfrm>
            <a:off x="548640" y="2734056"/>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制御ノード（機構2）</a:t>
            </a:r>
          </a:p>
        </p:txBody>
      </p:sp>
      <p:sp>
        <p:nvSpPr>
          <p:cNvPr id="7" name="Rounded Rectangle 6"/>
          <p:cNvSpPr/>
          <p:nvPr/>
        </p:nvSpPr>
        <p:spPr>
          <a:xfrm>
            <a:off x="548640" y="3300984"/>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制御ノード（センサ）</a:t>
            </a:r>
          </a:p>
        </p:txBody>
      </p:sp>
      <p:sp>
        <p:nvSpPr>
          <p:cNvPr id="8" name="Rounded Rectangle 7"/>
          <p:cNvSpPr/>
          <p:nvPr/>
        </p:nvSpPr>
        <p:spPr>
          <a:xfrm>
            <a:off x="4480560" y="1600200"/>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【ttyUSB0】【ID3】（機構2）</a:t>
            </a:r>
          </a:p>
        </p:txBody>
      </p:sp>
      <p:sp>
        <p:nvSpPr>
          <p:cNvPr id="9" name="Rounded Rectangle 8"/>
          <p:cNvSpPr/>
          <p:nvPr/>
        </p:nvSpPr>
        <p:spPr>
          <a:xfrm>
            <a:off x="4480560" y="2167128"/>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【ttyUSB1】【ID4】（センサ）</a:t>
            </a:r>
          </a:p>
        </p:txBody>
      </p:sp>
      <p:sp>
        <p:nvSpPr>
          <p:cNvPr id="10" name="Rounded Rectangle 9"/>
          <p:cNvSpPr/>
          <p:nvPr/>
        </p:nvSpPr>
        <p:spPr>
          <a:xfrm>
            <a:off x="4480560" y="2734056"/>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【ttyUSB2】【ID2】（機構1）</a:t>
            </a:r>
          </a:p>
        </p:txBody>
      </p:sp>
      <p:sp>
        <p:nvSpPr>
          <p:cNvPr id="11" name="Rounded Rectangle 10"/>
          <p:cNvSpPr/>
          <p:nvPr/>
        </p:nvSpPr>
        <p:spPr>
          <a:xfrm>
            <a:off x="4480560" y="3300984"/>
            <a:ext cx="237744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【ttyUSB3】【ID1】（足回り）</a:t>
            </a:r>
          </a:p>
        </p:txBody>
      </p:sp>
      <p:sp>
        <p:nvSpPr>
          <p:cNvPr id="12" name="TextBox 11"/>
          <p:cNvSpPr txBox="1"/>
          <p:nvPr/>
        </p:nvSpPr>
        <p:spPr>
          <a:xfrm>
            <a:off x="4480560" y="3822192"/>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3" name="TextBox 12"/>
          <p:cNvSpPr txBox="1"/>
          <p:nvPr/>
        </p:nvSpPr>
        <p:spPr>
          <a:xfrm>
            <a:off x="4480560" y="3977640"/>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4" name="TextBox 13"/>
          <p:cNvSpPr txBox="1"/>
          <p:nvPr/>
        </p:nvSpPr>
        <p:spPr>
          <a:xfrm>
            <a:off x="4480560" y="4133088"/>
            <a:ext cx="237744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cxnSp>
        <p:nvCxnSpPr>
          <p:cNvPr id="15" name="Connector 14"/>
          <p:cNvCxnSpPr/>
          <p:nvPr/>
        </p:nvCxnSpPr>
        <p:spPr>
          <a:xfrm>
            <a:off x="2651760" y="1828800"/>
            <a:ext cx="1828800" cy="1700784"/>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651760" y="2395728"/>
            <a:ext cx="1828800" cy="566928"/>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651760" y="1828800"/>
            <a:ext cx="1828800" cy="1133856"/>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651760" y="2395728"/>
            <a:ext cx="1828800" cy="1133856"/>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0" y="1600200"/>
            <a:ext cx="3383280" cy="27432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0" name="TextBox 19"/>
          <p:cNvSpPr txBox="1"/>
          <p:nvPr/>
        </p:nvSpPr>
        <p:spPr>
          <a:xfrm>
            <a:off x="7543800" y="1737360"/>
            <a:ext cx="3017520" cy="2560320"/>
          </a:xfrm>
          <a:prstGeom prst="rect">
            <a:avLst/>
          </a:prstGeom>
          <a:noFill/>
        </p:spPr>
        <p:txBody>
          <a:bodyPr wrap="square" anchor="t" lIns="45720" rIns="45720"/>
          <a:lstStyle/>
          <a:p>
            <a:pPr algn="l">
              <a:spcAft>
                <a:spcPts val="1000"/>
              </a:spcAft>
            </a:pPr>
            <a:r>
              <a:rPr sz="1350" b="1" i="0">
                <a:solidFill>
                  <a:srgbClr val="1F1F1F"/>
                </a:solidFill>
                <a:latin typeface="MS PGothic"/>
                <a:ea typeface="MS PGothic"/>
                <a:cs typeface="MS PGothic"/>
              </a:rPr>
              <a:t>IDはマイコンのプログラムに予め保持</a:t>
            </a:r>
          </a:p>
          <a:p>
            <a:pPr algn="l">
              <a:spcAft>
                <a:spcPts val="1000"/>
              </a:spcAft>
            </a:pPr>
            <a:r>
              <a:rPr sz="1350" b="0" i="0">
                <a:solidFill>
                  <a:srgbClr val="1F1F1F"/>
                </a:solidFill>
                <a:latin typeface="MS PGothic"/>
                <a:ea typeface="MS PGothic"/>
                <a:cs typeface="MS PGothic"/>
              </a:rPr>
              <a:t>マイコンは常にIDを載せたフレームをPCへ送信し続ける</a:t>
            </a:r>
          </a:p>
          <a:p>
            <a:pPr algn="l">
              <a:spcAft>
                <a:spcPts val="1000"/>
              </a:spcAft>
            </a:pPr>
            <a:r>
              <a:rPr sz="1350" b="0" i="0">
                <a:solidFill>
                  <a:srgbClr val="1F1F1F"/>
                </a:solidFill>
                <a:latin typeface="MS PGothic"/>
                <a:ea typeface="MS PGothic"/>
                <a:cs typeface="MS PGothic"/>
              </a:rPr>
              <a:t>ノード側が宛先マイコンのIDを知っていれば、ポート番号に関係なく通信できる</a:t>
            </a:r>
          </a:p>
        </p:txBody>
      </p:sp>
      <p:sp>
        <p:nvSpPr>
          <p:cNvPr id="21" name="Rounded Rectangle 20"/>
          <p:cNvSpPr/>
          <p:nvPr/>
        </p:nvSpPr>
        <p:spPr>
          <a:xfrm>
            <a:off x="548640" y="4480560"/>
            <a:ext cx="10149840" cy="1234440"/>
          </a:xfrm>
          <a:prstGeom prst="roundRect">
            <a:avLst>
              <a:gd name="adj" fmla="val 12000"/>
            </a:avLst>
          </a:prstGeom>
          <a:solidFill>
            <a:srgbClr val="F9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2" name="TextBox 21"/>
          <p:cNvSpPr txBox="1"/>
          <p:nvPr/>
        </p:nvSpPr>
        <p:spPr>
          <a:xfrm>
            <a:off x="777240" y="4526280"/>
            <a:ext cx="9692640" cy="1143000"/>
          </a:xfrm>
          <a:prstGeom prst="rect">
            <a:avLst/>
          </a:prstGeom>
          <a:noFill/>
        </p:spPr>
        <p:txBody>
          <a:bodyPr wrap="square" anchor="ctr" lIns="45720" rIns="45720"/>
          <a:lstStyle/>
          <a:p>
            <a:pPr algn="l">
              <a:spcAft>
                <a:spcPts val="400"/>
              </a:spcAft>
            </a:pPr>
            <a:r>
              <a:rPr sz="1400" b="1" i="0">
                <a:solidFill>
                  <a:srgbClr val="CB1C14"/>
                </a:solidFill>
                <a:latin typeface="MS PGothic"/>
                <a:ea typeface="MS PGothic"/>
                <a:cs typeface="MS PGothic"/>
              </a:rPr>
              <a:t>まだ問題が残る：</a:t>
            </a:r>
            <a:r>
              <a:rPr sz="1400" b="0" i="0">
                <a:solidFill>
                  <a:srgbClr val="1F1F1F"/>
                </a:solidFill>
                <a:latin typeface="MS PGothic"/>
                <a:ea typeface="MS PGothic"/>
                <a:cs typeface="MS PGothic"/>
              </a:rPr>
              <a:t>各ノードが「ポートを開く → IDを確認 → 違えば閉じて次へ」を個別に行うと、ポートのオープン・クローズのタイミングが干渉して正常に動かない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解決②：ポート操作を仲介するノード</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11</a:t>
            </a:r>
          </a:p>
        </p:txBody>
      </p:sp>
      <p:sp>
        <p:nvSpPr>
          <p:cNvPr id="4" name="Rounded Rectangle 3"/>
          <p:cNvSpPr/>
          <p:nvPr/>
        </p:nvSpPr>
        <p:spPr>
          <a:xfrm>
            <a:off x="548640" y="1600200"/>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制御ノード（足回り）</a:t>
            </a:r>
          </a:p>
        </p:txBody>
      </p:sp>
      <p:sp>
        <p:nvSpPr>
          <p:cNvPr id="5" name="Rounded Rectangle 4"/>
          <p:cNvSpPr/>
          <p:nvPr/>
        </p:nvSpPr>
        <p:spPr>
          <a:xfrm>
            <a:off x="548640" y="2167128"/>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制御ノード（機構1）</a:t>
            </a:r>
          </a:p>
        </p:txBody>
      </p:sp>
      <p:sp>
        <p:nvSpPr>
          <p:cNvPr id="6" name="Rounded Rectangle 5"/>
          <p:cNvSpPr/>
          <p:nvPr/>
        </p:nvSpPr>
        <p:spPr>
          <a:xfrm>
            <a:off x="548640" y="2734056"/>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制御ノード（機構2）</a:t>
            </a:r>
          </a:p>
        </p:txBody>
      </p:sp>
      <p:sp>
        <p:nvSpPr>
          <p:cNvPr id="7" name="Rounded Rectangle 6"/>
          <p:cNvSpPr/>
          <p:nvPr/>
        </p:nvSpPr>
        <p:spPr>
          <a:xfrm>
            <a:off x="548640" y="3300984"/>
            <a:ext cx="210312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制御ノード（センサ）</a:t>
            </a:r>
          </a:p>
        </p:txBody>
      </p:sp>
      <p:sp>
        <p:nvSpPr>
          <p:cNvPr id="8" name="Rounded Rectangle 7"/>
          <p:cNvSpPr/>
          <p:nvPr/>
        </p:nvSpPr>
        <p:spPr>
          <a:xfrm>
            <a:off x="3063240" y="1463040"/>
            <a:ext cx="1737360" cy="2377440"/>
          </a:xfrm>
          <a:prstGeom prst="roundRect">
            <a:avLst>
              <a:gd name="adj" fmla="val 20000"/>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500" b="1" i="0">
                <a:solidFill>
                  <a:srgbClr val="FFFFFF"/>
                </a:solidFill>
                <a:latin typeface="MS PGothic"/>
                <a:ea typeface="MS PGothic"/>
                <a:cs typeface="MS PGothic"/>
              </a:rPr>
              <a:t>serial_bridge</a:t>
            </a:r>
          </a:p>
          <a:p>
            <a:pPr algn="ctr">
              <a:spcAft>
                <a:spcPts val="0"/>
              </a:spcAft>
            </a:pPr>
            <a:r>
              <a:rPr sz="1100" b="0" i="0">
                <a:solidFill>
                  <a:srgbClr val="FFFFFF"/>
                </a:solidFill>
                <a:latin typeface="MS PGothic"/>
                <a:ea typeface="MS PGothic"/>
                <a:cs typeface="MS PGothic"/>
              </a:rPr>
              <a:t>パッケージ・ノード</a:t>
            </a:r>
          </a:p>
        </p:txBody>
      </p:sp>
      <p:cxnSp>
        <p:nvCxnSpPr>
          <p:cNvPr id="9" name="Connector 8"/>
          <p:cNvCxnSpPr/>
          <p:nvPr/>
        </p:nvCxnSpPr>
        <p:spPr>
          <a:xfrm>
            <a:off x="2651760" y="1828800"/>
            <a:ext cx="41148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651760" y="2395728"/>
            <a:ext cx="41148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651760" y="2962656"/>
            <a:ext cx="41148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51760" y="3529584"/>
            <a:ext cx="41148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40680" y="1600200"/>
            <a:ext cx="224028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ttyUSB0｜ID3（機構2）</a:t>
            </a:r>
          </a:p>
        </p:txBody>
      </p:sp>
      <p:sp>
        <p:nvSpPr>
          <p:cNvPr id="14" name="Rounded Rectangle 13"/>
          <p:cNvSpPr/>
          <p:nvPr/>
        </p:nvSpPr>
        <p:spPr>
          <a:xfrm>
            <a:off x="5440680" y="2167128"/>
            <a:ext cx="224028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ttyUSB1｜ID4（センサ）</a:t>
            </a:r>
          </a:p>
        </p:txBody>
      </p:sp>
      <p:sp>
        <p:nvSpPr>
          <p:cNvPr id="15" name="Rounded Rectangle 14"/>
          <p:cNvSpPr/>
          <p:nvPr/>
        </p:nvSpPr>
        <p:spPr>
          <a:xfrm>
            <a:off x="5440680" y="2734056"/>
            <a:ext cx="224028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ttyUSB2｜ID2（機構1）</a:t>
            </a:r>
          </a:p>
        </p:txBody>
      </p:sp>
      <p:sp>
        <p:nvSpPr>
          <p:cNvPr id="16" name="Rounded Rectangle 15"/>
          <p:cNvSpPr/>
          <p:nvPr/>
        </p:nvSpPr>
        <p:spPr>
          <a:xfrm>
            <a:off x="5440680" y="3300984"/>
            <a:ext cx="2240280" cy="457200"/>
          </a:xfrm>
          <a:prstGeom prst="roundRect">
            <a:avLst>
              <a:gd name="adj" fmla="val 20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50" b="0" i="0">
                <a:solidFill>
                  <a:srgbClr val="1F1F1F"/>
                </a:solidFill>
                <a:latin typeface="MS PGothic"/>
                <a:ea typeface="MS PGothic"/>
                <a:cs typeface="MS PGothic"/>
              </a:rPr>
              <a:t>ttyUSB3｜ID1（足回り）</a:t>
            </a:r>
          </a:p>
        </p:txBody>
      </p:sp>
      <p:sp>
        <p:nvSpPr>
          <p:cNvPr id="17" name="TextBox 16"/>
          <p:cNvSpPr txBox="1"/>
          <p:nvPr/>
        </p:nvSpPr>
        <p:spPr>
          <a:xfrm>
            <a:off x="5440680" y="3822192"/>
            <a:ext cx="224028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8" name="TextBox 17"/>
          <p:cNvSpPr txBox="1"/>
          <p:nvPr/>
        </p:nvSpPr>
        <p:spPr>
          <a:xfrm>
            <a:off x="5440680" y="3977640"/>
            <a:ext cx="224028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sp>
        <p:nvSpPr>
          <p:cNvPr id="19" name="TextBox 18"/>
          <p:cNvSpPr txBox="1"/>
          <p:nvPr/>
        </p:nvSpPr>
        <p:spPr>
          <a:xfrm>
            <a:off x="5440680" y="4133088"/>
            <a:ext cx="2240280" cy="182880"/>
          </a:xfrm>
          <a:prstGeom prst="rect">
            <a:avLst/>
          </a:prstGeom>
          <a:noFill/>
        </p:spPr>
        <p:txBody>
          <a:bodyPr wrap="square" anchor="t" lIns="0" rIns="0" tIns="0" bIns="0"/>
          <a:lstStyle/>
          <a:p>
            <a:pPr algn="ctr">
              <a:spcAft>
                <a:spcPts val="400"/>
              </a:spcAft>
            </a:pPr>
            <a:r>
              <a:rPr sz="1000" b="0" i="0">
                <a:solidFill>
                  <a:srgbClr val="8C8C8C"/>
                </a:solidFill>
                <a:latin typeface="MS PGothic"/>
                <a:ea typeface="MS PGothic"/>
                <a:cs typeface="MS PGothic"/>
              </a:rPr>
              <a:t>・</a:t>
            </a:r>
          </a:p>
        </p:txBody>
      </p:sp>
      <p:cxnSp>
        <p:nvCxnSpPr>
          <p:cNvPr id="20" name="Connector 19"/>
          <p:cNvCxnSpPr/>
          <p:nvPr/>
        </p:nvCxnSpPr>
        <p:spPr>
          <a:xfrm>
            <a:off x="4800600" y="1828800"/>
            <a:ext cx="640080" cy="1700784"/>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800600" y="2395728"/>
            <a:ext cx="640080" cy="566928"/>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4800600" y="1828800"/>
            <a:ext cx="640080" cy="1133856"/>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4800600" y="2395728"/>
            <a:ext cx="640080" cy="1133856"/>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909560" y="1463040"/>
            <a:ext cx="2788920" cy="283464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5" name="TextBox 24"/>
          <p:cNvSpPr txBox="1"/>
          <p:nvPr/>
        </p:nvSpPr>
        <p:spPr>
          <a:xfrm>
            <a:off x="8092440" y="1572768"/>
            <a:ext cx="2468880" cy="2651760"/>
          </a:xfrm>
          <a:prstGeom prst="rect">
            <a:avLst/>
          </a:prstGeom>
          <a:noFill/>
        </p:spPr>
        <p:txBody>
          <a:bodyPr wrap="square" anchor="t" lIns="45720" rIns="45720"/>
          <a:lstStyle/>
          <a:p>
            <a:pPr algn="l">
              <a:spcAft>
                <a:spcPts val="1000"/>
              </a:spcAft>
            </a:pPr>
            <a:r>
              <a:rPr sz="1300" b="1" i="0">
                <a:solidFill>
                  <a:srgbClr val="1F1F1F"/>
                </a:solidFill>
                <a:latin typeface="MS PGothic"/>
                <a:ea typeface="MS PGothic"/>
                <a:cs typeface="MS PGothic"/>
              </a:rPr>
              <a:t>ポートを触るのは</a:t>
            </a:r>
          </a:p>
          <a:p>
            <a:pPr algn="l">
              <a:spcAft>
                <a:spcPts val="1000"/>
              </a:spcAft>
            </a:pPr>
            <a:r>
              <a:rPr sz="1300" b="1" i="0">
                <a:solidFill>
                  <a:srgbClr val="1F1F1F"/>
                </a:solidFill>
                <a:latin typeface="MS PGothic"/>
                <a:ea typeface="MS PGothic"/>
                <a:cs typeface="MS PGothic"/>
              </a:rPr>
              <a:t>serial_bridge だけ</a:t>
            </a:r>
          </a:p>
          <a:p>
            <a:pPr algn="l">
              <a:spcAft>
                <a:spcPts val="1000"/>
              </a:spcAft>
            </a:pPr>
            <a:r>
              <a:rPr sz="1300" b="0" i="0">
                <a:solidFill>
                  <a:srgbClr val="1F1F1F"/>
                </a:solidFill>
                <a:latin typeface="MS PGothic"/>
                <a:ea typeface="MS PGothic"/>
                <a:cs typeface="MS PGothic"/>
              </a:rPr>
              <a:t>各ノードは serial_tx_[ID] にPublishするだけ</a:t>
            </a:r>
          </a:p>
          <a:p>
            <a:pPr algn="l">
              <a:spcAft>
                <a:spcPts val="1000"/>
              </a:spcAft>
            </a:pPr>
            <a:r>
              <a:rPr sz="1300" b="0" i="0">
                <a:solidFill>
                  <a:srgbClr val="1F1F1F"/>
                </a:solidFill>
                <a:latin typeface="MS PGothic"/>
                <a:ea typeface="MS PGothic"/>
                <a:cs typeface="MS PGothic"/>
              </a:rPr>
              <a:t>スキャンと宛先IDへの送信は serial_bridge が担当</a:t>
            </a:r>
          </a:p>
        </p:txBody>
      </p:sp>
      <p:sp>
        <p:nvSpPr>
          <p:cNvPr id="26" name="TextBox 25"/>
          <p:cNvSpPr txBox="1"/>
          <p:nvPr/>
        </p:nvSpPr>
        <p:spPr>
          <a:xfrm>
            <a:off x="548640" y="4526280"/>
            <a:ext cx="10149840" cy="1188720"/>
          </a:xfrm>
          <a:prstGeom prst="rect">
            <a:avLst/>
          </a:prstGeom>
          <a:noFill/>
        </p:spPr>
        <p:txBody>
          <a:bodyPr wrap="square" anchor="t" lIns="45720" rIns="45720"/>
          <a:lstStyle/>
          <a:p>
            <a:pPr algn="l">
              <a:spcAft>
                <a:spcPts val="600"/>
              </a:spcAft>
            </a:pPr>
            <a:r>
              <a:rPr sz="1450" b="1" i="0">
                <a:solidFill>
                  <a:srgbClr val="CB1C14"/>
                </a:solidFill>
                <a:latin typeface="MS PGothic"/>
                <a:ea typeface="MS PGothic"/>
                <a:cs typeface="MS PGothic"/>
              </a:rPr>
              <a:t>名前の由来：</a:t>
            </a:r>
            <a:r>
              <a:rPr sz="1450" b="0" i="0">
                <a:solidFill>
                  <a:srgbClr val="1F1F1F"/>
                </a:solidFill>
                <a:latin typeface="MS PGothic"/>
                <a:ea typeface="MS PGothic"/>
                <a:cs typeface="MS PGothic"/>
              </a:rPr>
              <a:t>シリアルポートとの「橋渡し」なので serial_bridge</a:t>
            </a:r>
          </a:p>
          <a:p>
            <a:pPr algn="l">
              <a:spcAft>
                <a:spcPts val="600"/>
              </a:spcAft>
            </a:pPr>
            <a:r>
              <a:rPr sz="1450" b="0" i="0">
                <a:solidFill>
                  <a:srgbClr val="595959"/>
                </a:solidFill>
                <a:latin typeface="MS PGothic"/>
                <a:ea typeface="MS PGothic"/>
                <a:cs typeface="MS PGothic"/>
              </a:rPr>
              <a:t>この「ポートを専有する主体を1つにまとめる」設計は ros2can にもそのまま引き継がれています。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通信フレームの定義</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12</a:t>
            </a:r>
          </a:p>
        </p:txBody>
      </p:sp>
      <p:sp>
        <p:nvSpPr>
          <p:cNvPr id="4" name="Rectangle 3"/>
          <p:cNvSpPr/>
          <p:nvPr/>
        </p:nvSpPr>
        <p:spPr>
          <a:xfrm>
            <a:off x="822960" y="2514600"/>
            <a:ext cx="1179576" cy="73152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FFFFFF"/>
                </a:solidFill>
                <a:latin typeface="MS Gothic"/>
                <a:ea typeface="MS Gothic"/>
                <a:cs typeface="MS Gothic"/>
              </a:rPr>
              <a:t>0xAA</a:t>
            </a:r>
          </a:p>
        </p:txBody>
      </p:sp>
      <p:sp>
        <p:nvSpPr>
          <p:cNvPr id="5" name="Rectangle 4"/>
          <p:cNvSpPr/>
          <p:nvPr/>
        </p:nvSpPr>
        <p:spPr>
          <a:xfrm>
            <a:off x="2057400" y="2514600"/>
            <a:ext cx="950976" cy="73152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FFFFFF"/>
                </a:solidFill>
                <a:latin typeface="MS Gothic"/>
                <a:ea typeface="MS Gothic"/>
                <a:cs typeface="MS Gothic"/>
              </a:rPr>
              <a:t>ID</a:t>
            </a:r>
          </a:p>
        </p:txBody>
      </p:sp>
      <p:sp>
        <p:nvSpPr>
          <p:cNvPr id="6" name="Rectangle 5"/>
          <p:cNvSpPr/>
          <p:nvPr/>
        </p:nvSpPr>
        <p:spPr>
          <a:xfrm>
            <a:off x="3063240" y="2514600"/>
            <a:ext cx="1179576" cy="73152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FFFFFF"/>
                </a:solidFill>
                <a:latin typeface="MS Gothic"/>
                <a:ea typeface="MS Gothic"/>
                <a:cs typeface="MS Gothic"/>
              </a:rPr>
              <a:t>LEN</a:t>
            </a:r>
          </a:p>
        </p:txBody>
      </p:sp>
      <p:sp>
        <p:nvSpPr>
          <p:cNvPr id="7" name="Rectangle 6"/>
          <p:cNvSpPr/>
          <p:nvPr/>
        </p:nvSpPr>
        <p:spPr>
          <a:xfrm>
            <a:off x="4297680" y="2514600"/>
            <a:ext cx="1088136" cy="731520"/>
          </a:xfrm>
          <a:prstGeom prst="rect">
            <a:avLst/>
          </a:prstGeom>
          <a:solidFill>
            <a:srgbClr val="F9E3E1"/>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CB1C14"/>
                </a:solidFill>
                <a:latin typeface="MS Gothic"/>
                <a:ea typeface="MS Gothic"/>
                <a:cs typeface="MS Gothic"/>
              </a:rPr>
              <a:t>DATA[1]</a:t>
            </a:r>
          </a:p>
        </p:txBody>
      </p:sp>
      <p:sp>
        <p:nvSpPr>
          <p:cNvPr id="8" name="Rectangle 7"/>
          <p:cNvSpPr/>
          <p:nvPr/>
        </p:nvSpPr>
        <p:spPr>
          <a:xfrm>
            <a:off x="5440680" y="2514600"/>
            <a:ext cx="1088136" cy="731520"/>
          </a:xfrm>
          <a:prstGeom prst="rect">
            <a:avLst/>
          </a:prstGeom>
          <a:solidFill>
            <a:srgbClr val="F9E3E1"/>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CB1C14"/>
                </a:solidFill>
                <a:latin typeface="MS Gothic"/>
                <a:ea typeface="MS Gothic"/>
                <a:cs typeface="MS Gothic"/>
              </a:rPr>
              <a:t>DATA[2]</a:t>
            </a:r>
          </a:p>
        </p:txBody>
      </p:sp>
      <p:sp>
        <p:nvSpPr>
          <p:cNvPr id="9" name="Rectangle 8"/>
          <p:cNvSpPr/>
          <p:nvPr/>
        </p:nvSpPr>
        <p:spPr>
          <a:xfrm>
            <a:off x="6583680" y="2514600"/>
            <a:ext cx="585215" cy="731520"/>
          </a:xfrm>
          <a:prstGeom prst="rect">
            <a:avLst/>
          </a:prstGeom>
          <a:solidFill>
            <a:srgbClr val="F9E3E1"/>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CB1C14"/>
                </a:solidFill>
                <a:latin typeface="MS Gothic"/>
                <a:ea typeface="MS Gothic"/>
                <a:cs typeface="MS Gothic"/>
              </a:rPr>
              <a:t>…</a:t>
            </a:r>
          </a:p>
        </p:txBody>
      </p:sp>
      <p:sp>
        <p:nvSpPr>
          <p:cNvPr id="10" name="Rectangle 9"/>
          <p:cNvSpPr/>
          <p:nvPr/>
        </p:nvSpPr>
        <p:spPr>
          <a:xfrm>
            <a:off x="7223760" y="2514600"/>
            <a:ext cx="1088136" cy="731520"/>
          </a:xfrm>
          <a:prstGeom prst="rect">
            <a:avLst/>
          </a:prstGeom>
          <a:solidFill>
            <a:srgbClr val="F9E3E1"/>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CB1C14"/>
                </a:solidFill>
                <a:latin typeface="MS Gothic"/>
                <a:ea typeface="MS Gothic"/>
                <a:cs typeface="MS Gothic"/>
              </a:rPr>
              <a:t>DATA[N]</a:t>
            </a:r>
          </a:p>
        </p:txBody>
      </p:sp>
      <p:sp>
        <p:nvSpPr>
          <p:cNvPr id="11" name="Rectangle 10"/>
          <p:cNvSpPr/>
          <p:nvPr/>
        </p:nvSpPr>
        <p:spPr>
          <a:xfrm>
            <a:off x="8366760" y="2514600"/>
            <a:ext cx="1179576" cy="73152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FFFFFF"/>
                </a:solidFill>
                <a:latin typeface="MS Gothic"/>
                <a:ea typeface="MS Gothic"/>
                <a:cs typeface="MS Gothic"/>
              </a:rPr>
              <a:t>XOR</a:t>
            </a:r>
          </a:p>
        </p:txBody>
      </p:sp>
      <p:cxnSp>
        <p:nvCxnSpPr>
          <p:cNvPr id="12" name="Connector 11"/>
          <p:cNvCxnSpPr/>
          <p:nvPr/>
        </p:nvCxnSpPr>
        <p:spPr>
          <a:xfrm flipV="1">
            <a:off x="2560320" y="2148840"/>
            <a:ext cx="0" cy="36576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188719" y="1325880"/>
            <a:ext cx="2743200" cy="822960"/>
          </a:xfrm>
          <a:prstGeom prst="rect">
            <a:avLst/>
          </a:prstGeom>
          <a:noFill/>
        </p:spPr>
        <p:txBody>
          <a:bodyPr wrap="square" anchor="b" lIns="45720" rIns="45720"/>
          <a:lstStyle/>
          <a:p>
            <a:pPr algn="ctr">
              <a:spcAft>
                <a:spcPts val="200"/>
              </a:spcAft>
            </a:pPr>
            <a:r>
              <a:rPr sz="1350" b="1" i="0">
                <a:solidFill>
                  <a:srgbClr val="1F1F1F"/>
                </a:solidFill>
                <a:latin typeface="MS PGothic"/>
                <a:ea typeface="MS PGothic"/>
                <a:cs typeface="MS PGothic"/>
              </a:rPr>
              <a:t>ID</a:t>
            </a:r>
          </a:p>
          <a:p>
            <a:pPr algn="ctr">
              <a:spcAft>
                <a:spcPts val="200"/>
              </a:spcAft>
            </a:pPr>
            <a:r>
              <a:rPr sz="1150" b="0" i="0">
                <a:solidFill>
                  <a:srgbClr val="595959"/>
                </a:solidFill>
                <a:latin typeface="MS PGothic"/>
                <a:ea typeface="MS PGothic"/>
                <a:cs typeface="MS PGothic"/>
              </a:rPr>
              <a:t>マイコンの識別に使う固有ID（uint8）</a:t>
            </a:r>
          </a:p>
        </p:txBody>
      </p:sp>
      <p:cxnSp>
        <p:nvCxnSpPr>
          <p:cNvPr id="14" name="Connector 13"/>
          <p:cNvCxnSpPr/>
          <p:nvPr/>
        </p:nvCxnSpPr>
        <p:spPr>
          <a:xfrm flipV="1">
            <a:off x="8983980" y="2148840"/>
            <a:ext cx="0" cy="36576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612380" y="1325880"/>
            <a:ext cx="2743200" cy="822960"/>
          </a:xfrm>
          <a:prstGeom prst="rect">
            <a:avLst/>
          </a:prstGeom>
          <a:noFill/>
        </p:spPr>
        <p:txBody>
          <a:bodyPr wrap="square" anchor="b" lIns="45720" rIns="45720"/>
          <a:lstStyle/>
          <a:p>
            <a:pPr algn="ctr">
              <a:spcAft>
                <a:spcPts val="200"/>
              </a:spcAft>
            </a:pPr>
            <a:r>
              <a:rPr sz="1350" b="1" i="0">
                <a:solidFill>
                  <a:srgbClr val="1F1F1F"/>
                </a:solidFill>
                <a:latin typeface="MS PGothic"/>
                <a:ea typeface="MS PGothic"/>
                <a:cs typeface="MS PGothic"/>
              </a:rPr>
              <a:t>チェックサム</a:t>
            </a:r>
          </a:p>
          <a:p>
            <a:pPr algn="ctr">
              <a:spcAft>
                <a:spcPts val="200"/>
              </a:spcAft>
            </a:pPr>
            <a:r>
              <a:rPr sz="1150" b="0" i="0">
                <a:solidFill>
                  <a:srgbClr val="595959"/>
                </a:solidFill>
                <a:latin typeface="MS PGothic"/>
                <a:ea typeface="MS PGothic"/>
                <a:cs typeface="MS PGothic"/>
              </a:rPr>
              <a:t>ID〜DATAのXOR。破損がないか確認</a:t>
            </a:r>
          </a:p>
        </p:txBody>
      </p:sp>
      <p:cxnSp>
        <p:nvCxnSpPr>
          <p:cNvPr id="16" name="Connector 15"/>
          <p:cNvCxnSpPr/>
          <p:nvPr/>
        </p:nvCxnSpPr>
        <p:spPr>
          <a:xfrm>
            <a:off x="1440180" y="3246120"/>
            <a:ext cx="0" cy="45720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3749039"/>
            <a:ext cx="2194560" cy="822960"/>
          </a:xfrm>
          <a:prstGeom prst="rect">
            <a:avLst/>
          </a:prstGeom>
          <a:noFill/>
        </p:spPr>
        <p:txBody>
          <a:bodyPr wrap="square" anchor="t" lIns="45720" rIns="45720"/>
          <a:lstStyle/>
          <a:p>
            <a:pPr algn="ctr">
              <a:spcAft>
                <a:spcPts val="200"/>
              </a:spcAft>
            </a:pPr>
            <a:r>
              <a:rPr sz="1350" b="1" i="0">
                <a:solidFill>
                  <a:srgbClr val="1F1F1F"/>
                </a:solidFill>
                <a:latin typeface="MS PGothic"/>
                <a:ea typeface="MS PGothic"/>
                <a:cs typeface="MS PGothic"/>
              </a:rPr>
              <a:t>スタートバイト</a:t>
            </a:r>
          </a:p>
          <a:p>
            <a:pPr algn="ctr">
              <a:spcAft>
                <a:spcPts val="200"/>
              </a:spcAft>
            </a:pPr>
            <a:r>
              <a:rPr sz="1150" b="0" i="0">
                <a:solidFill>
                  <a:srgbClr val="595959"/>
                </a:solidFill>
                <a:latin typeface="MS PGothic"/>
                <a:ea typeface="MS PGothic"/>
                <a:cs typeface="MS PGothic"/>
              </a:rPr>
              <a:t>フレームの開始。壊れたときの復帰点</a:t>
            </a:r>
          </a:p>
        </p:txBody>
      </p:sp>
      <p:cxnSp>
        <p:nvCxnSpPr>
          <p:cNvPr id="18" name="Connector 17"/>
          <p:cNvCxnSpPr/>
          <p:nvPr/>
        </p:nvCxnSpPr>
        <p:spPr>
          <a:xfrm>
            <a:off x="3680460" y="3246120"/>
            <a:ext cx="0" cy="457200"/>
          </a:xfrm>
          <a:prstGeom prst="line">
            <a:avLst/>
          </a:prstGeom>
          <a:ln w="1905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11780" y="3749039"/>
            <a:ext cx="1737360" cy="822960"/>
          </a:xfrm>
          <a:prstGeom prst="rect">
            <a:avLst/>
          </a:prstGeom>
          <a:noFill/>
        </p:spPr>
        <p:txBody>
          <a:bodyPr wrap="square" anchor="t" lIns="45720" rIns="45720"/>
          <a:lstStyle/>
          <a:p>
            <a:pPr algn="ctr">
              <a:spcAft>
                <a:spcPts val="200"/>
              </a:spcAft>
            </a:pPr>
            <a:r>
              <a:rPr sz="1350" b="1" i="0">
                <a:solidFill>
                  <a:srgbClr val="1F1F1F"/>
                </a:solidFill>
                <a:latin typeface="MS PGothic"/>
                <a:ea typeface="MS PGothic"/>
                <a:cs typeface="MS PGothic"/>
              </a:rPr>
              <a:t>ペイロード長</a:t>
            </a:r>
          </a:p>
          <a:p>
            <a:pPr algn="ctr">
              <a:spcAft>
                <a:spcPts val="200"/>
              </a:spcAft>
            </a:pPr>
            <a:r>
              <a:rPr sz="1150" b="0" i="0">
                <a:solidFill>
                  <a:srgbClr val="595959"/>
                </a:solidFill>
                <a:latin typeface="MS PGothic"/>
                <a:ea typeface="MS PGothic"/>
                <a:cs typeface="MS PGothic"/>
              </a:rPr>
              <a:t>DATAのバイト数（スロット数×2）</a:t>
            </a:r>
          </a:p>
        </p:txBody>
      </p:sp>
      <p:sp>
        <p:nvSpPr>
          <p:cNvPr id="20" name="Right Brace 19"/>
          <p:cNvSpPr/>
          <p:nvPr/>
        </p:nvSpPr>
        <p:spPr>
          <a:xfrm rot="5400000">
            <a:off x="6149340" y="1440179"/>
            <a:ext cx="365760" cy="4069080"/>
          </a:xfrm>
          <a:prstGeom prst="rightBrace">
            <a:avLst/>
          </a:prstGeom>
          <a:noFill/>
          <a:ln w="1905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1" name="Rounded Rectangle 20"/>
          <p:cNvSpPr/>
          <p:nvPr/>
        </p:nvSpPr>
        <p:spPr>
          <a:xfrm>
            <a:off x="4297680" y="3794760"/>
            <a:ext cx="4014216" cy="8686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CB1C14"/>
                </a:solidFill>
                <a:latin typeface="MS PGothic"/>
                <a:ea typeface="MS PGothic"/>
                <a:cs typeface="MS PGothic"/>
              </a:rPr>
              <a:t>ペイロード</a:t>
            </a:r>
          </a:p>
          <a:p>
            <a:pPr algn="ctr">
              <a:spcAft>
                <a:spcPts val="0"/>
              </a:spcAft>
            </a:pPr>
            <a:r>
              <a:rPr sz="1200" b="0" i="0">
                <a:solidFill>
                  <a:srgbClr val="1F1F1F"/>
                </a:solidFill>
                <a:latin typeface="MS PGothic"/>
                <a:ea typeface="MS PGothic"/>
                <a:cs typeface="MS PGothic"/>
              </a:rPr>
              <a:t>アクチュエータの指令値・センサの値</a:t>
            </a:r>
          </a:p>
        </p:txBody>
      </p:sp>
      <p:sp>
        <p:nvSpPr>
          <p:cNvPr id="22" name="Rounded Rectangle 21"/>
          <p:cNvSpPr/>
          <p:nvPr/>
        </p:nvSpPr>
        <p:spPr>
          <a:xfrm>
            <a:off x="548640" y="4892040"/>
            <a:ext cx="10149840" cy="8686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3" name="TextBox 22"/>
          <p:cNvSpPr txBox="1"/>
          <p:nvPr/>
        </p:nvSpPr>
        <p:spPr>
          <a:xfrm>
            <a:off x="777240" y="4937760"/>
            <a:ext cx="9692640" cy="777240"/>
          </a:xfrm>
          <a:prstGeom prst="rect">
            <a:avLst/>
          </a:prstGeom>
          <a:noFill/>
        </p:spPr>
        <p:txBody>
          <a:bodyPr wrap="square" anchor="ctr" lIns="45720" rIns="45720"/>
          <a:lstStyle/>
          <a:p>
            <a:pPr algn="l">
              <a:spcAft>
                <a:spcPts val="400"/>
              </a:spcAft>
            </a:pPr>
            <a:r>
              <a:rPr sz="1350" b="1" i="0">
                <a:solidFill>
                  <a:srgbClr val="CB1C14"/>
                </a:solidFill>
                <a:latin typeface="MS PGothic"/>
                <a:ea typeface="MS PGothic"/>
                <a:cs typeface="MS PGothic"/>
              </a:rPr>
              <a:t>ポイント：</a:t>
            </a:r>
            <a:r>
              <a:rPr sz="1350" b="0" i="0">
                <a:solidFill>
                  <a:srgbClr val="1F1F1F"/>
                </a:solidFill>
                <a:latin typeface="MS PGothic"/>
                <a:ea typeface="MS PGothic"/>
                <a:cs typeface="MS PGothic"/>
              </a:rPr>
              <a:t>値はノード上では int16、シリアルでは 8bit × 2 に分割して送る（上位バイトが先＝ビッグエンディアン）。フレームにペイロードを載せて送受信するイメージです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ペイロードの割当（esp32_serial_bridge）</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13</a:t>
            </a:r>
          </a:p>
        </p:txBody>
      </p:sp>
      <p:sp>
        <p:nvSpPr>
          <p:cNvPr id="4" name="TextBox 3"/>
          <p:cNvSpPr txBox="1"/>
          <p:nvPr/>
        </p:nvSpPr>
        <p:spPr>
          <a:xfrm>
            <a:off x="548640" y="1325880"/>
            <a:ext cx="4846320" cy="365760"/>
          </a:xfrm>
          <a:prstGeom prst="rect">
            <a:avLst/>
          </a:prstGeom>
          <a:noFill/>
        </p:spPr>
        <p:txBody>
          <a:bodyPr wrap="square" anchor="t" lIns="45720" rIns="45720"/>
          <a:lstStyle/>
          <a:p>
            <a:pPr algn="l">
              <a:spcAft>
                <a:spcPts val="400"/>
              </a:spcAft>
            </a:pPr>
            <a:r>
              <a:rPr sz="1600" b="1" i="0">
                <a:solidFill>
                  <a:srgbClr val="1F1F1F"/>
                </a:solidFill>
                <a:latin typeface="MS PGothic"/>
                <a:ea typeface="MS PGothic"/>
                <a:cs typeface="MS PGothic"/>
              </a:rPr>
              <a:t>ROS 2 → マイコン（serial_tx）</a:t>
            </a:r>
          </a:p>
        </p:txBody>
      </p:sp>
      <p:graphicFrame>
        <p:nvGraphicFramePr>
          <p:cNvPr id="5" name="Table 4"/>
          <p:cNvGraphicFramePr>
            <a:graphicFrameLocks noGrp="1"/>
          </p:cNvGraphicFramePr>
          <p:nvPr/>
        </p:nvGraphicFramePr>
        <p:xfrm>
          <a:off x="548640" y="1783080"/>
          <a:ext cx="4846320" cy="2194560"/>
        </p:xfrm>
        <a:graphic>
          <a:graphicData uri="http://schemas.openxmlformats.org/drawingml/2006/table">
            <a:tbl>
              <a:tblPr firstRow="0" bandRow="0">
                <a:tableStyleId>{5C22544A-7EE6-4342-B048-85BDC9FD1C3A}</a:tableStyleId>
              </a:tblPr>
              <a:tblGrid>
                <a:gridCol w="1005840"/>
                <a:gridCol w="2468880"/>
                <a:gridCol w="1371600"/>
              </a:tblGrid>
              <a:tr h="438912">
                <a:tc>
                  <a:txBody>
                    <a:bodyPr wrap="square"/>
                    <a:lstStyle/>
                    <a:p>
                      <a:pPr algn="ctr">
                        <a:spcAft>
                          <a:spcPts val="0"/>
                        </a:spcAft>
                      </a:pPr>
                      <a:r>
                        <a:rPr sz="1350" b="1" i="0">
                          <a:solidFill>
                            <a:srgbClr val="FFFFFF"/>
                          </a:solidFill>
                          <a:latin typeface="MS PGothic"/>
                          <a:ea typeface="MS PGothic"/>
                          <a:cs typeface="MS PGothic"/>
                        </a:rPr>
                        <a:t>[N]</a:t>
                      </a:r>
                    </a:p>
                  </a:txBody>
                  <a:tcPr marL="73152" marR="73152" marT="27432" marB="27432" anchor="ctr">
                    <a:solidFill>
                      <a:srgbClr val="1F1F1F"/>
                    </a:solidFill>
                  </a:tcPr>
                </a:tc>
                <a:tc>
                  <a:txBody>
                    <a:bodyPr wrap="square"/>
                    <a:lstStyle/>
                    <a:p>
                      <a:pPr algn="ctr">
                        <a:spcAft>
                          <a:spcPts val="0"/>
                        </a:spcAft>
                      </a:pPr>
                      <a:r>
                        <a:rPr sz="1350" b="1" i="0">
                          <a:solidFill>
                            <a:srgbClr val="FFFFFF"/>
                          </a:solidFill>
                          <a:latin typeface="MS PGothic"/>
                          <a:ea typeface="MS PGothic"/>
                          <a:cs typeface="MS PGothic"/>
                        </a:rPr>
                        <a:t>用途</a:t>
                      </a:r>
                    </a:p>
                  </a:txBody>
                  <a:tcPr marL="73152" marR="73152" marT="27432" marB="27432" anchor="ctr">
                    <a:solidFill>
                      <a:srgbClr val="1F1F1F"/>
                    </a:solidFill>
                  </a:tcPr>
                </a:tc>
                <a:tc>
                  <a:txBody>
                    <a:bodyPr wrap="square"/>
                    <a:lstStyle/>
                    <a:p>
                      <a:pPr algn="ctr">
                        <a:spcAft>
                          <a:spcPts val="0"/>
                        </a:spcAft>
                      </a:pPr>
                      <a:r>
                        <a:rPr sz="1350" b="1" i="0">
                          <a:solidFill>
                            <a:srgbClr val="FFFFFF"/>
                          </a:solidFill>
                          <a:latin typeface="MS PGothic"/>
                          <a:ea typeface="MS PGothic"/>
                          <a:cs typeface="MS PGothic"/>
                        </a:rPr>
                        <a:t>範囲</a:t>
                      </a:r>
                    </a:p>
                  </a:txBody>
                  <a:tcPr marL="73152" marR="73152" marT="27432" marB="27432" anchor="ctr">
                    <a:solidFill>
                      <a:srgbClr val="1F1F1F"/>
                    </a:solidFill>
                  </a:tcPr>
                </a:tc>
              </a:tr>
              <a:tr h="438912">
                <a:tc>
                  <a:txBody>
                    <a:bodyPr wrap="square"/>
                    <a:lstStyle/>
                    <a:p>
                      <a:pPr algn="ctr">
                        <a:spcAft>
                          <a:spcPts val="0"/>
                        </a:spcAft>
                      </a:pPr>
                      <a:r>
                        <a:rPr sz="1350" b="0" i="0">
                          <a:solidFill>
                            <a:srgbClr val="1F1F1F"/>
                          </a:solidFill>
                          <a:latin typeface="MS PGothic"/>
                          <a:ea typeface="MS PGothic"/>
                          <a:cs typeface="MS PGothic"/>
                        </a:rPr>
                        <a:t>0</a:t>
                      </a:r>
                    </a:p>
                  </a:txBody>
                  <a:tcPr marL="73152" marR="73152" marT="27432" marB="27432" anchor="ctr">
                    <a:solidFill>
                      <a:srgbClr val="FFFFFF"/>
                    </a:solidFill>
                  </a:tcPr>
                </a:tc>
                <a:tc>
                  <a:txBody>
                    <a:bodyPr wrap="square"/>
                    <a:lstStyle/>
                    <a:p>
                      <a:pPr algn="l">
                        <a:spcAft>
                          <a:spcPts val="0"/>
                        </a:spcAft>
                      </a:pPr>
                      <a:r>
                        <a:rPr sz="1350" b="0" i="0">
                          <a:solidFill>
                            <a:srgbClr val="1F1F1F"/>
                          </a:solidFill>
                          <a:latin typeface="MS PGothic"/>
                          <a:ea typeface="MS PGothic"/>
                          <a:cs typeface="MS PGothic"/>
                        </a:rPr>
                        <a:t>DEBUG</a:t>
                      </a:r>
                    </a:p>
                  </a:txBody>
                  <a:tcPr marL="73152" marR="73152" marT="27432" marB="27432" anchor="ctr">
                    <a:solidFill>
                      <a:srgbClr val="FFFFFF"/>
                    </a:solidFill>
                  </a:tcPr>
                </a:tc>
                <a:tc>
                  <a:txBody>
                    <a:bodyPr wrap="square"/>
                    <a:lstStyle/>
                    <a:p>
                      <a:pPr algn="ctr">
                        <a:spcAft>
                          <a:spcPts val="0"/>
                        </a:spcAft>
                      </a:pPr>
                      <a:r>
                        <a:rPr sz="1350" b="0" i="0">
                          <a:solidFill>
                            <a:srgbClr val="1F1F1F"/>
                          </a:solidFill>
                          <a:latin typeface="MS PGothic"/>
                          <a:ea typeface="MS PGothic"/>
                          <a:cs typeface="MS PGothic"/>
                        </a:rPr>
                        <a:t>0 / 1</a:t>
                      </a:r>
                    </a:p>
                  </a:txBody>
                  <a:tcPr marL="73152" marR="73152" marT="27432" marB="27432" anchor="ctr">
                    <a:solidFill>
                      <a:srgbClr val="FFFFFF"/>
                    </a:solidFill>
                  </a:tcPr>
                </a:tc>
              </a:tr>
              <a:tr h="438912">
                <a:tc>
                  <a:txBody>
                    <a:bodyPr wrap="square"/>
                    <a:lstStyle/>
                    <a:p>
                      <a:pPr algn="ctr">
                        <a:spcAft>
                          <a:spcPts val="0"/>
                        </a:spcAft>
                      </a:pPr>
                      <a:r>
                        <a:rPr sz="1350" b="0" i="0">
                          <a:solidFill>
                            <a:srgbClr val="1F1F1F"/>
                          </a:solidFill>
                          <a:latin typeface="MS PGothic"/>
                          <a:ea typeface="MS PGothic"/>
                          <a:cs typeface="MS PGothic"/>
                        </a:rPr>
                        <a:t>1〜8</a:t>
                      </a:r>
                    </a:p>
                  </a:txBody>
                  <a:tcPr marL="73152" marR="73152" marT="27432" marB="27432" anchor="ctr">
                    <a:solidFill>
                      <a:srgbClr val="F2F2F2"/>
                    </a:solidFill>
                  </a:tcPr>
                </a:tc>
                <a:tc>
                  <a:txBody>
                    <a:bodyPr wrap="square"/>
                    <a:lstStyle/>
                    <a:p>
                      <a:pPr algn="l">
                        <a:spcAft>
                          <a:spcPts val="0"/>
                        </a:spcAft>
                      </a:pPr>
                      <a:r>
                        <a:rPr sz="1350" b="0" i="0">
                          <a:solidFill>
                            <a:srgbClr val="1F1F1F"/>
                          </a:solidFill>
                          <a:latin typeface="MS PGothic"/>
                          <a:ea typeface="MS PGothic"/>
                          <a:cs typeface="MS PGothic"/>
                        </a:rPr>
                        <a:t>DCモータの指令値</a:t>
                      </a:r>
                    </a:p>
                  </a:txBody>
                  <a:tcPr marL="73152" marR="73152" marT="27432" marB="27432" anchor="ctr">
                    <a:solidFill>
                      <a:srgbClr val="F2F2F2"/>
                    </a:solidFill>
                  </a:tcPr>
                </a:tc>
                <a:tc>
                  <a:txBody>
                    <a:bodyPr wrap="square"/>
                    <a:lstStyle/>
                    <a:p>
                      <a:pPr algn="ctr">
                        <a:spcAft>
                          <a:spcPts val="0"/>
                        </a:spcAft>
                      </a:pPr>
                      <a:r>
                        <a:rPr sz="1350" b="0" i="0">
                          <a:solidFill>
                            <a:srgbClr val="1F1F1F"/>
                          </a:solidFill>
                          <a:latin typeface="MS PGothic"/>
                          <a:ea typeface="MS PGothic"/>
                          <a:cs typeface="MS PGothic"/>
                        </a:rPr>
                        <a:t>-255〜255</a:t>
                      </a:r>
                    </a:p>
                  </a:txBody>
                  <a:tcPr marL="73152" marR="73152" marT="27432" marB="27432" anchor="ctr">
                    <a:solidFill>
                      <a:srgbClr val="F2F2F2"/>
                    </a:solidFill>
                  </a:tcPr>
                </a:tc>
              </a:tr>
              <a:tr h="438912">
                <a:tc>
                  <a:txBody>
                    <a:bodyPr wrap="square"/>
                    <a:lstStyle/>
                    <a:p>
                      <a:pPr algn="ctr">
                        <a:spcAft>
                          <a:spcPts val="0"/>
                        </a:spcAft>
                      </a:pPr>
                      <a:r>
                        <a:rPr sz="1350" b="0" i="0">
                          <a:solidFill>
                            <a:srgbClr val="1F1F1F"/>
                          </a:solidFill>
                          <a:latin typeface="MS PGothic"/>
                          <a:ea typeface="MS PGothic"/>
                          <a:cs typeface="MS PGothic"/>
                        </a:rPr>
                        <a:t>9〜16</a:t>
                      </a:r>
                    </a:p>
                  </a:txBody>
                  <a:tcPr marL="73152" marR="73152" marT="27432" marB="27432" anchor="ctr">
                    <a:solidFill>
                      <a:srgbClr val="FFFFFF"/>
                    </a:solidFill>
                  </a:tcPr>
                </a:tc>
                <a:tc>
                  <a:txBody>
                    <a:bodyPr wrap="square"/>
                    <a:lstStyle/>
                    <a:p>
                      <a:pPr algn="l">
                        <a:spcAft>
                          <a:spcPts val="0"/>
                        </a:spcAft>
                      </a:pPr>
                      <a:r>
                        <a:rPr sz="1350" b="0" i="0">
                          <a:solidFill>
                            <a:srgbClr val="1F1F1F"/>
                          </a:solidFill>
                          <a:latin typeface="MS PGothic"/>
                          <a:ea typeface="MS PGothic"/>
                          <a:cs typeface="MS PGothic"/>
                        </a:rPr>
                        <a:t>PWMサーボの指令値</a:t>
                      </a:r>
                    </a:p>
                  </a:txBody>
                  <a:tcPr marL="73152" marR="73152" marT="27432" marB="27432" anchor="ctr">
                    <a:solidFill>
                      <a:srgbClr val="FFFFFF"/>
                    </a:solidFill>
                  </a:tcPr>
                </a:tc>
                <a:tc>
                  <a:txBody>
                    <a:bodyPr wrap="square"/>
                    <a:lstStyle/>
                    <a:p>
                      <a:pPr algn="ctr">
                        <a:spcAft>
                          <a:spcPts val="0"/>
                        </a:spcAft>
                      </a:pPr>
                      <a:r>
                        <a:rPr sz="1350" b="0" i="0">
                          <a:solidFill>
                            <a:srgbClr val="1F1F1F"/>
                          </a:solidFill>
                          <a:latin typeface="MS PGothic"/>
                          <a:ea typeface="MS PGothic"/>
                          <a:cs typeface="MS PGothic"/>
                        </a:rPr>
                        <a:t>0〜270</a:t>
                      </a:r>
                    </a:p>
                  </a:txBody>
                  <a:tcPr marL="73152" marR="73152" marT="27432" marB="27432" anchor="ctr">
                    <a:solidFill>
                      <a:srgbClr val="FFFFFF"/>
                    </a:solidFill>
                  </a:tcPr>
                </a:tc>
              </a:tr>
              <a:tr h="438912">
                <a:tc>
                  <a:txBody>
                    <a:bodyPr wrap="square"/>
                    <a:lstStyle/>
                    <a:p>
                      <a:pPr algn="ctr">
                        <a:spcAft>
                          <a:spcPts val="0"/>
                        </a:spcAft>
                      </a:pPr>
                      <a:r>
                        <a:rPr sz="1350" b="0" i="0">
                          <a:solidFill>
                            <a:srgbClr val="1F1F1F"/>
                          </a:solidFill>
                          <a:latin typeface="MS PGothic"/>
                          <a:ea typeface="MS PGothic"/>
                          <a:cs typeface="MS PGothic"/>
                        </a:rPr>
                        <a:t>17〜23</a:t>
                      </a:r>
                    </a:p>
                  </a:txBody>
                  <a:tcPr marL="73152" marR="73152" marT="27432" marB="27432" anchor="ctr">
                    <a:solidFill>
                      <a:srgbClr val="F2F2F2"/>
                    </a:solidFill>
                  </a:tcPr>
                </a:tc>
                <a:tc>
                  <a:txBody>
                    <a:bodyPr wrap="square"/>
                    <a:lstStyle/>
                    <a:p>
                      <a:pPr algn="l">
                        <a:spcAft>
                          <a:spcPts val="0"/>
                        </a:spcAft>
                      </a:pPr>
                      <a:r>
                        <a:rPr sz="1350" b="0" i="0">
                          <a:solidFill>
                            <a:srgbClr val="1F1F1F"/>
                          </a:solidFill>
                          <a:latin typeface="MS PGothic"/>
                          <a:ea typeface="MS PGothic"/>
                          <a:cs typeface="MS PGothic"/>
                        </a:rPr>
                        <a:t>トランジスタアレイ（TR）</a:t>
                      </a:r>
                    </a:p>
                  </a:txBody>
                  <a:tcPr marL="73152" marR="73152" marT="27432" marB="27432" anchor="ctr">
                    <a:solidFill>
                      <a:srgbClr val="F2F2F2"/>
                    </a:solidFill>
                  </a:tcPr>
                </a:tc>
                <a:tc>
                  <a:txBody>
                    <a:bodyPr wrap="square"/>
                    <a:lstStyle/>
                    <a:p>
                      <a:pPr algn="ctr">
                        <a:spcAft>
                          <a:spcPts val="0"/>
                        </a:spcAft>
                      </a:pPr>
                      <a:r>
                        <a:rPr sz="1350" b="0" i="0">
                          <a:solidFill>
                            <a:srgbClr val="1F1F1F"/>
                          </a:solidFill>
                          <a:latin typeface="MS PGothic"/>
                          <a:ea typeface="MS PGothic"/>
                          <a:cs typeface="MS PGothic"/>
                        </a:rPr>
                        <a:t>0 / 1</a:t>
                      </a:r>
                    </a:p>
                  </a:txBody>
                  <a:tcPr marL="73152" marR="73152" marT="27432" marB="27432" anchor="ctr">
                    <a:solidFill>
                      <a:srgbClr val="F2F2F2"/>
                    </a:solidFill>
                  </a:tcPr>
                </a:tc>
              </a:tr>
            </a:tbl>
          </a:graphicData>
        </a:graphic>
      </p:graphicFrame>
      <p:sp>
        <p:nvSpPr>
          <p:cNvPr id="6" name="TextBox 5"/>
          <p:cNvSpPr txBox="1"/>
          <p:nvPr/>
        </p:nvSpPr>
        <p:spPr>
          <a:xfrm>
            <a:off x="5852160" y="1325880"/>
            <a:ext cx="4846320" cy="365760"/>
          </a:xfrm>
          <a:prstGeom prst="rect">
            <a:avLst/>
          </a:prstGeom>
          <a:noFill/>
        </p:spPr>
        <p:txBody>
          <a:bodyPr wrap="square" anchor="t" lIns="45720" rIns="45720"/>
          <a:lstStyle/>
          <a:p>
            <a:pPr algn="l">
              <a:spcAft>
                <a:spcPts val="400"/>
              </a:spcAft>
            </a:pPr>
            <a:r>
              <a:rPr sz="1600" b="1" i="0">
                <a:solidFill>
                  <a:srgbClr val="CB1C14"/>
                </a:solidFill>
                <a:latin typeface="MS PGothic"/>
                <a:ea typeface="MS PGothic"/>
                <a:cs typeface="MS PGothic"/>
              </a:rPr>
              <a:t>マイコン → ROS 2（serial_rx）</a:t>
            </a:r>
          </a:p>
        </p:txBody>
      </p:sp>
      <p:graphicFrame>
        <p:nvGraphicFramePr>
          <p:cNvPr id="7" name="Table 6"/>
          <p:cNvGraphicFramePr>
            <a:graphicFrameLocks noGrp="1"/>
          </p:cNvGraphicFramePr>
          <p:nvPr/>
        </p:nvGraphicFramePr>
        <p:xfrm>
          <a:off x="5852160" y="1783080"/>
          <a:ext cx="4846320" cy="1755648"/>
        </p:xfrm>
        <a:graphic>
          <a:graphicData uri="http://schemas.openxmlformats.org/drawingml/2006/table">
            <a:tbl>
              <a:tblPr firstRow="0" bandRow="0">
                <a:tableStyleId>{5C22544A-7EE6-4342-B048-85BDC9FD1C3A}</a:tableStyleId>
              </a:tblPr>
              <a:tblGrid>
                <a:gridCol w="1005840"/>
                <a:gridCol w="3840480"/>
              </a:tblGrid>
              <a:tr h="438912">
                <a:tc>
                  <a:txBody>
                    <a:bodyPr wrap="square"/>
                    <a:lstStyle/>
                    <a:p>
                      <a:pPr algn="ctr">
                        <a:spcAft>
                          <a:spcPts val="0"/>
                        </a:spcAft>
                      </a:pPr>
                      <a:r>
                        <a:rPr sz="1350" b="1" i="0">
                          <a:solidFill>
                            <a:srgbClr val="FFFFFF"/>
                          </a:solidFill>
                          <a:latin typeface="MS PGothic"/>
                          <a:ea typeface="MS PGothic"/>
                          <a:cs typeface="MS PGothic"/>
                        </a:rPr>
                        <a:t>[N]</a:t>
                      </a:r>
                    </a:p>
                  </a:txBody>
                  <a:tcPr marL="73152" marR="73152" marT="27432" marB="27432" anchor="ctr">
                    <a:solidFill>
                      <a:srgbClr val="CB1C14"/>
                    </a:solidFill>
                  </a:tcPr>
                </a:tc>
                <a:tc>
                  <a:txBody>
                    <a:bodyPr wrap="square"/>
                    <a:lstStyle/>
                    <a:p>
                      <a:pPr algn="ctr">
                        <a:spcAft>
                          <a:spcPts val="0"/>
                        </a:spcAft>
                      </a:pPr>
                      <a:r>
                        <a:rPr sz="1350" b="1" i="0">
                          <a:solidFill>
                            <a:srgbClr val="FFFFFF"/>
                          </a:solidFill>
                          <a:latin typeface="MS PGothic"/>
                          <a:ea typeface="MS PGothic"/>
                          <a:cs typeface="MS PGothic"/>
                        </a:rPr>
                        <a:t>用途</a:t>
                      </a:r>
                    </a:p>
                  </a:txBody>
                  <a:tcPr marL="73152" marR="73152" marT="27432" marB="27432" anchor="ctr">
                    <a:solidFill>
                      <a:srgbClr val="CB1C14"/>
                    </a:solidFill>
                  </a:tcPr>
                </a:tc>
              </a:tr>
              <a:tr h="438912">
                <a:tc>
                  <a:txBody>
                    <a:bodyPr wrap="square"/>
                    <a:lstStyle/>
                    <a:p>
                      <a:pPr algn="ctr">
                        <a:spcAft>
                          <a:spcPts val="0"/>
                        </a:spcAft>
                      </a:pPr>
                      <a:r>
                        <a:rPr sz="1350" b="0" i="0">
                          <a:solidFill>
                            <a:srgbClr val="1F1F1F"/>
                          </a:solidFill>
                          <a:latin typeface="MS PGothic"/>
                          <a:ea typeface="MS PGothic"/>
                          <a:cs typeface="MS PGothic"/>
                        </a:rPr>
                        <a:t>1〜8</a:t>
                      </a:r>
                    </a:p>
                  </a:txBody>
                  <a:tcPr marL="73152" marR="73152" marT="27432" marB="27432" anchor="ctr">
                    <a:solidFill>
                      <a:srgbClr val="FFFFFF"/>
                    </a:solidFill>
                  </a:tcPr>
                </a:tc>
                <a:tc>
                  <a:txBody>
                    <a:bodyPr wrap="square"/>
                    <a:lstStyle/>
                    <a:p>
                      <a:pPr algn="l">
                        <a:spcAft>
                          <a:spcPts val="0"/>
                        </a:spcAft>
                      </a:pPr>
                      <a:r>
                        <a:rPr sz="1350" b="0" i="0">
                          <a:solidFill>
                            <a:srgbClr val="1F1F1F"/>
                          </a:solidFill>
                          <a:latin typeface="MS PGothic"/>
                          <a:ea typeface="MS PGothic"/>
                          <a:cs typeface="MS PGothic"/>
                        </a:rPr>
                        <a:t>エンコーダのパルス</a:t>
                      </a:r>
                    </a:p>
                  </a:txBody>
                  <a:tcPr marL="73152" marR="73152" marT="27432" marB="27432" anchor="ctr">
                    <a:solidFill>
                      <a:srgbClr val="FFFFFF"/>
                    </a:solidFill>
                  </a:tcPr>
                </a:tc>
              </a:tr>
              <a:tr h="438912">
                <a:tc>
                  <a:txBody>
                    <a:bodyPr wrap="square"/>
                    <a:lstStyle/>
                    <a:p>
                      <a:pPr algn="ctr">
                        <a:spcAft>
                          <a:spcPts val="0"/>
                        </a:spcAft>
                      </a:pPr>
                      <a:r>
                        <a:rPr sz="1350" b="0" i="0">
                          <a:solidFill>
                            <a:srgbClr val="1F1F1F"/>
                          </a:solidFill>
                          <a:latin typeface="MS PGothic"/>
                          <a:ea typeface="MS PGothic"/>
                          <a:cs typeface="MS PGothic"/>
                        </a:rPr>
                        <a:t>9〜16</a:t>
                      </a:r>
                    </a:p>
                  </a:txBody>
                  <a:tcPr marL="73152" marR="73152" marT="27432" marB="27432" anchor="ctr">
                    <a:solidFill>
                      <a:srgbClr val="F2F2F2"/>
                    </a:solidFill>
                  </a:tcPr>
                </a:tc>
                <a:tc>
                  <a:txBody>
                    <a:bodyPr wrap="square"/>
                    <a:lstStyle/>
                    <a:p>
                      <a:pPr algn="l">
                        <a:spcAft>
                          <a:spcPts val="0"/>
                        </a:spcAft>
                      </a:pPr>
                      <a:r>
                        <a:rPr sz="1350" b="0" i="0">
                          <a:solidFill>
                            <a:srgbClr val="1F1F1F"/>
                          </a:solidFill>
                          <a:latin typeface="MS PGothic"/>
                          <a:ea typeface="MS PGothic"/>
                          <a:cs typeface="MS PGothic"/>
                        </a:rPr>
                        <a:t>マイクロスイッチ（デジタル入力）</a:t>
                      </a:r>
                    </a:p>
                  </a:txBody>
                  <a:tcPr marL="73152" marR="73152" marT="27432" marB="27432" anchor="ctr">
                    <a:solidFill>
                      <a:srgbClr val="F2F2F2"/>
                    </a:solidFill>
                  </a:tcPr>
                </a:tc>
              </a:tr>
              <a:tr h="438912">
                <a:tc>
                  <a:txBody>
                    <a:bodyPr wrap="square"/>
                    <a:lstStyle/>
                    <a:p>
                      <a:pPr algn="ctr">
                        <a:spcAft>
                          <a:spcPts val="0"/>
                        </a:spcAft>
                      </a:pPr>
                      <a:r>
                        <a:rPr sz="1350" b="0" i="0">
                          <a:solidFill>
                            <a:srgbClr val="1F1F1F"/>
                          </a:solidFill>
                          <a:latin typeface="MS PGothic"/>
                          <a:ea typeface="MS PGothic"/>
                          <a:cs typeface="MS PGothic"/>
                        </a:rPr>
                        <a:t>17〜23</a:t>
                      </a:r>
                    </a:p>
                  </a:txBody>
                  <a:tcPr marL="73152" marR="73152" marT="27432" marB="27432" anchor="ctr">
                    <a:solidFill>
                      <a:srgbClr val="FFFFFF"/>
                    </a:solidFill>
                  </a:tcPr>
                </a:tc>
                <a:tc>
                  <a:txBody>
                    <a:bodyPr wrap="square"/>
                    <a:lstStyle/>
                    <a:p>
                      <a:pPr algn="l">
                        <a:spcAft>
                          <a:spcPts val="0"/>
                        </a:spcAft>
                      </a:pPr>
                      <a:r>
                        <a:rPr sz="1350" b="0" i="0">
                          <a:solidFill>
                            <a:srgbClr val="1F1F1F"/>
                          </a:solidFill>
                          <a:latin typeface="MS PGothic"/>
                          <a:ea typeface="MS PGothic"/>
                          <a:cs typeface="MS PGothic"/>
                        </a:rPr>
                        <a:t>その他センサのために予約</a:t>
                      </a:r>
                    </a:p>
                  </a:txBody>
                  <a:tcPr marL="73152" marR="73152" marT="27432" marB="27432" anchor="ctr">
                    <a:solidFill>
                      <a:srgbClr val="FFFFFF"/>
                    </a:solidFill>
                  </a:tcPr>
                </a:tc>
              </a:tr>
            </a:tbl>
          </a:graphicData>
        </a:graphic>
      </p:graphicFrame>
      <p:sp>
        <p:nvSpPr>
          <p:cNvPr id="8" name="Rounded Rectangle 7"/>
          <p:cNvSpPr/>
          <p:nvPr/>
        </p:nvSpPr>
        <p:spPr>
          <a:xfrm>
            <a:off x="548640" y="4343400"/>
            <a:ext cx="10149840" cy="13716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9" name="TextBox 8"/>
          <p:cNvSpPr txBox="1"/>
          <p:nvPr/>
        </p:nvSpPr>
        <p:spPr>
          <a:xfrm>
            <a:off x="777240" y="4434840"/>
            <a:ext cx="9692640" cy="1234440"/>
          </a:xfrm>
          <a:prstGeom prst="rect">
            <a:avLst/>
          </a:prstGeom>
          <a:noFill/>
        </p:spPr>
        <p:txBody>
          <a:bodyPr wrap="square" anchor="t" lIns="45720" rIns="45720"/>
          <a:lstStyle/>
          <a:p>
            <a:pPr algn="l" marL="201168" indent="-201168">
              <a:spcAft>
                <a:spcPts val="600"/>
              </a:spcAft>
              <a:buClr>
                <a:srgbClr val="CB1C14"/>
              </a:buClr>
              <a:buFont typeface="Arial"/>
              <a:buChar char="•"/>
            </a:pPr>
            <a:r>
              <a:rPr sz="1350" b="0" i="0">
                <a:solidFill>
                  <a:srgbClr val="1F1F1F"/>
                </a:solidFill>
                <a:latin typeface="MS PGothic"/>
                <a:ea typeface="MS PGothic"/>
                <a:cs typeface="MS PGothic"/>
              </a:rPr>
              <a:t>スロット数は 24（config.hpp で変更可能）。1スロット = int16 = 2バイトなので、ペイロードは 48バイト</a:t>
            </a:r>
          </a:p>
          <a:p>
            <a:pPr algn="l" marL="201168" indent="-201168">
              <a:spcAft>
                <a:spcPts val="600"/>
              </a:spcAft>
              <a:buClr>
                <a:srgbClr val="CB1C14"/>
              </a:buClr>
              <a:buFont typeface="Arial"/>
              <a:buChar char="•"/>
            </a:pPr>
            <a:r>
              <a:rPr sz="1350" b="0" i="0">
                <a:solidFill>
                  <a:srgbClr val="1F1F1F"/>
                </a:solidFill>
                <a:latin typeface="MS PGothic"/>
                <a:ea typeface="MS PGothic"/>
                <a:cs typeface="MS PGothic"/>
              </a:rPr>
              <a:t>割当はファームウェアごとに固定。どのスロットが何を意味するかを serial_bridge 自体は解釈しない</a:t>
            </a:r>
          </a:p>
          <a:p>
            <a:pPr algn="l" marL="201168" indent="-201168">
              <a:spcAft>
                <a:spcPts val="600"/>
              </a:spcAft>
              <a:buClr>
                <a:srgbClr val="CB1C14"/>
              </a:buClr>
              <a:buFont typeface="Arial"/>
              <a:buChar char="•"/>
            </a:pPr>
            <a:r>
              <a:rPr sz="1350" b="0" i="0">
                <a:solidFill>
                  <a:srgbClr val="1F1F1F"/>
                </a:solidFill>
                <a:latin typeface="MS PGothic"/>
                <a:ea typeface="MS PGothic"/>
                <a:cs typeface="MS PGothic"/>
              </a:rPr>
              <a:t>範囲を超えないよう、自作ノードでは PacketController（後述）を使うと安全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377440"/>
            <a:ext cx="9144000" cy="1188720"/>
          </a:xfrm>
        </p:spPr>
        <p:txBody>
          <a:bodyPr anchor="t"/>
          <a:lstStyle/>
          <a:p>
            <a:pPr algn="l">
              <a:spcAft>
                <a:spcPts val="400"/>
              </a:spcAft>
            </a:pPr>
            <a:r>
              <a:rPr sz="4000" b="1" i="0">
                <a:solidFill>
                  <a:srgbClr val="1F1F1F"/>
                </a:solidFill>
                <a:latin typeface="MS PGothic"/>
                <a:ea typeface="MS PGothic"/>
                <a:cs typeface="MS PGothic"/>
              </a:rPr>
              <a:t>実装</a:t>
            </a:r>
          </a:p>
        </p:txBody>
      </p:sp>
      <p:sp>
        <p:nvSpPr>
          <p:cNvPr id="3" name="Text Placeholder 2"/>
          <p:cNvSpPr>
            <a:spLocks noGrp="1"/>
          </p:cNvSpPr>
          <p:nvPr>
            <p:ph type="body" idx="1"/>
          </p:nvPr>
        </p:nvSpPr>
        <p:spPr>
          <a:xfrm>
            <a:off x="822960" y="3566160"/>
            <a:ext cx="9144000" cy="914400"/>
          </a:xfrm>
        </p:spPr>
        <p:txBody>
          <a:bodyPr/>
          <a:lstStyle/>
          <a:p>
            <a:pPr algn="l">
              <a:spcAft>
                <a:spcPts val="400"/>
              </a:spcAft>
            </a:pPr>
            <a:r>
              <a:rPr sz="1800" b="0" i="0">
                <a:solidFill>
                  <a:srgbClr val="595959"/>
                </a:solidFill>
                <a:latin typeface="MS PGothic"/>
                <a:ea typeface="MS PGothic"/>
                <a:cs typeface="MS PGothic"/>
              </a:rPr>
              <a:t>ROS 2側の処理とマイコン側の処理</a:t>
            </a:r>
          </a:p>
        </p:txBody>
      </p:sp>
      <p:sp>
        <p:nvSpPr>
          <p:cNvPr id="4" name="TextBox 3"/>
          <p:cNvSpPr txBox="1"/>
          <p:nvPr/>
        </p:nvSpPr>
        <p:spPr>
          <a:xfrm>
            <a:off x="822960" y="1234440"/>
            <a:ext cx="2743200" cy="1097280"/>
          </a:xfrm>
          <a:prstGeom prst="rect">
            <a:avLst/>
          </a:prstGeom>
          <a:noFill/>
        </p:spPr>
        <p:txBody>
          <a:bodyPr wrap="square" anchor="b" lIns="0" rIns="0" tIns="0" bIns="0"/>
          <a:lstStyle/>
          <a:p>
            <a:pPr algn="l">
              <a:spcAft>
                <a:spcPts val="400"/>
              </a:spcAft>
            </a:pPr>
            <a:r>
              <a:rPr sz="7200" b="1" i="0">
                <a:solidFill>
                  <a:srgbClr val="CB1C14"/>
                </a:solidFill>
                <a:latin typeface="MS PGothic"/>
                <a:ea typeface="MS PGothic"/>
                <a:cs typeface="MS PGothic"/>
              </a:rPr>
              <a:t>03</a:t>
            </a:r>
          </a:p>
        </p:txBody>
      </p:sp>
      <p:sp>
        <p:nvSpPr>
          <p:cNvPr id="5" name="TextBox 4"/>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ROS 2側の構成</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15</a:t>
            </a:r>
          </a:p>
        </p:txBody>
      </p:sp>
      <p:sp>
        <p:nvSpPr>
          <p:cNvPr id="4" name="Rounded Rectangle 3"/>
          <p:cNvSpPr/>
          <p:nvPr/>
        </p:nvSpPr>
        <p:spPr>
          <a:xfrm>
            <a:off x="548640" y="1417320"/>
            <a:ext cx="2194560" cy="914400"/>
          </a:xfrm>
          <a:prstGeom prst="roundRect">
            <a:avLst>
              <a:gd name="adj" fmla="val 12000"/>
            </a:avLst>
          </a:prstGeom>
          <a:solidFill>
            <a:srgbClr val="F2F2F2"/>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1F1F1F"/>
                </a:solidFill>
                <a:latin typeface="MS PGothic"/>
                <a:ea typeface="MS PGothic"/>
                <a:cs typeface="MS PGothic"/>
              </a:rPr>
              <a:t>任意のROS 2ノード</a:t>
            </a:r>
          </a:p>
        </p:txBody>
      </p:sp>
      <p:cxnSp>
        <p:nvCxnSpPr>
          <p:cNvPr id="5" name="Connector 4"/>
          <p:cNvCxnSpPr/>
          <p:nvPr/>
        </p:nvCxnSpPr>
        <p:spPr>
          <a:xfrm>
            <a:off x="2743200" y="1691640"/>
            <a:ext cx="914400" cy="0"/>
          </a:xfrm>
          <a:prstGeom prst="line">
            <a:avLst/>
          </a:prstGeom>
          <a:ln w="2540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2743200" y="2057400"/>
            <a:ext cx="914400" cy="0"/>
          </a:xfrm>
          <a:prstGeom prst="line">
            <a:avLst/>
          </a:prstGeom>
          <a:ln w="25400">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560320" y="1280160"/>
            <a:ext cx="1280160" cy="365760"/>
          </a:xfrm>
          <a:prstGeom prst="rect">
            <a:avLst/>
          </a:prstGeom>
          <a:noFill/>
        </p:spPr>
        <p:txBody>
          <a:bodyPr wrap="square" anchor="t" lIns="45720" rIns="45720"/>
          <a:lstStyle/>
          <a:p>
            <a:pPr algn="ctr">
              <a:spcAft>
                <a:spcPts val="400"/>
              </a:spcAft>
            </a:pPr>
            <a:r>
              <a:rPr sz="950" b="0" i="0">
                <a:solidFill>
                  <a:srgbClr val="1F1F1F"/>
                </a:solidFill>
                <a:latin typeface="MS Gothic"/>
                <a:ea typeface="MS Gothic"/>
                <a:cs typeface="MS Gothic"/>
              </a:rPr>
              <a:t>serial_tx_[ID]</a:t>
            </a:r>
          </a:p>
        </p:txBody>
      </p:sp>
      <p:sp>
        <p:nvSpPr>
          <p:cNvPr id="8" name="TextBox 7"/>
          <p:cNvSpPr txBox="1"/>
          <p:nvPr/>
        </p:nvSpPr>
        <p:spPr>
          <a:xfrm>
            <a:off x="2560320" y="2103120"/>
            <a:ext cx="1280160" cy="365760"/>
          </a:xfrm>
          <a:prstGeom prst="rect">
            <a:avLst/>
          </a:prstGeom>
          <a:noFill/>
        </p:spPr>
        <p:txBody>
          <a:bodyPr wrap="square" anchor="t" lIns="45720" rIns="45720"/>
          <a:lstStyle/>
          <a:p>
            <a:pPr algn="ctr">
              <a:spcAft>
                <a:spcPts val="400"/>
              </a:spcAft>
            </a:pPr>
            <a:r>
              <a:rPr sz="950" b="0" i="0">
                <a:solidFill>
                  <a:srgbClr val="CB1C14"/>
                </a:solidFill>
                <a:latin typeface="MS Gothic"/>
                <a:ea typeface="MS Gothic"/>
                <a:cs typeface="MS Gothic"/>
              </a:rPr>
              <a:t>serial_rx_[ID]</a:t>
            </a:r>
          </a:p>
        </p:txBody>
      </p:sp>
      <p:sp>
        <p:nvSpPr>
          <p:cNvPr id="9" name="Rounded Rectangle 8"/>
          <p:cNvSpPr/>
          <p:nvPr/>
        </p:nvSpPr>
        <p:spPr>
          <a:xfrm>
            <a:off x="3657600" y="1417320"/>
            <a:ext cx="7040880" cy="434340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0" name="TextBox 9"/>
          <p:cNvSpPr txBox="1"/>
          <p:nvPr/>
        </p:nvSpPr>
        <p:spPr>
          <a:xfrm>
            <a:off x="3840480" y="1463040"/>
            <a:ext cx="4572000" cy="457200"/>
          </a:xfrm>
          <a:prstGeom prst="rect">
            <a:avLst/>
          </a:prstGeom>
          <a:noFill/>
        </p:spPr>
        <p:txBody>
          <a:bodyPr wrap="square" anchor="t" lIns="45720" rIns="45720"/>
          <a:lstStyle/>
          <a:p>
            <a:pPr algn="l">
              <a:spcAft>
                <a:spcPts val="400"/>
              </a:spcAft>
            </a:pPr>
            <a:r>
              <a:rPr sz="1600" b="1" i="0">
                <a:solidFill>
                  <a:srgbClr val="1F1F1F"/>
                </a:solidFill>
                <a:latin typeface="MS PGothic"/>
                <a:ea typeface="MS PGothic"/>
                <a:cs typeface="MS PGothic"/>
              </a:rPr>
              <a:t>serial_bridge ノード</a:t>
            </a:r>
          </a:p>
        </p:txBody>
      </p:sp>
      <p:sp>
        <p:nvSpPr>
          <p:cNvPr id="11" name="Rounded Rectangle 10"/>
          <p:cNvSpPr/>
          <p:nvPr/>
        </p:nvSpPr>
        <p:spPr>
          <a:xfrm>
            <a:off x="3931920" y="2011680"/>
            <a:ext cx="2743200" cy="1097280"/>
          </a:xfrm>
          <a:prstGeom prst="roundRect">
            <a:avLst>
              <a:gd name="adj" fmla="val 12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400" b="1" i="0">
                <a:solidFill>
                  <a:srgbClr val="1F1F1F"/>
                </a:solidFill>
                <a:latin typeface="MS Gothic"/>
                <a:ea typeface="MS Gothic"/>
                <a:cs typeface="MS Gothic"/>
              </a:rPr>
              <a:t>port_scanner</a:t>
            </a:r>
          </a:p>
          <a:p>
            <a:pPr algn="ctr">
              <a:spcAft>
                <a:spcPts val="0"/>
              </a:spcAft>
            </a:pPr>
            <a:r>
              <a:rPr sz="1100" b="0" i="0">
                <a:solidFill>
                  <a:srgbClr val="595959"/>
                </a:solidFill>
                <a:latin typeface="MS PGothic"/>
                <a:ea typeface="MS PGothic"/>
                <a:cs typeface="MS PGothic"/>
              </a:rPr>
              <a:t>スキャンスレッド</a:t>
            </a:r>
          </a:p>
        </p:txBody>
      </p:sp>
      <p:sp>
        <p:nvSpPr>
          <p:cNvPr id="12" name="TextBox 11"/>
          <p:cNvSpPr txBox="1"/>
          <p:nvPr/>
        </p:nvSpPr>
        <p:spPr>
          <a:xfrm>
            <a:off x="3931920" y="3154680"/>
            <a:ext cx="2743200" cy="1280160"/>
          </a:xfrm>
          <a:prstGeom prst="rect">
            <a:avLst/>
          </a:prstGeom>
          <a:noFill/>
        </p:spPr>
        <p:txBody>
          <a:bodyPr wrap="square" anchor="t" lIns="45720" rIns="45720"/>
          <a:lstStyle/>
          <a:p>
            <a:pPr algn="l" marL="201168" indent="-201168">
              <a:spcAft>
                <a:spcPts val="300"/>
              </a:spcAft>
              <a:buClr>
                <a:srgbClr val="CB1C14"/>
              </a:buClr>
              <a:buFont typeface="Arial"/>
              <a:buChar char="•"/>
            </a:pPr>
            <a:r>
              <a:rPr sz="1150" b="0" i="0">
                <a:solidFill>
                  <a:srgbClr val="1F1F1F"/>
                </a:solidFill>
                <a:latin typeface="MS PGothic"/>
                <a:ea typeface="MS PGothic"/>
                <a:cs typeface="MS PGothic"/>
              </a:rPr>
              <a:t>/dev/ttyUSB*, ttyACM* を探索</a:t>
            </a:r>
          </a:p>
          <a:p>
            <a:pPr algn="l" marL="201168" indent="-201168">
              <a:spcAft>
                <a:spcPts val="300"/>
              </a:spcAft>
              <a:buClr>
                <a:srgbClr val="CB1C14"/>
              </a:buClr>
              <a:buFont typeface="Arial"/>
              <a:buChar char="•"/>
            </a:pPr>
            <a:r>
              <a:rPr sz="1150" b="0" i="0">
                <a:solidFill>
                  <a:srgbClr val="1F1F1F"/>
                </a:solidFill>
                <a:latin typeface="MS PGothic"/>
                <a:ea typeface="MS PGothic"/>
                <a:cs typeface="MS PGothic"/>
              </a:rPr>
              <a:t>フレームのIDでマイコンを識別</a:t>
            </a:r>
          </a:p>
          <a:p>
            <a:pPr algn="l" marL="201168" indent="-201168">
              <a:spcAft>
                <a:spcPts val="300"/>
              </a:spcAft>
              <a:buClr>
                <a:srgbClr val="CB1C14"/>
              </a:buClr>
              <a:buFont typeface="Arial"/>
              <a:buChar char="•"/>
            </a:pPr>
            <a:r>
              <a:rPr sz="1150" b="0" i="0">
                <a:solidFill>
                  <a:srgbClr val="1F1F1F"/>
                </a:solidFill>
                <a:latin typeface="MS PGothic"/>
                <a:ea typeface="MS PGothic"/>
                <a:cs typeface="MS PGothic"/>
              </a:rPr>
              <a:t>見つけたら bridge_node を生成</a:t>
            </a:r>
          </a:p>
        </p:txBody>
      </p:sp>
      <p:sp>
        <p:nvSpPr>
          <p:cNvPr id="13" name="Rounded Rectangle 12"/>
          <p:cNvSpPr/>
          <p:nvPr/>
        </p:nvSpPr>
        <p:spPr>
          <a:xfrm>
            <a:off x="7223760" y="2011680"/>
            <a:ext cx="1737360" cy="82296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1" i="0">
                <a:solidFill>
                  <a:srgbClr val="FFFFFF"/>
                </a:solidFill>
                <a:latin typeface="MS Gothic"/>
                <a:ea typeface="MS Gothic"/>
                <a:cs typeface="MS Gothic"/>
              </a:rPr>
              <a:t>bridge_node</a:t>
            </a:r>
          </a:p>
          <a:p>
            <a:pPr algn="ctr">
              <a:spcAft>
                <a:spcPts val="0"/>
              </a:spcAft>
            </a:pPr>
            <a:r>
              <a:rPr sz="1100" b="0" i="0">
                <a:solidFill>
                  <a:srgbClr val="FFFFFF"/>
                </a:solidFill>
                <a:latin typeface="MS PGothic"/>
                <a:ea typeface="MS PGothic"/>
                <a:cs typeface="MS PGothic"/>
              </a:rPr>
              <a:t>ID=6</a:t>
            </a:r>
          </a:p>
        </p:txBody>
      </p:sp>
      <p:cxnSp>
        <p:nvCxnSpPr>
          <p:cNvPr id="14" name="Connector 13"/>
          <p:cNvCxnSpPr/>
          <p:nvPr/>
        </p:nvCxnSpPr>
        <p:spPr>
          <a:xfrm flipV="1">
            <a:off x="6675120" y="2423160"/>
            <a:ext cx="548640" cy="137160"/>
          </a:xfrm>
          <a:prstGeom prst="line">
            <a:avLst/>
          </a:prstGeom>
          <a:ln w="158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961120" y="2423160"/>
            <a:ext cx="365760" cy="0"/>
          </a:xfrm>
          <a:prstGeom prst="line">
            <a:avLst/>
          </a:prstGeom>
          <a:ln w="22225">
            <a:solidFill>
              <a:srgbClr val="1F1F1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326880" y="2011680"/>
            <a:ext cx="1234440" cy="822960"/>
          </a:xfrm>
          <a:prstGeom prst="roundRect">
            <a:avLst>
              <a:gd name="adj" fmla="val 12000"/>
            </a:avLst>
          </a:prstGeom>
          <a:solidFill>
            <a:srgbClr val="FFFFFF"/>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1" i="0">
                <a:solidFill>
                  <a:srgbClr val="1F1F1F"/>
                </a:solidFill>
                <a:latin typeface="MS PGothic"/>
                <a:ea typeface="MS PGothic"/>
                <a:cs typeface="MS PGothic"/>
              </a:rPr>
              <a:t>MCU</a:t>
            </a:r>
          </a:p>
          <a:p>
            <a:pPr algn="ctr">
              <a:spcAft>
                <a:spcPts val="0"/>
              </a:spcAft>
            </a:pPr>
            <a:r>
              <a:rPr sz="900" b="0" i="0">
                <a:solidFill>
                  <a:srgbClr val="1F1F1F"/>
                </a:solidFill>
                <a:latin typeface="MS PGothic"/>
                <a:ea typeface="MS PGothic"/>
                <a:cs typeface="MS PGothic"/>
              </a:rPr>
              <a:t>モータ / サーボ / TR</a:t>
            </a:r>
          </a:p>
        </p:txBody>
      </p:sp>
      <p:sp>
        <p:nvSpPr>
          <p:cNvPr id="17" name="Rounded Rectangle 16"/>
          <p:cNvSpPr/>
          <p:nvPr/>
        </p:nvSpPr>
        <p:spPr>
          <a:xfrm>
            <a:off x="7223760" y="3200400"/>
            <a:ext cx="1737360" cy="82296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1" i="0">
                <a:solidFill>
                  <a:srgbClr val="FFFFFF"/>
                </a:solidFill>
                <a:latin typeface="MS Gothic"/>
                <a:ea typeface="MS Gothic"/>
                <a:cs typeface="MS Gothic"/>
              </a:rPr>
              <a:t>bridge_node</a:t>
            </a:r>
          </a:p>
          <a:p>
            <a:pPr algn="ctr">
              <a:spcAft>
                <a:spcPts val="0"/>
              </a:spcAft>
            </a:pPr>
            <a:r>
              <a:rPr sz="1100" b="0" i="0">
                <a:solidFill>
                  <a:srgbClr val="FFFFFF"/>
                </a:solidFill>
                <a:latin typeface="MS PGothic"/>
                <a:ea typeface="MS PGothic"/>
                <a:cs typeface="MS PGothic"/>
              </a:rPr>
              <a:t>ID=7</a:t>
            </a:r>
          </a:p>
        </p:txBody>
      </p:sp>
      <p:cxnSp>
        <p:nvCxnSpPr>
          <p:cNvPr id="18" name="Connector 17"/>
          <p:cNvCxnSpPr/>
          <p:nvPr/>
        </p:nvCxnSpPr>
        <p:spPr>
          <a:xfrm>
            <a:off x="6675120" y="2560320"/>
            <a:ext cx="548640" cy="1051560"/>
          </a:xfrm>
          <a:prstGeom prst="line">
            <a:avLst/>
          </a:prstGeom>
          <a:ln w="158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961120" y="3611880"/>
            <a:ext cx="365760" cy="0"/>
          </a:xfrm>
          <a:prstGeom prst="line">
            <a:avLst/>
          </a:prstGeom>
          <a:ln w="22225">
            <a:solidFill>
              <a:srgbClr val="1F1F1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326880" y="3200400"/>
            <a:ext cx="1234440" cy="822960"/>
          </a:xfrm>
          <a:prstGeom prst="roundRect">
            <a:avLst>
              <a:gd name="adj" fmla="val 12000"/>
            </a:avLst>
          </a:prstGeom>
          <a:solidFill>
            <a:srgbClr val="FFFFFF"/>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1" i="0">
                <a:solidFill>
                  <a:srgbClr val="1F1F1F"/>
                </a:solidFill>
                <a:latin typeface="MS PGothic"/>
                <a:ea typeface="MS PGothic"/>
                <a:cs typeface="MS PGothic"/>
              </a:rPr>
              <a:t>MCU</a:t>
            </a:r>
          </a:p>
          <a:p>
            <a:pPr algn="ctr">
              <a:spcAft>
                <a:spcPts val="0"/>
              </a:spcAft>
            </a:pPr>
            <a:r>
              <a:rPr sz="900" b="0" i="0">
                <a:solidFill>
                  <a:srgbClr val="1F1F1F"/>
                </a:solidFill>
                <a:latin typeface="MS PGothic"/>
                <a:ea typeface="MS PGothic"/>
                <a:cs typeface="MS PGothic"/>
              </a:rPr>
              <a:t>エンコーダ / SW</a:t>
            </a:r>
          </a:p>
        </p:txBody>
      </p:sp>
      <p:sp>
        <p:nvSpPr>
          <p:cNvPr id="21" name="Rounded Rectangle 20"/>
          <p:cNvSpPr/>
          <p:nvPr/>
        </p:nvSpPr>
        <p:spPr>
          <a:xfrm>
            <a:off x="7223760" y="4389120"/>
            <a:ext cx="1737360" cy="82296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1" i="0">
                <a:solidFill>
                  <a:srgbClr val="FFFFFF"/>
                </a:solidFill>
                <a:latin typeface="MS Gothic"/>
                <a:ea typeface="MS Gothic"/>
                <a:cs typeface="MS Gothic"/>
              </a:rPr>
              <a:t>bridge_node</a:t>
            </a:r>
          </a:p>
          <a:p>
            <a:pPr algn="ctr">
              <a:spcAft>
                <a:spcPts val="0"/>
              </a:spcAft>
            </a:pPr>
            <a:r>
              <a:rPr sz="1100" b="0" i="0">
                <a:solidFill>
                  <a:srgbClr val="FFFFFF"/>
                </a:solidFill>
                <a:latin typeface="MS PGothic"/>
                <a:ea typeface="MS PGothic"/>
                <a:cs typeface="MS PGothic"/>
              </a:rPr>
              <a:t>ID=N</a:t>
            </a:r>
          </a:p>
        </p:txBody>
      </p:sp>
      <p:cxnSp>
        <p:nvCxnSpPr>
          <p:cNvPr id="22" name="Connector 21"/>
          <p:cNvCxnSpPr/>
          <p:nvPr/>
        </p:nvCxnSpPr>
        <p:spPr>
          <a:xfrm>
            <a:off x="6675120" y="2560320"/>
            <a:ext cx="548640" cy="2240280"/>
          </a:xfrm>
          <a:prstGeom prst="line">
            <a:avLst/>
          </a:prstGeom>
          <a:ln w="158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961120" y="4800600"/>
            <a:ext cx="365760" cy="0"/>
          </a:xfrm>
          <a:prstGeom prst="line">
            <a:avLst/>
          </a:prstGeom>
          <a:ln w="22225">
            <a:solidFill>
              <a:srgbClr val="1F1F1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326880" y="4389120"/>
            <a:ext cx="1234440" cy="822960"/>
          </a:xfrm>
          <a:prstGeom prst="roundRect">
            <a:avLst>
              <a:gd name="adj" fmla="val 12000"/>
            </a:avLst>
          </a:prstGeom>
          <a:solidFill>
            <a:srgbClr val="FFFFFF"/>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1" i="0">
                <a:solidFill>
                  <a:srgbClr val="1F1F1F"/>
                </a:solidFill>
                <a:latin typeface="MS PGothic"/>
                <a:ea typeface="MS PGothic"/>
                <a:cs typeface="MS PGothic"/>
              </a:rPr>
              <a:t>MCU</a:t>
            </a:r>
          </a:p>
          <a:p>
            <a:pPr algn="ctr">
              <a:spcAft>
                <a:spcPts val="0"/>
              </a:spcAft>
            </a:pPr>
            <a:r>
              <a:rPr sz="900" b="0" i="0">
                <a:solidFill>
                  <a:srgbClr val="1F1F1F"/>
                </a:solidFill>
                <a:latin typeface="MS PGothic"/>
                <a:ea typeface="MS PGothic"/>
                <a:cs typeface="MS PGothic"/>
              </a:rPr>
              <a:t>…</a:t>
            </a:r>
          </a:p>
        </p:txBody>
      </p:sp>
      <p:graphicFrame>
        <p:nvGraphicFramePr>
          <p:cNvPr id="25" name="Table 24"/>
          <p:cNvGraphicFramePr>
            <a:graphicFrameLocks noGrp="1"/>
          </p:cNvGraphicFramePr>
          <p:nvPr/>
        </p:nvGraphicFramePr>
        <p:xfrm>
          <a:off x="3931920" y="4526280"/>
          <a:ext cx="3017520" cy="1042416"/>
        </p:xfrm>
        <a:graphic>
          <a:graphicData uri="http://schemas.openxmlformats.org/drawingml/2006/table">
            <a:tbl>
              <a:tblPr firstRow="0" bandRow="0">
                <a:tableStyleId>{5C22544A-7EE6-4342-B048-85BDC9FD1C3A}</a:tableStyleId>
              </a:tblPr>
              <a:tblGrid>
                <a:gridCol w="1234440"/>
                <a:gridCol w="1783080"/>
              </a:tblGrid>
              <a:tr h="347472">
                <a:tc>
                  <a:txBody>
                    <a:bodyPr wrap="square"/>
                    <a:lstStyle/>
                    <a:p>
                      <a:pPr algn="ctr">
                        <a:spcAft>
                          <a:spcPts val="0"/>
                        </a:spcAft>
                      </a:pPr>
                      <a:r>
                        <a:rPr sz="1050" b="1" i="0">
                          <a:solidFill>
                            <a:srgbClr val="FFFFFF"/>
                          </a:solidFill>
                          <a:latin typeface="MS PGothic"/>
                          <a:ea typeface="MS PGothic"/>
                          <a:cs typeface="MS PGothic"/>
                        </a:rPr>
                        <a:t>ファイル</a:t>
                      </a:r>
                    </a:p>
                  </a:txBody>
                  <a:tcPr marL="73152" marR="73152" marT="27432" marB="27432" anchor="ctr">
                    <a:solidFill>
                      <a:srgbClr val="1F1F1F"/>
                    </a:solidFill>
                  </a:tcPr>
                </a:tc>
                <a:tc>
                  <a:txBody>
                    <a:bodyPr wrap="square"/>
                    <a:lstStyle/>
                    <a:p>
                      <a:pPr algn="ctr">
                        <a:spcAft>
                          <a:spcPts val="0"/>
                        </a:spcAft>
                      </a:pPr>
                      <a:r>
                        <a:rPr sz="1050" b="1" i="0">
                          <a:solidFill>
                            <a:srgbClr val="FFFFFF"/>
                          </a:solidFill>
                          <a:latin typeface="MS PGothic"/>
                          <a:ea typeface="MS PGothic"/>
                          <a:cs typeface="MS PGothic"/>
                        </a:rPr>
                        <a:t>役割</a:t>
                      </a:r>
                    </a:p>
                  </a:txBody>
                  <a:tcPr marL="73152" marR="73152" marT="27432" marB="27432" anchor="ctr">
                    <a:solidFill>
                      <a:srgbClr val="1F1F1F"/>
                    </a:solidFill>
                  </a:tcPr>
                </a:tc>
              </a:tr>
              <a:tr h="347472">
                <a:tc>
                  <a:txBody>
                    <a:bodyPr wrap="square"/>
                    <a:lstStyle/>
                    <a:p>
                      <a:pPr algn="l">
                        <a:spcAft>
                          <a:spcPts val="0"/>
                        </a:spcAft>
                      </a:pPr>
                      <a:r>
                        <a:rPr sz="1050" b="0" i="0">
                          <a:solidFill>
                            <a:srgbClr val="1F1F1F"/>
                          </a:solidFill>
                          <a:latin typeface="MS Gothic"/>
                          <a:ea typeface="MS Gothic"/>
                          <a:cs typeface="MS Gothic"/>
                        </a:rPr>
                        <a:t>main.cpp</a:t>
                      </a:r>
                    </a:p>
                  </a:txBody>
                  <a:tcPr marL="73152" marR="73152" marT="27432" marB="27432" anchor="ctr">
                    <a:solidFill>
                      <a:srgbClr val="FFFFFF"/>
                    </a:solidFill>
                  </a:tcPr>
                </a:tc>
                <a:tc>
                  <a:txBody>
                    <a:bodyPr wrap="square"/>
                    <a:lstStyle/>
                    <a:p>
                      <a:pPr algn="l">
                        <a:spcAft>
                          <a:spcPts val="0"/>
                        </a:spcAft>
                      </a:pPr>
                      <a:r>
                        <a:rPr sz="1050" b="0" i="0">
                          <a:solidFill>
                            <a:srgbClr val="1F1F1F"/>
                          </a:solidFill>
                          <a:latin typeface="MS PGothic"/>
                          <a:ea typeface="MS PGothic"/>
                          <a:cs typeface="MS PGothic"/>
                        </a:rPr>
                        <a:t>初期化・スキャン起動</a:t>
                      </a:r>
                    </a:p>
                  </a:txBody>
                  <a:tcPr marL="73152" marR="73152" marT="27432" marB="27432" anchor="ctr">
                    <a:solidFill>
                      <a:srgbClr val="FFFFFF"/>
                    </a:solidFill>
                  </a:tcPr>
                </a:tc>
              </a:tr>
              <a:tr h="347472">
                <a:tc>
                  <a:txBody>
                    <a:bodyPr wrap="square"/>
                    <a:lstStyle/>
                    <a:p>
                      <a:pPr algn="l">
                        <a:spcAft>
                          <a:spcPts val="0"/>
                        </a:spcAft>
                      </a:pPr>
                      <a:r>
                        <a:rPr sz="1050" b="0" i="0">
                          <a:solidFill>
                            <a:srgbClr val="1F1F1F"/>
                          </a:solidFill>
                          <a:latin typeface="MS Gothic"/>
                          <a:ea typeface="MS Gothic"/>
                          <a:cs typeface="MS Gothic"/>
                        </a:rPr>
                        <a:t>bridge_node</a:t>
                      </a:r>
                    </a:p>
                  </a:txBody>
                  <a:tcPr marL="73152" marR="73152" marT="27432" marB="27432" anchor="ctr">
                    <a:solidFill>
                      <a:srgbClr val="F2F2F2"/>
                    </a:solidFill>
                  </a:tcPr>
                </a:tc>
                <a:tc>
                  <a:txBody>
                    <a:bodyPr wrap="square"/>
                    <a:lstStyle/>
                    <a:p>
                      <a:pPr algn="l">
                        <a:spcAft>
                          <a:spcPts val="0"/>
                        </a:spcAft>
                      </a:pPr>
                      <a:r>
                        <a:rPr sz="1050" b="0" i="0">
                          <a:solidFill>
                            <a:srgbClr val="1F1F1F"/>
                          </a:solidFill>
                          <a:latin typeface="MS PGothic"/>
                          <a:ea typeface="MS PGothic"/>
                          <a:cs typeface="MS PGothic"/>
                        </a:rPr>
                        <a:t>1台1ノード 5ms周期</a:t>
                      </a:r>
                    </a:p>
                  </a:txBody>
                  <a:tcPr marL="73152" marR="73152" marT="27432" marB="27432" anchor="ctr">
                    <a:solidFill>
                      <a:srgbClr val="F2F2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送信処理の流れ（ROS 2 → マイコン）</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16</a:t>
            </a:r>
          </a:p>
        </p:txBody>
      </p:sp>
      <p:sp>
        <p:nvSpPr>
          <p:cNvPr id="4" name="Rounded Rectangle 3"/>
          <p:cNvSpPr/>
          <p:nvPr/>
        </p:nvSpPr>
        <p:spPr>
          <a:xfrm>
            <a:off x="548640" y="1371600"/>
            <a:ext cx="4480560" cy="2926080"/>
          </a:xfrm>
          <a:prstGeom prst="roundRect">
            <a:avLst>
              <a:gd name="adj" fmla="val 8000"/>
            </a:avLst>
          </a:prstGeom>
          <a:noFill/>
          <a:ln w="12700">
            <a:solidFill>
              <a:srgbClr val="8C8C8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5" name="TextBox 4"/>
          <p:cNvSpPr txBox="1"/>
          <p:nvPr/>
        </p:nvSpPr>
        <p:spPr>
          <a:xfrm>
            <a:off x="685800" y="1389888"/>
            <a:ext cx="4206240" cy="365760"/>
          </a:xfrm>
          <a:prstGeom prst="rect">
            <a:avLst/>
          </a:prstGeom>
          <a:noFill/>
        </p:spPr>
        <p:txBody>
          <a:bodyPr wrap="square" anchor="t" lIns="45720" rIns="45720"/>
          <a:lstStyle/>
          <a:p>
            <a:pPr algn="l">
              <a:spcAft>
                <a:spcPts val="400"/>
              </a:spcAft>
            </a:pPr>
            <a:r>
              <a:rPr sz="1200" b="0" i="0">
                <a:solidFill>
                  <a:srgbClr val="595959"/>
                </a:solidFill>
                <a:latin typeface="MS PGothic"/>
                <a:ea typeface="MS PGothic"/>
                <a:cs typeface="MS PGothic"/>
              </a:rPr>
              <a:t>ポートの走査は常に実行</a:t>
            </a:r>
          </a:p>
        </p:txBody>
      </p:sp>
      <p:sp>
        <p:nvSpPr>
          <p:cNvPr id="6" name="Rounded Rectangle 5"/>
          <p:cNvSpPr/>
          <p:nvPr/>
        </p:nvSpPr>
        <p:spPr>
          <a:xfrm>
            <a:off x="2011680" y="1783080"/>
            <a:ext cx="1645920" cy="502920"/>
          </a:xfrm>
          <a:prstGeom prst="roundRect">
            <a:avLst>
              <a:gd name="adj" fmla="val 12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0" i="0">
                <a:solidFill>
                  <a:srgbClr val="1F1F1F"/>
                </a:solidFill>
                <a:latin typeface="MS PGothic"/>
                <a:ea typeface="MS PGothic"/>
                <a:cs typeface="MS PGothic"/>
              </a:rPr>
              <a:t>ポートオープン</a:t>
            </a:r>
          </a:p>
        </p:txBody>
      </p:sp>
      <p:sp>
        <p:nvSpPr>
          <p:cNvPr id="7" name="Diamond 6"/>
          <p:cNvSpPr/>
          <p:nvPr/>
        </p:nvSpPr>
        <p:spPr>
          <a:xfrm>
            <a:off x="1737360" y="2514600"/>
            <a:ext cx="2194560" cy="822960"/>
          </a:xfrm>
          <a:prstGeom prst="diamond">
            <a:avLst/>
          </a:prstGeom>
          <a:solidFill>
            <a:srgbClr val="FFFFFF"/>
          </a:solidFill>
          <a:ln w="15875">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8" name="TextBox 7"/>
          <p:cNvSpPr txBox="1"/>
          <p:nvPr/>
        </p:nvSpPr>
        <p:spPr>
          <a:xfrm>
            <a:off x="1737360" y="2514600"/>
            <a:ext cx="2194560" cy="822960"/>
          </a:xfrm>
          <a:prstGeom prst="rect">
            <a:avLst/>
          </a:prstGeom>
          <a:noFill/>
        </p:spPr>
        <p:txBody>
          <a:bodyPr wrap="square" anchor="ctr" lIns="45720" rIns="45720"/>
          <a:lstStyle/>
          <a:p>
            <a:pPr algn="ctr">
              <a:spcAft>
                <a:spcPts val="400"/>
              </a:spcAft>
            </a:pPr>
            <a:r>
              <a:rPr sz="1150" b="0" i="0">
                <a:solidFill>
                  <a:srgbClr val="1F1F1F"/>
                </a:solidFill>
                <a:latin typeface="MS PGothic"/>
                <a:ea typeface="MS PGothic"/>
                <a:cs typeface="MS PGothic"/>
              </a:rPr>
              <a:t>マイコンから
IDを受信？</a:t>
            </a:r>
          </a:p>
        </p:txBody>
      </p:sp>
      <p:sp>
        <p:nvSpPr>
          <p:cNvPr id="9" name="Rounded Rectangle 8"/>
          <p:cNvSpPr/>
          <p:nvPr/>
        </p:nvSpPr>
        <p:spPr>
          <a:xfrm>
            <a:off x="685800" y="2679192"/>
            <a:ext cx="868680" cy="502920"/>
          </a:xfrm>
          <a:prstGeom prst="roundRect">
            <a:avLst>
              <a:gd name="adj" fmla="val 12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0" i="0">
                <a:solidFill>
                  <a:srgbClr val="1F1F1F"/>
                </a:solidFill>
                <a:latin typeface="MS PGothic"/>
                <a:ea typeface="MS PGothic"/>
                <a:cs typeface="MS PGothic"/>
              </a:rPr>
              <a:t>クローズ</a:t>
            </a:r>
          </a:p>
        </p:txBody>
      </p:sp>
      <p:cxnSp>
        <p:nvCxnSpPr>
          <p:cNvPr id="10" name="Connector 9"/>
          <p:cNvCxnSpPr/>
          <p:nvPr/>
        </p:nvCxnSpPr>
        <p:spPr>
          <a:xfrm flipH="1">
            <a:off x="1554480" y="2926080"/>
            <a:ext cx="182880" cy="0"/>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5568" y="2029968"/>
            <a:ext cx="0" cy="649224"/>
          </a:xfrm>
          <a:prstGeom prst="line">
            <a:avLst/>
          </a:prstGeom>
          <a:ln w="19050">
            <a:solidFill>
              <a:srgbClr val="1F1F1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5568" y="2029968"/>
            <a:ext cx="896112" cy="0"/>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572768" y="2944368"/>
            <a:ext cx="457200" cy="274320"/>
          </a:xfrm>
          <a:prstGeom prst="rect">
            <a:avLst/>
          </a:prstGeom>
          <a:noFill/>
        </p:spPr>
        <p:txBody>
          <a:bodyPr wrap="square" anchor="t" lIns="45720" rIns="45720"/>
          <a:lstStyle/>
          <a:p>
            <a:pPr algn="l">
              <a:spcAft>
                <a:spcPts val="400"/>
              </a:spcAft>
            </a:pPr>
            <a:r>
              <a:rPr sz="1000" b="0" i="0">
                <a:solidFill>
                  <a:srgbClr val="595959"/>
                </a:solidFill>
                <a:latin typeface="MS PGothic"/>
                <a:ea typeface="MS PGothic"/>
                <a:cs typeface="MS PGothic"/>
              </a:rPr>
              <a:t>No</a:t>
            </a:r>
          </a:p>
        </p:txBody>
      </p:sp>
      <p:cxnSp>
        <p:nvCxnSpPr>
          <p:cNvPr id="14" name="Connector 13"/>
          <p:cNvCxnSpPr/>
          <p:nvPr/>
        </p:nvCxnSpPr>
        <p:spPr>
          <a:xfrm>
            <a:off x="2834640" y="2286000"/>
            <a:ext cx="0" cy="228600"/>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834640" y="3337560"/>
            <a:ext cx="0" cy="228600"/>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2880360" y="3291840"/>
            <a:ext cx="457200" cy="274320"/>
          </a:xfrm>
          <a:prstGeom prst="rect">
            <a:avLst/>
          </a:prstGeom>
          <a:noFill/>
        </p:spPr>
        <p:txBody>
          <a:bodyPr wrap="square" anchor="t" lIns="45720" rIns="45720"/>
          <a:lstStyle/>
          <a:p>
            <a:pPr algn="l">
              <a:spcAft>
                <a:spcPts val="400"/>
              </a:spcAft>
            </a:pPr>
            <a:r>
              <a:rPr sz="1000" b="0" i="0">
                <a:solidFill>
                  <a:srgbClr val="595959"/>
                </a:solidFill>
                <a:latin typeface="MS PGothic"/>
                <a:ea typeface="MS PGothic"/>
                <a:cs typeface="MS PGothic"/>
              </a:rPr>
              <a:t>Yes</a:t>
            </a:r>
          </a:p>
        </p:txBody>
      </p:sp>
      <p:sp>
        <p:nvSpPr>
          <p:cNvPr id="17" name="Rounded Rectangle 16"/>
          <p:cNvSpPr/>
          <p:nvPr/>
        </p:nvSpPr>
        <p:spPr>
          <a:xfrm>
            <a:off x="1874519" y="3566160"/>
            <a:ext cx="1920240" cy="566928"/>
          </a:xfrm>
          <a:prstGeom prst="roundRect">
            <a:avLst>
              <a:gd name="adj" fmla="val 12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0" i="0">
                <a:solidFill>
                  <a:srgbClr val="1F1F1F"/>
                </a:solidFill>
                <a:latin typeface="MS PGothic"/>
                <a:ea typeface="MS PGothic"/>
                <a:cs typeface="MS PGothic"/>
              </a:rPr>
              <a:t>IDとポート番号の
対応関係を保持</a:t>
            </a:r>
          </a:p>
        </p:txBody>
      </p:sp>
      <p:cxnSp>
        <p:nvCxnSpPr>
          <p:cNvPr id="18" name="Connector 17"/>
          <p:cNvCxnSpPr/>
          <p:nvPr/>
        </p:nvCxnSpPr>
        <p:spPr>
          <a:xfrm>
            <a:off x="2834640" y="4133087"/>
            <a:ext cx="0" cy="393193"/>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828800" y="4526280"/>
            <a:ext cx="2011680" cy="502920"/>
          </a:xfrm>
          <a:prstGeom prst="roundRect">
            <a:avLst>
              <a:gd name="adj" fmla="val 12000"/>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050" b="0" i="0">
                <a:solidFill>
                  <a:srgbClr val="1F1F1F"/>
                </a:solidFill>
                <a:latin typeface="MS PGothic"/>
                <a:ea typeface="MS PGothic"/>
                <a:cs typeface="MS PGothic"/>
              </a:rPr>
              <a:t>serial_tx_[ID] をSubscribe</a:t>
            </a:r>
          </a:p>
        </p:txBody>
      </p:sp>
      <p:cxnSp>
        <p:nvCxnSpPr>
          <p:cNvPr id="20" name="Connector 19"/>
          <p:cNvCxnSpPr/>
          <p:nvPr/>
        </p:nvCxnSpPr>
        <p:spPr>
          <a:xfrm>
            <a:off x="2834640" y="5029200"/>
            <a:ext cx="0" cy="182880"/>
          </a:xfrm>
          <a:prstGeom prst="line">
            <a:avLst/>
          </a:prstGeom>
          <a:ln w="1905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Diamond 20"/>
          <p:cNvSpPr/>
          <p:nvPr/>
        </p:nvSpPr>
        <p:spPr>
          <a:xfrm>
            <a:off x="1554480" y="5212080"/>
            <a:ext cx="2560320" cy="685800"/>
          </a:xfrm>
          <a:prstGeom prst="diamond">
            <a:avLst/>
          </a:prstGeom>
          <a:solidFill>
            <a:srgbClr val="FFFFFF"/>
          </a:solidFill>
          <a:ln w="15875">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a:lstStyle/>
          <a:p>
            <a:pPr algn="ctr"/>
          </a:p>
        </p:txBody>
      </p:sp>
      <p:sp>
        <p:nvSpPr>
          <p:cNvPr id="22" name="TextBox 21"/>
          <p:cNvSpPr txBox="1"/>
          <p:nvPr/>
        </p:nvSpPr>
        <p:spPr>
          <a:xfrm>
            <a:off x="1554480" y="5212080"/>
            <a:ext cx="2560320" cy="685800"/>
          </a:xfrm>
          <a:prstGeom prst="rect">
            <a:avLst/>
          </a:prstGeom>
          <a:noFill/>
        </p:spPr>
        <p:txBody>
          <a:bodyPr wrap="square" anchor="ctr" lIns="45720" rIns="45720"/>
          <a:lstStyle/>
          <a:p>
            <a:pPr algn="ctr">
              <a:spcAft>
                <a:spcPts val="400"/>
              </a:spcAft>
            </a:pPr>
            <a:r>
              <a:rPr sz="1150" b="0" i="0">
                <a:solidFill>
                  <a:srgbClr val="1F1F1F"/>
                </a:solidFill>
                <a:latin typeface="MS PGothic"/>
                <a:ea typeface="MS PGothic"/>
                <a:cs typeface="MS PGothic"/>
              </a:rPr>
              <a:t>メッセージあり？</a:t>
            </a:r>
          </a:p>
        </p:txBody>
      </p:sp>
      <p:cxnSp>
        <p:nvCxnSpPr>
          <p:cNvPr id="23" name="Connector 22"/>
          <p:cNvCxnSpPr/>
          <p:nvPr/>
        </p:nvCxnSpPr>
        <p:spPr>
          <a:xfrm>
            <a:off x="4114800" y="5550408"/>
            <a:ext cx="1005840" cy="0"/>
          </a:xfrm>
          <a:prstGeom prst="line">
            <a:avLst/>
          </a:prstGeom>
          <a:ln w="25400">
            <a:solidFill>
              <a:srgbClr val="CB1C1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5120640" y="1600200"/>
            <a:ext cx="0" cy="3950208"/>
          </a:xfrm>
          <a:prstGeom prst="line">
            <a:avLst/>
          </a:prstGeom>
          <a:ln w="25400">
            <a:solidFill>
              <a:srgbClr val="CB1C1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120640" y="1600200"/>
            <a:ext cx="914400" cy="0"/>
          </a:xfrm>
          <a:prstGeom prst="line">
            <a:avLst/>
          </a:prstGeom>
          <a:ln w="25400">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60520" y="5257800"/>
            <a:ext cx="548640" cy="274320"/>
          </a:xfrm>
          <a:prstGeom prst="rect">
            <a:avLst/>
          </a:prstGeom>
          <a:noFill/>
        </p:spPr>
        <p:txBody>
          <a:bodyPr wrap="square" anchor="t" lIns="45720" rIns="45720"/>
          <a:lstStyle/>
          <a:p>
            <a:pPr algn="l">
              <a:spcAft>
                <a:spcPts val="400"/>
              </a:spcAft>
            </a:pPr>
            <a:r>
              <a:rPr sz="1000" b="0" i="0">
                <a:solidFill>
                  <a:srgbClr val="CB1C14"/>
                </a:solidFill>
                <a:latin typeface="MS PGothic"/>
                <a:ea typeface="MS PGothic"/>
                <a:cs typeface="MS PGothic"/>
              </a:rPr>
              <a:t>Yes</a:t>
            </a:r>
          </a:p>
        </p:txBody>
      </p:sp>
      <p:sp>
        <p:nvSpPr>
          <p:cNvPr id="27" name="Rounded Rectangle 26"/>
          <p:cNvSpPr/>
          <p:nvPr/>
        </p:nvSpPr>
        <p:spPr>
          <a:xfrm>
            <a:off x="6035040" y="1325880"/>
            <a:ext cx="466344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8" name="Oval 27"/>
          <p:cNvSpPr/>
          <p:nvPr/>
        </p:nvSpPr>
        <p:spPr>
          <a:xfrm>
            <a:off x="6217920" y="1618488"/>
            <a:ext cx="457200" cy="45720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1</a:t>
            </a:r>
          </a:p>
        </p:txBody>
      </p:sp>
      <p:sp>
        <p:nvSpPr>
          <p:cNvPr id="29" name="TextBox 28"/>
          <p:cNvSpPr txBox="1"/>
          <p:nvPr/>
        </p:nvSpPr>
        <p:spPr>
          <a:xfrm>
            <a:off x="6812280" y="1417320"/>
            <a:ext cx="3794760" cy="411480"/>
          </a:xfrm>
          <a:prstGeom prst="rect">
            <a:avLst/>
          </a:prstGeom>
          <a:noFill/>
        </p:spPr>
        <p:txBody>
          <a:bodyPr wrap="square" anchor="t" lIns="45720" rIns="45720"/>
          <a:lstStyle/>
          <a:p>
            <a:pPr algn="l">
              <a:spcAft>
                <a:spcPts val="400"/>
              </a:spcAft>
            </a:pPr>
            <a:r>
              <a:rPr sz="1450" b="1" i="0">
                <a:solidFill>
                  <a:srgbClr val="1F1F1F"/>
                </a:solidFill>
                <a:latin typeface="MS PGothic"/>
                <a:ea typeface="MS PGothic"/>
                <a:cs typeface="MS PGothic"/>
              </a:rPr>
              <a:t>int16 → uint8 配列に変換</a:t>
            </a:r>
          </a:p>
        </p:txBody>
      </p:sp>
      <p:sp>
        <p:nvSpPr>
          <p:cNvPr id="30" name="TextBox 29"/>
          <p:cNvSpPr txBox="1"/>
          <p:nvPr/>
        </p:nvSpPr>
        <p:spPr>
          <a:xfrm>
            <a:off x="6812280" y="1801368"/>
            <a:ext cx="3794760" cy="548640"/>
          </a:xfrm>
          <a:prstGeom prst="rect">
            <a:avLst/>
          </a:prstGeom>
          <a:noFill/>
        </p:spPr>
        <p:txBody>
          <a:bodyPr wrap="square" anchor="t" lIns="45720" rIns="45720"/>
          <a:lstStyle/>
          <a:p>
            <a:pPr algn="l">
              <a:spcAft>
                <a:spcPts val="400"/>
              </a:spcAft>
            </a:pPr>
            <a:r>
              <a:rPr sz="1150" b="0" i="0">
                <a:solidFill>
                  <a:srgbClr val="595959"/>
                </a:solidFill>
                <a:latin typeface="MS PGothic"/>
                <a:ea typeface="MS PGothic"/>
                <a:cs typeface="MS PGothic"/>
              </a:rPr>
              <a:t>これをペイロードとする</a:t>
            </a:r>
          </a:p>
        </p:txBody>
      </p:sp>
      <p:cxnSp>
        <p:nvCxnSpPr>
          <p:cNvPr id="31" name="Connector 30"/>
          <p:cNvCxnSpPr/>
          <p:nvPr/>
        </p:nvCxnSpPr>
        <p:spPr>
          <a:xfrm>
            <a:off x="8366760" y="2377439"/>
            <a:ext cx="0" cy="320041"/>
          </a:xfrm>
          <a:prstGeom prst="line">
            <a:avLst/>
          </a:prstGeom>
          <a:ln w="25400">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035040" y="2697480"/>
            <a:ext cx="466344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33" name="Oval 32"/>
          <p:cNvSpPr/>
          <p:nvPr/>
        </p:nvSpPr>
        <p:spPr>
          <a:xfrm>
            <a:off x="6217920" y="2990088"/>
            <a:ext cx="457200" cy="45720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2</a:t>
            </a:r>
          </a:p>
        </p:txBody>
      </p:sp>
      <p:sp>
        <p:nvSpPr>
          <p:cNvPr id="34" name="TextBox 33"/>
          <p:cNvSpPr txBox="1"/>
          <p:nvPr/>
        </p:nvSpPr>
        <p:spPr>
          <a:xfrm>
            <a:off x="6812280" y="2788920"/>
            <a:ext cx="3794760" cy="411480"/>
          </a:xfrm>
          <a:prstGeom prst="rect">
            <a:avLst/>
          </a:prstGeom>
          <a:noFill/>
        </p:spPr>
        <p:txBody>
          <a:bodyPr wrap="square" anchor="t" lIns="45720" rIns="45720"/>
          <a:lstStyle/>
          <a:p>
            <a:pPr algn="l">
              <a:spcAft>
                <a:spcPts val="400"/>
              </a:spcAft>
            </a:pPr>
            <a:r>
              <a:rPr sz="1450" b="1" i="0">
                <a:solidFill>
                  <a:srgbClr val="1F1F1F"/>
                </a:solidFill>
                <a:latin typeface="MS PGothic"/>
                <a:ea typeface="MS PGothic"/>
                <a:cs typeface="MS PGothic"/>
              </a:rPr>
              <a:t>フレーム組み立て</a:t>
            </a:r>
          </a:p>
        </p:txBody>
      </p:sp>
      <p:sp>
        <p:nvSpPr>
          <p:cNvPr id="35" name="TextBox 34"/>
          <p:cNvSpPr txBox="1"/>
          <p:nvPr/>
        </p:nvSpPr>
        <p:spPr>
          <a:xfrm>
            <a:off x="6812280" y="3172968"/>
            <a:ext cx="3794760" cy="548640"/>
          </a:xfrm>
          <a:prstGeom prst="rect">
            <a:avLst/>
          </a:prstGeom>
          <a:noFill/>
        </p:spPr>
        <p:txBody>
          <a:bodyPr wrap="square" anchor="t" lIns="45720" rIns="45720"/>
          <a:lstStyle/>
          <a:p>
            <a:pPr algn="l">
              <a:spcAft>
                <a:spcPts val="400"/>
              </a:spcAft>
            </a:pPr>
            <a:r>
              <a:rPr sz="1150" b="0" i="0">
                <a:solidFill>
                  <a:srgbClr val="595959"/>
                </a:solidFill>
                <a:latin typeface="MS PGothic"/>
                <a:ea typeface="MS PGothic"/>
                <a:cs typeface="MS PGothic"/>
              </a:rPr>
              <a:t>スタートバイト・ID・ペイロード長・ペイロード・チェックサムの順に結合</a:t>
            </a:r>
          </a:p>
        </p:txBody>
      </p:sp>
      <p:cxnSp>
        <p:nvCxnSpPr>
          <p:cNvPr id="36" name="Connector 35"/>
          <p:cNvCxnSpPr/>
          <p:nvPr/>
        </p:nvCxnSpPr>
        <p:spPr>
          <a:xfrm>
            <a:off x="8366760" y="3749039"/>
            <a:ext cx="0" cy="320041"/>
          </a:xfrm>
          <a:prstGeom prst="line">
            <a:avLst/>
          </a:prstGeom>
          <a:ln w="25400">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035040" y="4069080"/>
            <a:ext cx="4663440" cy="105156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38" name="Oval 37"/>
          <p:cNvSpPr/>
          <p:nvPr/>
        </p:nvSpPr>
        <p:spPr>
          <a:xfrm>
            <a:off x="6217920" y="4361688"/>
            <a:ext cx="457200" cy="457200"/>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3</a:t>
            </a:r>
          </a:p>
        </p:txBody>
      </p:sp>
      <p:sp>
        <p:nvSpPr>
          <p:cNvPr id="39" name="TextBox 38"/>
          <p:cNvSpPr txBox="1"/>
          <p:nvPr/>
        </p:nvSpPr>
        <p:spPr>
          <a:xfrm>
            <a:off x="6812280" y="4160520"/>
            <a:ext cx="3794760" cy="411480"/>
          </a:xfrm>
          <a:prstGeom prst="rect">
            <a:avLst/>
          </a:prstGeom>
          <a:noFill/>
        </p:spPr>
        <p:txBody>
          <a:bodyPr wrap="square" anchor="t" lIns="45720" rIns="45720"/>
          <a:lstStyle/>
          <a:p>
            <a:pPr algn="l">
              <a:spcAft>
                <a:spcPts val="400"/>
              </a:spcAft>
            </a:pPr>
            <a:r>
              <a:rPr sz="1450" b="1" i="0">
                <a:solidFill>
                  <a:srgbClr val="1F1F1F"/>
                </a:solidFill>
                <a:latin typeface="MS PGothic"/>
                <a:ea typeface="MS PGothic"/>
                <a:cs typeface="MS PGothic"/>
              </a:rPr>
              <a:t>IDに対応したポートへ送信</a:t>
            </a:r>
          </a:p>
        </p:txBody>
      </p:sp>
      <p:sp>
        <p:nvSpPr>
          <p:cNvPr id="40" name="TextBox 39"/>
          <p:cNvSpPr txBox="1"/>
          <p:nvPr/>
        </p:nvSpPr>
        <p:spPr>
          <a:xfrm>
            <a:off x="6812280" y="4544568"/>
            <a:ext cx="3794760" cy="548640"/>
          </a:xfrm>
          <a:prstGeom prst="rect">
            <a:avLst/>
          </a:prstGeom>
          <a:noFill/>
        </p:spPr>
        <p:txBody>
          <a:bodyPr wrap="square" anchor="t" lIns="45720" rIns="45720"/>
          <a:lstStyle/>
          <a:p>
            <a:pPr algn="l">
              <a:spcAft>
                <a:spcPts val="400"/>
              </a:spcAft>
            </a:pPr>
            <a:r>
              <a:rPr sz="1150" b="0" i="0">
                <a:solidFill>
                  <a:srgbClr val="595959"/>
                </a:solidFill>
                <a:latin typeface="MS PGothic"/>
                <a:ea typeface="MS PGothic"/>
                <a:cs typeface="MS PGothic"/>
              </a:rPr>
              <a:t>write() で書き込み</a:t>
            </a:r>
          </a:p>
        </p:txBody>
      </p:sp>
      <p:sp>
        <p:nvSpPr>
          <p:cNvPr id="41" name="TextBox 40"/>
          <p:cNvSpPr txBox="1"/>
          <p:nvPr/>
        </p:nvSpPr>
        <p:spPr>
          <a:xfrm>
            <a:off x="6035040" y="5394960"/>
            <a:ext cx="4663440" cy="457200"/>
          </a:xfrm>
          <a:prstGeom prst="rect">
            <a:avLst/>
          </a:prstGeom>
          <a:noFill/>
        </p:spPr>
        <p:txBody>
          <a:bodyPr wrap="square" anchor="t" lIns="45720" rIns="45720"/>
          <a:lstStyle/>
          <a:p>
            <a:pPr algn="l">
              <a:spcAft>
                <a:spcPts val="400"/>
              </a:spcAft>
            </a:pPr>
            <a:r>
              <a:rPr sz="1250" b="0" i="0">
                <a:solidFill>
                  <a:srgbClr val="595959"/>
                </a:solidFill>
                <a:latin typeface="MS PGothic"/>
                <a:ea typeface="MS PGothic"/>
                <a:cs typeface="MS PGothic"/>
              </a:rPr>
              <a:t>受信も同様の流れで </a:t>
            </a:r>
            <a:r>
              <a:rPr sz="1250" b="0" i="0">
                <a:solidFill>
                  <a:srgbClr val="595959"/>
                </a:solidFill>
                <a:latin typeface="MS Gothic"/>
                <a:ea typeface="MS Gothic"/>
                <a:cs typeface="MS Gothic"/>
              </a:rPr>
              <a:t>serial_rx_[ID]</a:t>
            </a:r>
            <a:r>
              <a:rPr sz="1250" b="0" i="0">
                <a:solidFill>
                  <a:srgbClr val="595959"/>
                </a:solidFill>
                <a:latin typeface="MS PGothic"/>
                <a:ea typeface="MS PGothic"/>
                <a:cs typeface="MS PGothic"/>
              </a:rPr>
              <a:t> にPublish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ホットプラグと自動再接続</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17</a:t>
            </a:r>
          </a:p>
        </p:txBody>
      </p:sp>
      <p:sp>
        <p:nvSpPr>
          <p:cNvPr id="4" name="TextBox 3"/>
          <p:cNvSpPr txBox="1"/>
          <p:nvPr/>
        </p:nvSpPr>
        <p:spPr>
          <a:xfrm>
            <a:off x="548640" y="1325880"/>
            <a:ext cx="4937760" cy="457200"/>
          </a:xfrm>
          <a:prstGeom prst="rect">
            <a:avLst/>
          </a:prstGeom>
          <a:noFill/>
        </p:spPr>
        <p:txBody>
          <a:bodyPr wrap="square" anchor="t" lIns="45720" rIns="45720"/>
          <a:lstStyle/>
          <a:p>
            <a:pPr algn="l">
              <a:spcAft>
                <a:spcPts val="400"/>
              </a:spcAft>
            </a:pPr>
            <a:r>
              <a:rPr sz="1700" b="1" i="0">
                <a:solidFill>
                  <a:srgbClr val="1F1F1F"/>
                </a:solidFill>
                <a:latin typeface="MS PGothic"/>
                <a:ea typeface="MS PGothic"/>
                <a:cs typeface="MS PGothic"/>
              </a:rPr>
              <a:t>マイコンを挿したとき</a:t>
            </a:r>
          </a:p>
        </p:txBody>
      </p:sp>
      <p:sp>
        <p:nvSpPr>
          <p:cNvPr id="5" name="Rounded Rectangle 4"/>
          <p:cNvSpPr/>
          <p:nvPr/>
        </p:nvSpPr>
        <p:spPr>
          <a:xfrm>
            <a:off x="548640" y="1874519"/>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6" name="Oval 5"/>
          <p:cNvSpPr/>
          <p:nvPr/>
        </p:nvSpPr>
        <p:spPr>
          <a:xfrm>
            <a:off x="685800" y="2020824"/>
            <a:ext cx="438912" cy="438912"/>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1</a:t>
            </a:r>
          </a:p>
        </p:txBody>
      </p:sp>
      <p:sp>
        <p:nvSpPr>
          <p:cNvPr id="7" name="TextBox 6"/>
          <p:cNvSpPr txBox="1"/>
          <p:nvPr/>
        </p:nvSpPr>
        <p:spPr>
          <a:xfrm>
            <a:off x="1280160" y="1920239"/>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port_scanner が /dev/ttyUSBx で有効なフレームを検出</a:t>
            </a:r>
          </a:p>
        </p:txBody>
      </p:sp>
      <p:cxnSp>
        <p:nvCxnSpPr>
          <p:cNvPr id="8" name="Connector 7"/>
          <p:cNvCxnSpPr/>
          <p:nvPr/>
        </p:nvCxnSpPr>
        <p:spPr>
          <a:xfrm>
            <a:off x="905256" y="2606039"/>
            <a:ext cx="0" cy="22860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40" y="2834639"/>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0" name="Oval 9"/>
          <p:cNvSpPr/>
          <p:nvPr/>
        </p:nvSpPr>
        <p:spPr>
          <a:xfrm>
            <a:off x="685800" y="2980944"/>
            <a:ext cx="438912" cy="438912"/>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2</a:t>
            </a:r>
          </a:p>
        </p:txBody>
      </p:sp>
      <p:sp>
        <p:nvSpPr>
          <p:cNvPr id="11" name="TextBox 10"/>
          <p:cNvSpPr txBox="1"/>
          <p:nvPr/>
        </p:nvSpPr>
        <p:spPr>
          <a:xfrm>
            <a:off x="1280160" y="2880359"/>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bridge_node を生成して executor に追加</a:t>
            </a:r>
          </a:p>
        </p:txBody>
      </p:sp>
      <p:cxnSp>
        <p:nvCxnSpPr>
          <p:cNvPr id="12" name="Connector 11"/>
          <p:cNvCxnSpPr/>
          <p:nvPr/>
        </p:nvCxnSpPr>
        <p:spPr>
          <a:xfrm>
            <a:off x="905256" y="3566159"/>
            <a:ext cx="0" cy="22860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794760"/>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4" name="Oval 13"/>
          <p:cNvSpPr/>
          <p:nvPr/>
        </p:nvSpPr>
        <p:spPr>
          <a:xfrm>
            <a:off x="685800" y="3941064"/>
            <a:ext cx="438912" cy="438912"/>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3</a:t>
            </a:r>
          </a:p>
        </p:txBody>
      </p:sp>
      <p:sp>
        <p:nvSpPr>
          <p:cNvPr id="15" name="TextBox 14"/>
          <p:cNvSpPr txBox="1"/>
          <p:nvPr/>
        </p:nvSpPr>
        <p:spPr>
          <a:xfrm>
            <a:off x="1280160" y="3840480"/>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serial_rx_[ID] / serial_tx_[ID] が有効に</a:t>
            </a:r>
          </a:p>
        </p:txBody>
      </p:sp>
      <p:sp>
        <p:nvSpPr>
          <p:cNvPr id="16" name="TextBox 15"/>
          <p:cNvSpPr txBox="1"/>
          <p:nvPr/>
        </p:nvSpPr>
        <p:spPr>
          <a:xfrm>
            <a:off x="5715000" y="1325880"/>
            <a:ext cx="4937760" cy="457200"/>
          </a:xfrm>
          <a:prstGeom prst="rect">
            <a:avLst/>
          </a:prstGeom>
          <a:noFill/>
        </p:spPr>
        <p:txBody>
          <a:bodyPr wrap="square" anchor="t" lIns="45720" rIns="45720"/>
          <a:lstStyle/>
          <a:p>
            <a:pPr algn="l">
              <a:spcAft>
                <a:spcPts val="400"/>
              </a:spcAft>
            </a:pPr>
            <a:r>
              <a:rPr sz="1700" b="1" i="0">
                <a:solidFill>
                  <a:srgbClr val="CB1C14"/>
                </a:solidFill>
                <a:latin typeface="MS PGothic"/>
                <a:ea typeface="MS PGothic"/>
                <a:cs typeface="MS PGothic"/>
              </a:rPr>
              <a:t>抜けた・タイムアウトしたとき</a:t>
            </a:r>
          </a:p>
        </p:txBody>
      </p:sp>
      <p:sp>
        <p:nvSpPr>
          <p:cNvPr id="17" name="Rounded Rectangle 16"/>
          <p:cNvSpPr/>
          <p:nvPr/>
        </p:nvSpPr>
        <p:spPr>
          <a:xfrm>
            <a:off x="5715000" y="1874519"/>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8" name="Oval 17"/>
          <p:cNvSpPr/>
          <p:nvPr/>
        </p:nvSpPr>
        <p:spPr>
          <a:xfrm>
            <a:off x="5852160" y="202082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1</a:t>
            </a:r>
          </a:p>
        </p:txBody>
      </p:sp>
      <p:sp>
        <p:nvSpPr>
          <p:cNvPr id="19" name="TextBox 18"/>
          <p:cNvSpPr txBox="1"/>
          <p:nvPr/>
        </p:nvSpPr>
        <p:spPr>
          <a:xfrm>
            <a:off x="6446520" y="1920239"/>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EIO / ENODEV / ENXIO、または rx_timeout_sec 経過を検出</a:t>
            </a:r>
          </a:p>
        </p:txBody>
      </p:sp>
      <p:cxnSp>
        <p:nvCxnSpPr>
          <p:cNvPr id="20" name="Connector 19"/>
          <p:cNvCxnSpPr/>
          <p:nvPr/>
        </p:nvCxnSpPr>
        <p:spPr>
          <a:xfrm>
            <a:off x="6071616" y="2606039"/>
            <a:ext cx="0" cy="228600"/>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715000" y="2834639"/>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2" name="Oval 21"/>
          <p:cNvSpPr/>
          <p:nvPr/>
        </p:nvSpPr>
        <p:spPr>
          <a:xfrm>
            <a:off x="5852160" y="298094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2</a:t>
            </a:r>
          </a:p>
        </p:txBody>
      </p:sp>
      <p:sp>
        <p:nvSpPr>
          <p:cNvPr id="23" name="TextBox 22"/>
          <p:cNvSpPr txBox="1"/>
          <p:nvPr/>
        </p:nvSpPr>
        <p:spPr>
          <a:xfrm>
            <a:off x="6446520" y="2880359"/>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ポートを閉じ、reconnect_interval_sec ごとに再オープンを試行</a:t>
            </a:r>
          </a:p>
        </p:txBody>
      </p:sp>
      <p:cxnSp>
        <p:nvCxnSpPr>
          <p:cNvPr id="24" name="Connector 23"/>
          <p:cNvCxnSpPr/>
          <p:nvPr/>
        </p:nvCxnSpPr>
        <p:spPr>
          <a:xfrm>
            <a:off x="6071616" y="3566159"/>
            <a:ext cx="0" cy="228600"/>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715000" y="3794760"/>
            <a:ext cx="4937760" cy="73152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6" name="Oval 25"/>
          <p:cNvSpPr/>
          <p:nvPr/>
        </p:nvSpPr>
        <p:spPr>
          <a:xfrm>
            <a:off x="5852160" y="3941064"/>
            <a:ext cx="438912" cy="438912"/>
          </a:xfrm>
          <a:prstGeom prst="ellipse">
            <a:avLst/>
          </a:prstGeom>
          <a:solidFill>
            <a:srgbClr val="CB1C1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spcAft>
                <a:spcPts val="0"/>
              </a:spcAft>
            </a:pPr>
            <a:r>
              <a:rPr sz="1400" b="1" i="0">
                <a:solidFill>
                  <a:srgbClr val="FFFFFF"/>
                </a:solidFill>
                <a:latin typeface="MS PGothic"/>
                <a:ea typeface="MS PGothic"/>
                <a:cs typeface="MS PGothic"/>
              </a:rPr>
              <a:t>3</a:t>
            </a:r>
          </a:p>
        </p:txBody>
      </p:sp>
      <p:sp>
        <p:nvSpPr>
          <p:cNvPr id="27" name="TextBox 26"/>
          <p:cNvSpPr txBox="1"/>
          <p:nvPr/>
        </p:nvSpPr>
        <p:spPr>
          <a:xfrm>
            <a:off x="6446520" y="3840480"/>
            <a:ext cx="4114800" cy="640080"/>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別のポートで見つかったらノードを差し替え</a:t>
            </a:r>
          </a:p>
        </p:txBody>
      </p:sp>
      <p:sp>
        <p:nvSpPr>
          <p:cNvPr id="28" name="Rounded Rectangle 27"/>
          <p:cNvSpPr/>
          <p:nvPr/>
        </p:nvSpPr>
        <p:spPr>
          <a:xfrm>
            <a:off x="548640" y="4892040"/>
            <a:ext cx="10104120" cy="868680"/>
          </a:xfrm>
          <a:prstGeom prst="roundRect">
            <a:avLst>
              <a:gd name="adj" fmla="val 12000"/>
            </a:avLst>
          </a:prstGeom>
          <a:solidFill>
            <a:srgbClr val="F9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29" name="TextBox 28"/>
          <p:cNvSpPr txBox="1"/>
          <p:nvPr/>
        </p:nvSpPr>
        <p:spPr>
          <a:xfrm>
            <a:off x="777240" y="4937760"/>
            <a:ext cx="9692640" cy="777240"/>
          </a:xfrm>
          <a:prstGeom prst="rect">
            <a:avLst/>
          </a:prstGeom>
          <a:noFill/>
        </p:spPr>
        <p:txBody>
          <a:bodyPr wrap="square" anchor="ctr" lIns="45720" rIns="45720"/>
          <a:lstStyle/>
          <a:p>
            <a:pPr algn="l">
              <a:spcAft>
                <a:spcPts val="400"/>
              </a:spcAft>
            </a:pPr>
            <a:r>
              <a:rPr sz="1400" b="1" i="0">
                <a:solidFill>
                  <a:srgbClr val="CB1C14"/>
                </a:solidFill>
                <a:latin typeface="MS PGothic"/>
                <a:ea typeface="MS PGothic"/>
                <a:cs typeface="MS PGothic"/>
              </a:rPr>
              <a:t>Tips：</a:t>
            </a:r>
            <a:r>
              <a:rPr sz="1400" b="0" i="0">
                <a:solidFill>
                  <a:srgbClr val="1F1F1F"/>
                </a:solidFill>
                <a:latin typeface="MS PGothic"/>
                <a:ea typeface="MS PGothic"/>
                <a:cs typeface="MS PGothic"/>
              </a:rPr>
              <a:t>識別はIDで行うので、別のUSBポートに挿し直しても同じ serial_rx_[ID] / serial_tx_[ID] で通信できます。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マイコン側の構成（ESP32 / FreeRTOS）</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18</a:t>
            </a:r>
          </a:p>
        </p:txBody>
      </p:sp>
      <p:sp>
        <p:nvSpPr>
          <p:cNvPr id="4" name="Rounded Rectangle 3"/>
          <p:cNvSpPr/>
          <p:nvPr/>
        </p:nvSpPr>
        <p:spPr>
          <a:xfrm>
            <a:off x="548640" y="1417320"/>
            <a:ext cx="2011680" cy="2651760"/>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800" b="1" i="0">
                <a:solidFill>
                  <a:srgbClr val="FFFFFF"/>
                </a:solidFill>
                <a:latin typeface="MS PGothic"/>
                <a:ea typeface="MS PGothic"/>
                <a:cs typeface="MS PGothic"/>
              </a:rPr>
              <a:t>PC</a:t>
            </a:r>
          </a:p>
          <a:p>
            <a:pPr algn="ctr">
              <a:spcAft>
                <a:spcPts val="0"/>
              </a:spcAft>
            </a:pPr>
            <a:r>
              <a:rPr sz="1200" b="0" i="0">
                <a:solidFill>
                  <a:srgbClr val="FFFFFF"/>
                </a:solidFill>
                <a:latin typeface="MS PGothic"/>
                <a:ea typeface="MS PGothic"/>
                <a:cs typeface="MS PGothic"/>
              </a:rPr>
              <a:t>serial_bridge</a:t>
            </a:r>
          </a:p>
        </p:txBody>
      </p:sp>
      <p:cxnSp>
        <p:nvCxnSpPr>
          <p:cNvPr id="5" name="Connector 4"/>
          <p:cNvCxnSpPr/>
          <p:nvPr/>
        </p:nvCxnSpPr>
        <p:spPr>
          <a:xfrm>
            <a:off x="2560320" y="2743200"/>
            <a:ext cx="731520" cy="0"/>
          </a:xfrm>
          <a:prstGeom prst="line">
            <a:avLst/>
          </a:prstGeom>
          <a:ln w="31750">
            <a:solidFill>
              <a:srgbClr val="1F1F1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514600" y="2286000"/>
            <a:ext cx="822960" cy="365760"/>
          </a:xfrm>
          <a:prstGeom prst="rect">
            <a:avLst/>
          </a:prstGeom>
          <a:noFill/>
        </p:spPr>
        <p:txBody>
          <a:bodyPr wrap="square" anchor="t" lIns="45720" rIns="45720"/>
          <a:lstStyle/>
          <a:p>
            <a:pPr algn="ctr">
              <a:spcAft>
                <a:spcPts val="400"/>
              </a:spcAft>
            </a:pPr>
            <a:r>
              <a:rPr sz="1100" b="0" i="0">
                <a:solidFill>
                  <a:srgbClr val="595959"/>
                </a:solidFill>
                <a:latin typeface="MS PGothic"/>
                <a:ea typeface="MS PGothic"/>
                <a:cs typeface="MS PGothic"/>
              </a:rPr>
              <a:t>USB</a:t>
            </a:r>
          </a:p>
        </p:txBody>
      </p:sp>
      <p:sp>
        <p:nvSpPr>
          <p:cNvPr id="7" name="Rounded Rectangle 6"/>
          <p:cNvSpPr/>
          <p:nvPr/>
        </p:nvSpPr>
        <p:spPr>
          <a:xfrm>
            <a:off x="3291840" y="1417320"/>
            <a:ext cx="2743200" cy="2651760"/>
          </a:xfrm>
          <a:prstGeom prst="roundRect">
            <a:avLst>
              <a:gd name="adj" fmla="val 12000"/>
            </a:avLst>
          </a:prstGeom>
          <a:solidFill>
            <a:srgbClr val="F9E3E1"/>
          </a:solidFill>
          <a:ln w="12700">
            <a:solidFill>
              <a:srgbClr val="CB1C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8" name="TextBox 7"/>
          <p:cNvSpPr txBox="1"/>
          <p:nvPr/>
        </p:nvSpPr>
        <p:spPr>
          <a:xfrm>
            <a:off x="3429000" y="1508760"/>
            <a:ext cx="2468880" cy="411480"/>
          </a:xfrm>
          <a:prstGeom prst="rect">
            <a:avLst/>
          </a:prstGeom>
          <a:noFill/>
        </p:spPr>
        <p:txBody>
          <a:bodyPr wrap="square" anchor="t" lIns="45720" rIns="45720"/>
          <a:lstStyle/>
          <a:p>
            <a:pPr algn="l">
              <a:spcAft>
                <a:spcPts val="400"/>
              </a:spcAft>
            </a:pPr>
            <a:r>
              <a:rPr sz="1500" b="1" i="0">
                <a:solidFill>
                  <a:srgbClr val="CB1C14"/>
                </a:solidFill>
                <a:latin typeface="MS Gothic"/>
                <a:ea typeface="MS Gothic"/>
                <a:cs typeface="MS Gothic"/>
              </a:rPr>
              <a:t>serialTask</a:t>
            </a:r>
          </a:p>
        </p:txBody>
      </p:sp>
      <p:sp>
        <p:nvSpPr>
          <p:cNvPr id="9" name="TextBox 8"/>
          <p:cNvSpPr txBox="1"/>
          <p:nvPr/>
        </p:nvSpPr>
        <p:spPr>
          <a:xfrm>
            <a:off x="3429000" y="1965960"/>
            <a:ext cx="2514600" cy="2011680"/>
          </a:xfrm>
          <a:prstGeom prst="rect">
            <a:avLst/>
          </a:prstGeom>
          <a:noFill/>
        </p:spPr>
        <p:txBody>
          <a:bodyPr wrap="square" anchor="t" lIns="45720" rIns="45720"/>
          <a:lstStyle/>
          <a:p>
            <a:pPr algn="l" marL="201168" indent="-201168">
              <a:spcAft>
                <a:spcPts val="200"/>
              </a:spcAft>
              <a:buClr>
                <a:srgbClr val="CB1C14"/>
              </a:buClr>
              <a:buFont typeface="Arial"/>
              <a:buChar char="•"/>
            </a:pPr>
            <a:r>
              <a:rPr sz="1200" b="0" i="0">
                <a:solidFill>
                  <a:srgbClr val="1F1F1F"/>
                </a:solidFill>
                <a:latin typeface="MS PGothic"/>
                <a:ea typeface="MS PGothic"/>
                <a:cs typeface="MS PGothic"/>
              </a:rPr>
              <a:t>RX：1バイトずつ解析</a:t>
            </a:r>
          </a:p>
          <a:p>
            <a:pPr algn="l">
              <a:spcAft>
                <a:spcPts val="1000"/>
              </a:spcAft>
            </a:pPr>
            <a:r>
              <a:rPr sz="1000" b="0" i="0">
                <a:solidFill>
                  <a:srgbClr val="595959"/>
                </a:solidFill>
                <a:latin typeface="MS Gothic"/>
                <a:ea typeface="MS Gothic"/>
                <a:cs typeface="MS Gothic"/>
              </a:rPr>
              <a:t>START→ID→LEN→DATA→CHK</a:t>
            </a:r>
          </a:p>
          <a:p>
            <a:pPr algn="l" marL="201168" indent="-201168">
              <a:spcAft>
                <a:spcPts val="200"/>
              </a:spcAft>
              <a:buClr>
                <a:srgbClr val="CB1C14"/>
              </a:buClr>
              <a:buFont typeface="Arial"/>
              <a:buChar char="•"/>
            </a:pPr>
            <a:r>
              <a:rPr sz="1200" b="0" i="0">
                <a:solidFill>
                  <a:srgbClr val="1F1F1F"/>
                </a:solidFill>
                <a:latin typeface="MS PGothic"/>
                <a:ea typeface="MS PGothic"/>
                <a:cs typeface="MS PGothic"/>
              </a:rPr>
              <a:t>TX：100ms周期で送信</a:t>
            </a:r>
          </a:p>
          <a:p>
            <a:pPr algn="l">
              <a:spcAft>
                <a:spcPts val="200"/>
              </a:spcAft>
            </a:pPr>
            <a:r>
              <a:rPr sz="1050" b="0" i="0">
                <a:solidFill>
                  <a:srgbClr val="595959"/>
                </a:solidFill>
                <a:latin typeface="MS PGothic"/>
                <a:ea typeface="MS PGothic"/>
                <a:cs typeface="MS PGothic"/>
              </a:rPr>
              <a:t>入力系モードは20ms</a:t>
            </a:r>
          </a:p>
        </p:txBody>
      </p:sp>
      <p:sp>
        <p:nvSpPr>
          <p:cNvPr id="10" name="Rounded Rectangle 9"/>
          <p:cNvSpPr/>
          <p:nvPr/>
        </p:nvSpPr>
        <p:spPr>
          <a:xfrm>
            <a:off x="6492240" y="1417320"/>
            <a:ext cx="1554480" cy="1097280"/>
          </a:xfrm>
          <a:prstGeom prst="roundRect">
            <a:avLst>
              <a:gd name="adj" fmla="val 12000"/>
            </a:avLst>
          </a:prstGeom>
          <a:solidFill>
            <a:srgbClr val="FFFFFF"/>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1" i="0">
                <a:solidFill>
                  <a:srgbClr val="1F1F1F"/>
                </a:solidFill>
                <a:latin typeface="MS Gothic"/>
                <a:ea typeface="MS Gothic"/>
                <a:cs typeface="MS Gothic"/>
              </a:rPr>
              <a:t>Rx_16Data[]</a:t>
            </a:r>
          </a:p>
          <a:p>
            <a:pPr algn="ctr">
              <a:spcAft>
                <a:spcPts val="0"/>
              </a:spcAft>
            </a:pPr>
            <a:r>
              <a:rPr sz="1000" b="0" i="0">
                <a:solidFill>
                  <a:srgbClr val="595959"/>
                </a:solidFill>
                <a:latin typeface="MS PGothic"/>
                <a:ea typeface="MS PGothic"/>
                <a:cs typeface="MS PGothic"/>
              </a:rPr>
              <a:t>PC→マイコン</a:t>
            </a:r>
          </a:p>
        </p:txBody>
      </p:sp>
      <p:sp>
        <p:nvSpPr>
          <p:cNvPr id="11" name="Rounded Rectangle 10"/>
          <p:cNvSpPr/>
          <p:nvPr/>
        </p:nvSpPr>
        <p:spPr>
          <a:xfrm>
            <a:off x="6492240" y="2971800"/>
            <a:ext cx="1554480" cy="1097280"/>
          </a:xfrm>
          <a:prstGeom prst="roundRect">
            <a:avLst>
              <a:gd name="adj" fmla="val 12000"/>
            </a:avLst>
          </a:prstGeom>
          <a:solidFill>
            <a:srgbClr val="FFFFFF"/>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100" b="1" i="0">
                <a:solidFill>
                  <a:srgbClr val="1F1F1F"/>
                </a:solidFill>
                <a:latin typeface="MS Gothic"/>
                <a:ea typeface="MS Gothic"/>
                <a:cs typeface="MS Gothic"/>
              </a:rPr>
              <a:t>Tx_16Data[]</a:t>
            </a:r>
          </a:p>
          <a:p>
            <a:pPr algn="ctr">
              <a:spcAft>
                <a:spcPts val="0"/>
              </a:spcAft>
            </a:pPr>
            <a:r>
              <a:rPr sz="1000" b="0" i="0">
                <a:solidFill>
                  <a:srgbClr val="595959"/>
                </a:solidFill>
                <a:latin typeface="MS PGothic"/>
                <a:ea typeface="MS PGothic"/>
                <a:cs typeface="MS PGothic"/>
              </a:rPr>
              <a:t>マイコン→PC</a:t>
            </a:r>
          </a:p>
        </p:txBody>
      </p:sp>
      <p:cxnSp>
        <p:nvCxnSpPr>
          <p:cNvPr id="12" name="Connector 11"/>
          <p:cNvCxnSpPr/>
          <p:nvPr/>
        </p:nvCxnSpPr>
        <p:spPr>
          <a:xfrm>
            <a:off x="6035040" y="1965960"/>
            <a:ext cx="457200" cy="0"/>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6035040" y="3520440"/>
            <a:ext cx="457200" cy="0"/>
          </a:xfrm>
          <a:prstGeom prst="line">
            <a:avLst/>
          </a:prstGeom>
          <a:ln w="22225">
            <a:solidFill>
              <a:srgbClr val="CB1C1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503920" y="1417320"/>
            <a:ext cx="219456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1" i="0">
                <a:solidFill>
                  <a:srgbClr val="1F1F1F"/>
                </a:solidFill>
                <a:latin typeface="MS Gothic"/>
                <a:ea typeface="MS Gothic"/>
                <a:cs typeface="MS Gothic"/>
              </a:rPr>
              <a:t>Output_Task</a:t>
            </a:r>
          </a:p>
          <a:p>
            <a:pPr algn="ctr">
              <a:spcAft>
                <a:spcPts val="0"/>
              </a:spcAft>
            </a:pPr>
            <a:r>
              <a:rPr sz="1000" b="0" i="0">
                <a:solidFill>
                  <a:srgbClr val="595959"/>
                </a:solidFill>
                <a:latin typeface="MS PGothic"/>
                <a:ea typeface="MS PGothic"/>
                <a:cs typeface="MS PGothic"/>
              </a:rPr>
              <a:t>5ms：MD / サーボ / TR</a:t>
            </a:r>
          </a:p>
        </p:txBody>
      </p:sp>
      <p:sp>
        <p:nvSpPr>
          <p:cNvPr id="15" name="Rounded Rectangle 14"/>
          <p:cNvSpPr/>
          <p:nvPr/>
        </p:nvSpPr>
        <p:spPr>
          <a:xfrm>
            <a:off x="8503920" y="2971800"/>
            <a:ext cx="2194560" cy="1097280"/>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spcAft>
                <a:spcPts val="0"/>
              </a:spcAft>
            </a:pPr>
            <a:r>
              <a:rPr sz="1200" b="1" i="0">
                <a:solidFill>
                  <a:srgbClr val="1F1F1F"/>
                </a:solidFill>
                <a:latin typeface="MS Gothic"/>
                <a:ea typeface="MS Gothic"/>
                <a:cs typeface="MS Gothic"/>
              </a:rPr>
              <a:t>Input_Task</a:t>
            </a:r>
          </a:p>
          <a:p>
            <a:pPr algn="ctr">
              <a:spcAft>
                <a:spcPts val="0"/>
              </a:spcAft>
            </a:pPr>
            <a:r>
              <a:rPr sz="1000" b="0" i="0">
                <a:solidFill>
                  <a:srgbClr val="595959"/>
                </a:solidFill>
                <a:latin typeface="MS PGothic"/>
                <a:ea typeface="MS PGothic"/>
                <a:cs typeface="MS PGothic"/>
              </a:rPr>
              <a:t>5ms：ENC / SW</a:t>
            </a:r>
          </a:p>
        </p:txBody>
      </p:sp>
      <p:cxnSp>
        <p:nvCxnSpPr>
          <p:cNvPr id="16" name="Connector 15"/>
          <p:cNvCxnSpPr/>
          <p:nvPr/>
        </p:nvCxnSpPr>
        <p:spPr>
          <a:xfrm>
            <a:off x="8046720" y="1965960"/>
            <a:ext cx="45720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8046720" y="3520440"/>
            <a:ext cx="457200" cy="0"/>
          </a:xfrm>
          <a:prstGeom prst="line">
            <a:avLst/>
          </a:prstGeom>
          <a:ln w="22225">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4343400"/>
            <a:ext cx="10149840" cy="1463040"/>
          </a:xfrm>
          <a:prstGeom prst="rect">
            <a:avLst/>
          </a:prstGeom>
          <a:noFill/>
        </p:spPr>
        <p:txBody>
          <a:bodyPr wrap="square" anchor="t" lIns="45720" rIns="45720"/>
          <a:lstStyle/>
          <a:p>
            <a:pPr algn="l" marL="201168" indent="-201168">
              <a:spcAft>
                <a:spcPts val="600"/>
              </a:spcAft>
              <a:buClr>
                <a:srgbClr val="CB1C14"/>
              </a:buClr>
              <a:buFont typeface="Arial"/>
              <a:buChar char="•"/>
            </a:pPr>
            <a:r>
              <a:rPr sz="1300" b="0" i="0">
                <a:solidFill>
                  <a:srgbClr val="1F1F1F"/>
                </a:solidFill>
                <a:latin typeface="MS PGothic"/>
                <a:ea typeface="MS PGothic"/>
                <a:cs typeface="MS PGothic"/>
              </a:rPr>
              <a:t>setup() で serialTask と MODE に応じた制御タスクを生成。loop() は何もしない（実処理は全てFreeRTOSタスク）</a:t>
            </a:r>
          </a:p>
          <a:p>
            <a:pPr algn="l" marL="201168" indent="-201168">
              <a:spcAft>
                <a:spcPts val="600"/>
              </a:spcAft>
              <a:buClr>
                <a:srgbClr val="CB1C14"/>
              </a:buClr>
              <a:buFont typeface="Arial"/>
              <a:buChar char="•"/>
            </a:pPr>
            <a:r>
              <a:rPr sz="1300" b="0" i="0">
                <a:solidFill>
                  <a:srgbClr val="1F1F1F"/>
                </a:solidFill>
                <a:latin typeface="MS PGothic"/>
                <a:ea typeface="MS PGothic"/>
                <a:cs typeface="MS PGothic"/>
              </a:rPr>
              <a:t>起動時に DEVICE_ID の回数だけLEDが点滅 → 目視でIDを確認できる</a:t>
            </a:r>
          </a:p>
          <a:p>
            <a:pPr algn="l" marL="201168" indent="-201168">
              <a:spcAft>
                <a:spcPts val="600"/>
              </a:spcAft>
              <a:buClr>
                <a:srgbClr val="CB1C14"/>
              </a:buClr>
              <a:buFont typeface="Arial"/>
              <a:buChar char="•"/>
            </a:pPr>
            <a:r>
              <a:rPr sz="1300" b="0" i="0">
                <a:solidFill>
                  <a:srgbClr val="1F1F1F"/>
                </a:solidFill>
                <a:latin typeface="MS PGothic"/>
                <a:ea typeface="MS PGothic"/>
                <a:cs typeface="MS PGothic"/>
              </a:rPr>
              <a:t>通信と入出力が共有配列を介して疎結合 → 通信部分だけを他マイコンへ移植しやすい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ファームウェアのMODE（ESP32版）</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19</a:t>
            </a:r>
          </a:p>
        </p:txBody>
      </p:sp>
      <p:graphicFrame>
        <p:nvGraphicFramePr>
          <p:cNvPr id="4" name="Table 3"/>
          <p:cNvGraphicFramePr>
            <a:graphicFrameLocks noGrp="1"/>
          </p:cNvGraphicFramePr>
          <p:nvPr/>
        </p:nvGraphicFramePr>
        <p:xfrm>
          <a:off x="548640" y="1371600"/>
          <a:ext cx="10149840" cy="3364992"/>
        </p:xfrm>
        <a:graphic>
          <a:graphicData uri="http://schemas.openxmlformats.org/drawingml/2006/table">
            <a:tbl>
              <a:tblPr firstRow="0" bandRow="0">
                <a:tableStyleId>{5C22544A-7EE6-4342-B048-85BDC9FD1C3A}</a:tableStyleId>
              </a:tblPr>
              <a:tblGrid>
                <a:gridCol w="3017520"/>
                <a:gridCol w="2194560"/>
                <a:gridCol w="1097280"/>
                <a:gridCol w="731520"/>
                <a:gridCol w="640080"/>
                <a:gridCol w="914400"/>
                <a:gridCol w="731520"/>
                <a:gridCol w="822960"/>
              </a:tblGrid>
              <a:tr h="420624">
                <a:tc>
                  <a:txBody>
                    <a:bodyPr wrap="square"/>
                    <a:lstStyle/>
                    <a:p>
                      <a:pPr algn="ctr">
                        <a:spcAft>
                          <a:spcPts val="0"/>
                        </a:spcAft>
                      </a:pPr>
                      <a:r>
                        <a:rPr sz="1250" b="1" i="0">
                          <a:solidFill>
                            <a:srgbClr val="FFFFFF"/>
                          </a:solidFill>
                          <a:latin typeface="MS PGothic"/>
                          <a:ea typeface="MS PGothic"/>
                          <a:cs typeface="MS PGothic"/>
                        </a:rPr>
                        <a:t>MODE</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用途</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DCモータ</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サーボ</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TR</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ロボマス</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ENC</a:t>
                      </a:r>
                    </a:p>
                  </a:txBody>
                  <a:tcPr marL="73152" marR="73152" marT="27432" marB="27432" anchor="ctr">
                    <a:solidFill>
                      <a:srgbClr val="1F1F1F"/>
                    </a:solidFill>
                  </a:tcPr>
                </a:tc>
                <a:tc>
                  <a:txBody>
                    <a:bodyPr wrap="square"/>
                    <a:lstStyle/>
                    <a:p>
                      <a:pPr algn="ctr">
                        <a:spcAft>
                          <a:spcPts val="0"/>
                        </a:spcAft>
                      </a:pPr>
                      <a:r>
                        <a:rPr sz="1250" b="1" i="0">
                          <a:solidFill>
                            <a:srgbClr val="FFFFFF"/>
                          </a:solidFill>
                          <a:latin typeface="MS PGothic"/>
                          <a:ea typeface="MS PGothic"/>
                          <a:cs typeface="MS PGothic"/>
                        </a:rPr>
                        <a:t>SW</a:t>
                      </a:r>
                    </a:p>
                  </a:txBody>
                  <a:tcPr marL="73152" marR="73152" marT="27432" marB="27432" anchor="ctr">
                    <a:solidFill>
                      <a:srgbClr val="1F1F1F"/>
                    </a:solidFill>
                  </a:tcPr>
                </a:tc>
              </a:tr>
              <a:tr h="420624">
                <a:tc>
                  <a:txBody>
                    <a:bodyPr wrap="square"/>
                    <a:lstStyle/>
                    <a:p>
                      <a:pPr algn="l">
                        <a:spcAft>
                          <a:spcPts val="0"/>
                        </a:spcAft>
                      </a:pPr>
                      <a:r>
                        <a:rPr sz="1250" b="0" i="0">
                          <a:solidFill>
                            <a:srgbClr val="1F1F1F"/>
                          </a:solidFill>
                          <a:latin typeface="MS Gothic"/>
                          <a:ea typeface="MS Gothic"/>
                          <a:cs typeface="MS Gothic"/>
                        </a:rPr>
                        <a:t>MODE_OUTPUT</a:t>
                      </a:r>
                    </a:p>
                  </a:txBody>
                  <a:tcPr marL="73152" marR="73152" marT="27432" marB="27432" anchor="ctr">
                    <a:solidFill>
                      <a:srgbClr val="FFFFFF"/>
                    </a:solidFill>
                  </a:tcPr>
                </a:tc>
                <a:tc>
                  <a:txBody>
                    <a:bodyPr wrap="square"/>
                    <a:lstStyle/>
                    <a:p>
                      <a:pPr algn="l">
                        <a:spcAft>
                          <a:spcPts val="0"/>
                        </a:spcAft>
                      </a:pPr>
                      <a:r>
                        <a:rPr sz="1250" b="0" i="0">
                          <a:solidFill>
                            <a:srgbClr val="1F1F1F"/>
                          </a:solidFill>
                          <a:latin typeface="MS PGothic"/>
                          <a:ea typeface="MS PGothic"/>
                          <a:cs typeface="MS PGothic"/>
                        </a:rPr>
                        <a:t>出力のみ</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5</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r>
              <a:tr h="420624">
                <a:tc>
                  <a:txBody>
                    <a:bodyPr wrap="square"/>
                    <a:lstStyle/>
                    <a:p>
                      <a:pPr algn="l">
                        <a:spcAft>
                          <a:spcPts val="0"/>
                        </a:spcAft>
                      </a:pPr>
                      <a:r>
                        <a:rPr sz="1250" b="0" i="0">
                          <a:solidFill>
                            <a:srgbClr val="1F1F1F"/>
                          </a:solidFill>
                          <a:latin typeface="MS Gothic"/>
                          <a:ea typeface="MS Gothic"/>
                          <a:cs typeface="MS Gothic"/>
                        </a:rPr>
                        <a:t>MODE_INPUT</a:t>
                      </a:r>
                    </a:p>
                  </a:txBody>
                  <a:tcPr marL="73152" marR="73152" marT="27432" marB="27432" anchor="ctr">
                    <a:solidFill>
                      <a:srgbClr val="F2F2F2"/>
                    </a:solidFill>
                  </a:tcPr>
                </a:tc>
                <a:tc>
                  <a:txBody>
                    <a:bodyPr wrap="square"/>
                    <a:lstStyle/>
                    <a:p>
                      <a:pPr algn="l">
                        <a:spcAft>
                          <a:spcPts val="0"/>
                        </a:spcAft>
                      </a:pPr>
                      <a:r>
                        <a:rPr sz="1250" b="0" i="0">
                          <a:solidFill>
                            <a:srgbClr val="1F1F1F"/>
                          </a:solidFill>
                          <a:latin typeface="MS PGothic"/>
                          <a:ea typeface="MS PGothic"/>
                          <a:cs typeface="MS PGothic"/>
                        </a:rPr>
                        <a:t>入力のみ</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8</a:t>
                      </a:r>
                    </a:p>
                  </a:txBody>
                  <a:tcPr marL="73152" marR="73152" marT="27432" marB="27432" anchor="ctr">
                    <a:solidFill>
                      <a:srgbClr val="F2F2F2"/>
                    </a:solidFill>
                  </a:tcPr>
                </a:tc>
              </a:tr>
              <a:tr h="420624">
                <a:tc>
                  <a:txBody>
                    <a:bodyPr wrap="square"/>
                    <a:lstStyle/>
                    <a:p>
                      <a:pPr algn="l">
                        <a:spcAft>
                          <a:spcPts val="0"/>
                        </a:spcAft>
                      </a:pPr>
                      <a:r>
                        <a:rPr sz="1250" b="0" i="0">
                          <a:solidFill>
                            <a:srgbClr val="1F1F1F"/>
                          </a:solidFill>
                          <a:latin typeface="MS Gothic"/>
                          <a:ea typeface="MS Gothic"/>
                          <a:cs typeface="MS Gothic"/>
                        </a:rPr>
                        <a:t>MODE_IO</a:t>
                      </a:r>
                    </a:p>
                  </a:txBody>
                  <a:tcPr marL="73152" marR="73152" marT="27432" marB="27432" anchor="ctr">
                    <a:solidFill>
                      <a:srgbClr val="FFFFFF"/>
                    </a:solidFill>
                  </a:tcPr>
                </a:tc>
                <a:tc>
                  <a:txBody>
                    <a:bodyPr wrap="square"/>
                    <a:lstStyle/>
                    <a:p>
                      <a:pPr algn="l">
                        <a:spcAft>
                          <a:spcPts val="0"/>
                        </a:spcAft>
                      </a:pPr>
                      <a:r>
                        <a:rPr sz="1250" b="0" i="0">
                          <a:solidFill>
                            <a:srgbClr val="1F1F1F"/>
                          </a:solidFill>
                          <a:latin typeface="MS PGothic"/>
                          <a:ea typeface="MS PGothic"/>
                          <a:cs typeface="MS PGothic"/>
                        </a:rPr>
                        <a:t>入出力混在</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2</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5</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2</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r>
              <a:tr h="420624">
                <a:tc>
                  <a:txBody>
                    <a:bodyPr wrap="square"/>
                    <a:lstStyle/>
                    <a:p>
                      <a:pPr algn="l">
                        <a:spcAft>
                          <a:spcPts val="0"/>
                        </a:spcAft>
                      </a:pPr>
                      <a:r>
                        <a:rPr sz="1250" b="0" i="0">
                          <a:solidFill>
                            <a:srgbClr val="1F1F1F"/>
                          </a:solidFill>
                          <a:latin typeface="MS Gothic"/>
                          <a:ea typeface="MS Gothic"/>
                          <a:cs typeface="MS Gothic"/>
                        </a:rPr>
                        <a:t>MODE_ROBOMAS</a:t>
                      </a:r>
                    </a:p>
                  </a:txBody>
                  <a:tcPr marL="73152" marR="73152" marT="27432" marB="27432" anchor="ctr">
                    <a:solidFill>
                      <a:srgbClr val="F2F2F2"/>
                    </a:solidFill>
                  </a:tcPr>
                </a:tc>
                <a:tc>
                  <a:txBody>
                    <a:bodyPr wrap="square"/>
                    <a:lstStyle/>
                    <a:p>
                      <a:pPr algn="l">
                        <a:spcAft>
                          <a:spcPts val="0"/>
                        </a:spcAft>
                      </a:pPr>
                      <a:r>
                        <a:rPr sz="1250" b="0" i="0">
                          <a:solidFill>
                            <a:srgbClr val="1F1F1F"/>
                          </a:solidFill>
                          <a:latin typeface="MS PGothic"/>
                          <a:ea typeface="MS PGothic"/>
                          <a:cs typeface="MS PGothic"/>
                        </a:rPr>
                        <a:t>ロボマス制御</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r>
              <a:tr h="420624">
                <a:tc>
                  <a:txBody>
                    <a:bodyPr wrap="square"/>
                    <a:lstStyle/>
                    <a:p>
                      <a:pPr algn="l">
                        <a:spcAft>
                          <a:spcPts val="0"/>
                        </a:spcAft>
                      </a:pPr>
                      <a:r>
                        <a:rPr sz="1250" b="0" i="0">
                          <a:solidFill>
                            <a:srgbClr val="1F1F1F"/>
                          </a:solidFill>
                          <a:latin typeface="MS Gothic"/>
                          <a:ea typeface="MS Gothic"/>
                          <a:cs typeface="MS Gothic"/>
                        </a:rPr>
                        <a:t>MODE_ROBOMAS_PLUS_OUTPUT</a:t>
                      </a:r>
                    </a:p>
                  </a:txBody>
                  <a:tcPr marL="73152" marR="73152" marT="27432" marB="27432" anchor="ctr">
                    <a:solidFill>
                      <a:srgbClr val="FFFFFF"/>
                    </a:solidFill>
                  </a:tcPr>
                </a:tc>
                <a:tc>
                  <a:txBody>
                    <a:bodyPr wrap="square"/>
                    <a:lstStyle/>
                    <a:p>
                      <a:pPr algn="l">
                        <a:spcAft>
                          <a:spcPts val="0"/>
                        </a:spcAft>
                      </a:pPr>
                      <a:r>
                        <a:rPr sz="1250" b="0" i="0">
                          <a:solidFill>
                            <a:srgbClr val="1F1F1F"/>
                          </a:solidFill>
                          <a:latin typeface="MS PGothic"/>
                          <a:ea typeface="MS PGothic"/>
                          <a:cs typeface="MS PGothic"/>
                        </a:rPr>
                        <a:t>ロボマス + 出力</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5</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r>
              <a:tr h="420624">
                <a:tc>
                  <a:txBody>
                    <a:bodyPr wrap="square"/>
                    <a:lstStyle/>
                    <a:p>
                      <a:pPr algn="l">
                        <a:spcAft>
                          <a:spcPts val="0"/>
                        </a:spcAft>
                      </a:pPr>
                      <a:r>
                        <a:rPr sz="1250" b="0" i="0">
                          <a:solidFill>
                            <a:srgbClr val="1F1F1F"/>
                          </a:solidFill>
                          <a:latin typeface="MS Gothic"/>
                          <a:ea typeface="MS Gothic"/>
                          <a:cs typeface="MS Gothic"/>
                        </a:rPr>
                        <a:t>MODE_ROBOMAS_PLUS_INPUT</a:t>
                      </a:r>
                    </a:p>
                  </a:txBody>
                  <a:tcPr marL="73152" marR="73152" marT="27432" marB="27432" anchor="ctr">
                    <a:solidFill>
                      <a:srgbClr val="F2F2F2"/>
                    </a:solidFill>
                  </a:tcPr>
                </a:tc>
                <a:tc>
                  <a:txBody>
                    <a:bodyPr wrap="square"/>
                    <a:lstStyle/>
                    <a:p>
                      <a:pPr algn="l">
                        <a:spcAft>
                          <a:spcPts val="0"/>
                        </a:spcAft>
                      </a:pPr>
                      <a:r>
                        <a:rPr sz="1250" b="0" i="0">
                          <a:solidFill>
                            <a:srgbClr val="1F1F1F"/>
                          </a:solidFill>
                          <a:latin typeface="MS PGothic"/>
                          <a:ea typeface="MS PGothic"/>
                          <a:cs typeface="MS PGothic"/>
                        </a:rPr>
                        <a:t>ロボマス + 入力</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2F2F2"/>
                    </a:solidFill>
                  </a:tcPr>
                </a:tc>
                <a:tc>
                  <a:txBody>
                    <a:bodyPr wrap="square"/>
                    <a:lstStyle/>
                    <a:p>
                      <a:pPr algn="ctr">
                        <a:spcAft>
                          <a:spcPts val="0"/>
                        </a:spcAft>
                      </a:pPr>
                      <a:r>
                        <a:rPr sz="1250" b="0" i="0">
                          <a:solidFill>
                            <a:srgbClr val="1F1F1F"/>
                          </a:solidFill>
                          <a:latin typeface="MS PGothic"/>
                          <a:ea typeface="MS PGothic"/>
                          <a:cs typeface="MS PGothic"/>
                        </a:rPr>
                        <a:t>8</a:t>
                      </a:r>
                    </a:p>
                  </a:txBody>
                  <a:tcPr marL="73152" marR="73152" marT="27432" marB="27432" anchor="ctr">
                    <a:solidFill>
                      <a:srgbClr val="F2F2F2"/>
                    </a:solidFill>
                  </a:tcPr>
                </a:tc>
              </a:tr>
              <a:tr h="420624">
                <a:tc>
                  <a:txBody>
                    <a:bodyPr wrap="square"/>
                    <a:lstStyle/>
                    <a:p>
                      <a:pPr algn="l">
                        <a:spcAft>
                          <a:spcPts val="0"/>
                        </a:spcAft>
                      </a:pPr>
                      <a:r>
                        <a:rPr sz="1250" b="0" i="0">
                          <a:solidFill>
                            <a:srgbClr val="1F1F1F"/>
                          </a:solidFill>
                          <a:latin typeface="MS Gothic"/>
                          <a:ea typeface="MS Gothic"/>
                          <a:cs typeface="MS Gothic"/>
                        </a:rPr>
                        <a:t>MODE_ROBOMAS_PLUS_IO</a:t>
                      </a:r>
                    </a:p>
                  </a:txBody>
                  <a:tcPr marL="73152" marR="73152" marT="27432" marB="27432" anchor="ctr">
                    <a:solidFill>
                      <a:srgbClr val="FFFFFF"/>
                    </a:solidFill>
                  </a:tcPr>
                </a:tc>
                <a:tc>
                  <a:txBody>
                    <a:bodyPr wrap="square"/>
                    <a:lstStyle/>
                    <a:p>
                      <a:pPr algn="l">
                        <a:spcAft>
                          <a:spcPts val="0"/>
                        </a:spcAft>
                      </a:pPr>
                      <a:r>
                        <a:rPr sz="1250" b="0" i="0">
                          <a:solidFill>
                            <a:srgbClr val="1F1F1F"/>
                          </a:solidFill>
                          <a:latin typeface="MS PGothic"/>
                          <a:ea typeface="MS PGothic"/>
                          <a:cs typeface="MS PGothic"/>
                        </a:rPr>
                        <a:t>ロボマス + 一部入出力</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5</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4</a:t>
                      </a:r>
                    </a:p>
                  </a:txBody>
                  <a:tcPr marL="73152" marR="73152" marT="27432" marB="27432" anchor="ctr">
                    <a:solidFill>
                      <a:srgbClr val="FFFFFF"/>
                    </a:solidFill>
                  </a:tcPr>
                </a:tc>
                <a:tc>
                  <a:txBody>
                    <a:bodyPr wrap="square"/>
                    <a:lstStyle/>
                    <a:p>
                      <a:pPr algn="ctr">
                        <a:spcAft>
                          <a:spcPts val="0"/>
                        </a:spcAft>
                      </a:pPr>
                      <a:r>
                        <a:rPr sz="1250" b="0" i="0">
                          <a:solidFill>
                            <a:srgbClr val="1F1F1F"/>
                          </a:solidFill>
                          <a:latin typeface="MS PGothic"/>
                          <a:ea typeface="MS PGothic"/>
                          <a:cs typeface="MS PGothic"/>
                        </a:rPr>
                        <a:t>-</a:t>
                      </a:r>
                    </a:p>
                  </a:txBody>
                  <a:tcPr marL="73152" marR="73152" marT="27432" marB="27432" anchor="ctr">
                    <a:solidFill>
                      <a:srgbClr val="FFFFFF"/>
                    </a:solidFill>
                  </a:tcPr>
                </a:tc>
              </a:tr>
            </a:tbl>
          </a:graphicData>
        </a:graphic>
      </p:graphicFrame>
      <p:sp>
        <p:nvSpPr>
          <p:cNvPr id="5" name="TextBox 4"/>
          <p:cNvSpPr txBox="1"/>
          <p:nvPr/>
        </p:nvSpPr>
        <p:spPr>
          <a:xfrm>
            <a:off x="548640" y="4892040"/>
            <a:ext cx="10149840" cy="914400"/>
          </a:xfrm>
          <a:prstGeom prst="rect">
            <a:avLst/>
          </a:prstGeom>
          <a:noFill/>
        </p:spPr>
        <p:txBody>
          <a:bodyPr wrap="square" anchor="t" lIns="45720" rIns="45720"/>
          <a:lstStyle/>
          <a:p>
            <a:pPr algn="l">
              <a:spcAft>
                <a:spcPts val="400"/>
              </a:spcAft>
            </a:pPr>
            <a:r>
              <a:rPr sz="1350" b="1" i="0">
                <a:solidFill>
                  <a:srgbClr val="1F1F1F"/>
                </a:solidFill>
                <a:latin typeface="MS PGothic"/>
                <a:ea typeface="MS PGothic"/>
                <a:cs typeface="MS PGothic"/>
              </a:rPr>
              <a:t>設定手順：</a:t>
            </a:r>
            <a:r>
              <a:rPr sz="1350" b="0" i="0">
                <a:solidFill>
                  <a:srgbClr val="1F1F1F"/>
                </a:solidFill>
                <a:latin typeface="MS Gothic"/>
                <a:ea typeface="MS Gothic"/>
                <a:cs typeface="MS Gothic"/>
              </a:rPr>
              <a:t>src/config.hpp</a:t>
            </a:r>
            <a:r>
              <a:rPr sz="1350" b="0" i="0">
                <a:solidFill>
                  <a:srgbClr val="1F1F1F"/>
                </a:solidFill>
                <a:latin typeface="MS PGothic"/>
                <a:ea typeface="MS PGothic"/>
                <a:cs typeface="MS PGothic"/>
              </a:rPr>
              <a:t> で DEVICE_ID を一意に設定 → MODE を1つだけ有効化 → 必要ならPWM・サーボ定数を調整 → PlatformIOで書き込み</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377440"/>
            <a:ext cx="9144000" cy="1188720"/>
          </a:xfrm>
        </p:spPr>
        <p:txBody>
          <a:bodyPr anchor="t"/>
          <a:lstStyle/>
          <a:p>
            <a:pPr algn="l">
              <a:spcAft>
                <a:spcPts val="400"/>
              </a:spcAft>
            </a:pPr>
            <a:r>
              <a:rPr sz="4000" b="1" i="0">
                <a:solidFill>
                  <a:srgbClr val="1F1F1F"/>
                </a:solidFill>
                <a:latin typeface="MS PGothic"/>
                <a:ea typeface="MS PGothic"/>
                <a:cs typeface="MS PGothic"/>
              </a:rPr>
              <a:t>使い方</a:t>
            </a:r>
          </a:p>
        </p:txBody>
      </p:sp>
      <p:sp>
        <p:nvSpPr>
          <p:cNvPr id="3" name="Text Placeholder 2"/>
          <p:cNvSpPr>
            <a:spLocks noGrp="1"/>
          </p:cNvSpPr>
          <p:nvPr>
            <p:ph type="body" idx="1"/>
          </p:nvPr>
        </p:nvSpPr>
        <p:spPr>
          <a:xfrm>
            <a:off x="822960" y="3566160"/>
            <a:ext cx="9144000" cy="914400"/>
          </a:xfrm>
        </p:spPr>
        <p:txBody>
          <a:bodyPr/>
          <a:lstStyle/>
          <a:p>
            <a:pPr algn="l">
              <a:spcAft>
                <a:spcPts val="400"/>
              </a:spcAft>
            </a:pPr>
            <a:r>
              <a:rPr sz="1800" b="0" i="0">
                <a:solidFill>
                  <a:srgbClr val="595959"/>
                </a:solidFill>
                <a:latin typeface="MS PGothic"/>
                <a:ea typeface="MS PGothic"/>
                <a:cs typeface="MS PGothic"/>
              </a:rPr>
              <a:t>ビルド・起動・パラメータ・自作ノード</a:t>
            </a:r>
          </a:p>
        </p:txBody>
      </p:sp>
      <p:sp>
        <p:nvSpPr>
          <p:cNvPr id="4" name="TextBox 3"/>
          <p:cNvSpPr txBox="1"/>
          <p:nvPr/>
        </p:nvSpPr>
        <p:spPr>
          <a:xfrm>
            <a:off x="822960" y="1234440"/>
            <a:ext cx="2743200" cy="1097280"/>
          </a:xfrm>
          <a:prstGeom prst="rect">
            <a:avLst/>
          </a:prstGeom>
          <a:noFill/>
        </p:spPr>
        <p:txBody>
          <a:bodyPr wrap="square" anchor="b" lIns="0" rIns="0" tIns="0" bIns="0"/>
          <a:lstStyle/>
          <a:p>
            <a:pPr algn="l">
              <a:spcAft>
                <a:spcPts val="400"/>
              </a:spcAft>
            </a:pPr>
            <a:r>
              <a:rPr sz="7200" b="1" i="0">
                <a:solidFill>
                  <a:srgbClr val="CB1C14"/>
                </a:solidFill>
                <a:latin typeface="MS PGothic"/>
                <a:ea typeface="MS PGothic"/>
                <a:cs typeface="MS PGothic"/>
              </a:rPr>
              <a:t>04</a:t>
            </a:r>
          </a:p>
        </p:txBody>
      </p:sp>
      <p:sp>
        <p:nvSpPr>
          <p:cNvPr id="5" name="TextBox 4"/>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ビルド・起動・パラメータ</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21</a:t>
            </a:r>
          </a:p>
        </p:txBody>
      </p:sp>
      <p:sp>
        <p:nvSpPr>
          <p:cNvPr id="4" name="Rounded Rectangle 3"/>
          <p:cNvSpPr/>
          <p:nvPr/>
        </p:nvSpPr>
        <p:spPr>
          <a:xfrm>
            <a:off x="548640" y="1371600"/>
            <a:ext cx="4937760" cy="2971800"/>
          </a:xfrm>
          <a:prstGeom prst="roundRect">
            <a:avLst>
              <a:gd name="adj" fmla="val 4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6" bIns="128016" wrap="square"/>
          <a:lstStyle/>
          <a:p>
            <a:pPr algn="l">
              <a:spcAft>
                <a:spcPts val="0"/>
              </a:spcAft>
            </a:pPr>
            <a:r>
              <a:rPr sz="1200" b="0" i="0">
                <a:solidFill>
                  <a:srgbClr val="8FBF7F"/>
                </a:solidFill>
                <a:latin typeface="MS Gothic"/>
                <a:ea typeface="MS Gothic"/>
                <a:cs typeface="MS Gothic"/>
              </a:rPr>
              <a:t># ポート権限（初回のみ・要再ログイン）</a:t>
            </a:r>
          </a:p>
          <a:p>
            <a:pPr algn="l">
              <a:spcAft>
                <a:spcPts val="0"/>
              </a:spcAft>
            </a:pPr>
            <a:r>
              <a:rPr sz="1200" b="0" i="0">
                <a:solidFill>
                  <a:srgbClr val="EDEDED"/>
                </a:solidFill>
                <a:latin typeface="MS Gothic"/>
                <a:ea typeface="MS Gothic"/>
                <a:cs typeface="MS Gothic"/>
              </a:rPr>
              <a:t>sudo usermod -aG dialout $USER</a:t>
            </a:r>
          </a:p>
          <a:p>
            <a:pPr algn="l">
              <a:spcAft>
                <a:spcPts val="0"/>
              </a:spcAft>
            </a:pPr>
            <a:r>
              <a:rPr sz="1200" b="0" i="0">
                <a:solidFill>
                  <a:srgbClr val="EDEDED"/>
                </a:solidFill>
                <a:latin typeface="MS Gothic"/>
                <a:ea typeface="MS Gothic"/>
                <a:cs typeface="MS Gothic"/>
              </a:rPr>
              <a:t> </a:t>
            </a:r>
          </a:p>
          <a:p>
            <a:pPr algn="l">
              <a:spcAft>
                <a:spcPts val="0"/>
              </a:spcAft>
            </a:pPr>
            <a:r>
              <a:rPr sz="1200" b="0" i="0">
                <a:solidFill>
                  <a:srgbClr val="8FBF7F"/>
                </a:solidFill>
                <a:latin typeface="MS Gothic"/>
                <a:ea typeface="MS Gothic"/>
                <a:cs typeface="MS Gothic"/>
              </a:rPr>
              <a:t># ビルド</a:t>
            </a:r>
          </a:p>
          <a:p>
            <a:pPr algn="l">
              <a:spcAft>
                <a:spcPts val="0"/>
              </a:spcAft>
            </a:pPr>
            <a:r>
              <a:rPr sz="1200" b="0" i="0">
                <a:solidFill>
                  <a:srgbClr val="EDEDED"/>
                </a:solidFill>
                <a:latin typeface="MS Gothic"/>
                <a:ea typeface="MS Gothic"/>
                <a:cs typeface="MS Gothic"/>
              </a:rPr>
              <a:t>cd ~/ros2_ws</a:t>
            </a:r>
          </a:p>
          <a:p>
            <a:pPr algn="l">
              <a:spcAft>
                <a:spcPts val="0"/>
              </a:spcAft>
            </a:pPr>
            <a:r>
              <a:rPr sz="1200" b="0" i="0">
                <a:solidFill>
                  <a:srgbClr val="EDEDED"/>
                </a:solidFill>
                <a:latin typeface="MS Gothic"/>
                <a:ea typeface="MS Gothic"/>
                <a:cs typeface="MS Gothic"/>
              </a:rPr>
              <a:t>colcon build --packages-select serial_bridge</a:t>
            </a:r>
          </a:p>
          <a:p>
            <a:pPr algn="l">
              <a:spcAft>
                <a:spcPts val="0"/>
              </a:spcAft>
            </a:pPr>
            <a:r>
              <a:rPr sz="1200" b="0" i="0">
                <a:solidFill>
                  <a:srgbClr val="EDEDED"/>
                </a:solidFill>
                <a:latin typeface="MS Gothic"/>
                <a:ea typeface="MS Gothic"/>
                <a:cs typeface="MS Gothic"/>
              </a:rPr>
              <a:t>source install/setup.bash</a:t>
            </a:r>
          </a:p>
          <a:p>
            <a:pPr algn="l">
              <a:spcAft>
                <a:spcPts val="0"/>
              </a:spcAft>
            </a:pPr>
            <a:r>
              <a:rPr sz="1200" b="0" i="0">
                <a:solidFill>
                  <a:srgbClr val="EDEDED"/>
                </a:solidFill>
                <a:latin typeface="MS Gothic"/>
                <a:ea typeface="MS Gothic"/>
                <a:cs typeface="MS Gothic"/>
              </a:rPr>
              <a:t> </a:t>
            </a:r>
          </a:p>
          <a:p>
            <a:pPr algn="l">
              <a:spcAft>
                <a:spcPts val="0"/>
              </a:spcAft>
            </a:pPr>
            <a:r>
              <a:rPr sz="1200" b="0" i="0">
                <a:solidFill>
                  <a:srgbClr val="8FBF7F"/>
                </a:solidFill>
                <a:latin typeface="MS Gothic"/>
                <a:ea typeface="MS Gothic"/>
                <a:cs typeface="MS Gothic"/>
              </a:rPr>
              <a:t># 起動（すぐにスキャン開始）</a:t>
            </a:r>
          </a:p>
          <a:p>
            <a:pPr algn="l">
              <a:spcAft>
                <a:spcPts val="0"/>
              </a:spcAft>
            </a:pPr>
            <a:r>
              <a:rPr sz="1200" b="0" i="0">
                <a:solidFill>
                  <a:srgbClr val="EDEDED"/>
                </a:solidFill>
                <a:latin typeface="MS Gothic"/>
                <a:ea typeface="MS Gothic"/>
                <a:cs typeface="MS Gothic"/>
              </a:rPr>
              <a:t>ros2 launch serial_bridge serial_bridge.launch.py</a:t>
            </a:r>
          </a:p>
        </p:txBody>
      </p:sp>
      <p:sp>
        <p:nvSpPr>
          <p:cNvPr id="5" name="TextBox 4"/>
          <p:cNvSpPr txBox="1"/>
          <p:nvPr/>
        </p:nvSpPr>
        <p:spPr>
          <a:xfrm>
            <a:off x="5852160" y="1325880"/>
            <a:ext cx="4846320" cy="411480"/>
          </a:xfrm>
          <a:prstGeom prst="rect">
            <a:avLst/>
          </a:prstGeom>
          <a:noFill/>
        </p:spPr>
        <p:txBody>
          <a:bodyPr wrap="square" anchor="t" lIns="45720" rIns="45720"/>
          <a:lstStyle/>
          <a:p>
            <a:pPr algn="l">
              <a:spcAft>
                <a:spcPts val="400"/>
              </a:spcAft>
            </a:pPr>
            <a:r>
              <a:rPr sz="1400" b="1" i="0">
                <a:solidFill>
                  <a:srgbClr val="1F1F1F"/>
                </a:solidFill>
                <a:latin typeface="MS Gothic"/>
                <a:ea typeface="MS Gothic"/>
                <a:cs typeface="MS Gothic"/>
              </a:rPr>
              <a:t>config/serial_bridge.yaml</a:t>
            </a:r>
          </a:p>
        </p:txBody>
      </p:sp>
      <p:graphicFrame>
        <p:nvGraphicFramePr>
          <p:cNvPr id="6" name="Table 5"/>
          <p:cNvGraphicFramePr>
            <a:graphicFrameLocks noGrp="1"/>
          </p:cNvGraphicFramePr>
          <p:nvPr/>
        </p:nvGraphicFramePr>
        <p:xfrm>
          <a:off x="5852160" y="1783080"/>
          <a:ext cx="4846319" cy="2286000"/>
        </p:xfrm>
        <a:graphic>
          <a:graphicData uri="http://schemas.openxmlformats.org/drawingml/2006/table">
            <a:tbl>
              <a:tblPr firstRow="0" bandRow="0">
                <a:tableStyleId>{5C22544A-7EE6-4342-B048-85BDC9FD1C3A}</a:tableStyleId>
              </a:tblPr>
              <a:tblGrid>
                <a:gridCol w="2011680"/>
                <a:gridCol w="960120"/>
                <a:gridCol w="1874519"/>
              </a:tblGrid>
              <a:tr h="457200">
                <a:tc>
                  <a:txBody>
                    <a:bodyPr wrap="square"/>
                    <a:lstStyle/>
                    <a:p>
                      <a:pPr algn="ctr">
                        <a:spcAft>
                          <a:spcPts val="0"/>
                        </a:spcAft>
                      </a:pPr>
                      <a:r>
                        <a:rPr sz="1100" b="1" i="0">
                          <a:solidFill>
                            <a:srgbClr val="FFFFFF"/>
                          </a:solidFill>
                          <a:latin typeface="MS PGothic"/>
                          <a:ea typeface="MS PGothic"/>
                          <a:cs typeface="MS PGothic"/>
                        </a:rPr>
                        <a:t>パラメータ</a:t>
                      </a:r>
                    </a:p>
                  </a:txBody>
                  <a:tcPr marL="73152" marR="73152" marT="27432" marB="27432" anchor="ctr">
                    <a:solidFill>
                      <a:srgbClr val="1F1F1F"/>
                    </a:solidFill>
                  </a:tcPr>
                </a:tc>
                <a:tc>
                  <a:txBody>
                    <a:bodyPr wrap="square"/>
                    <a:lstStyle/>
                    <a:p>
                      <a:pPr algn="ctr">
                        <a:spcAft>
                          <a:spcPts val="0"/>
                        </a:spcAft>
                      </a:pPr>
                      <a:r>
                        <a:rPr sz="1100" b="1" i="0">
                          <a:solidFill>
                            <a:srgbClr val="FFFFFF"/>
                          </a:solidFill>
                          <a:latin typeface="MS PGothic"/>
                          <a:ea typeface="MS PGothic"/>
                          <a:cs typeface="MS PGothic"/>
                        </a:rPr>
                        <a:t>既定</a:t>
                      </a:r>
                    </a:p>
                  </a:txBody>
                  <a:tcPr marL="73152" marR="73152" marT="27432" marB="27432" anchor="ctr">
                    <a:solidFill>
                      <a:srgbClr val="1F1F1F"/>
                    </a:solidFill>
                  </a:tcPr>
                </a:tc>
                <a:tc>
                  <a:txBody>
                    <a:bodyPr wrap="square"/>
                    <a:lstStyle/>
                    <a:p>
                      <a:pPr algn="ctr">
                        <a:spcAft>
                          <a:spcPts val="0"/>
                        </a:spcAft>
                      </a:pPr>
                      <a:r>
                        <a:rPr sz="1100" b="1" i="0">
                          <a:solidFill>
                            <a:srgbClr val="FFFFFF"/>
                          </a:solidFill>
                          <a:latin typeface="MS PGothic"/>
                          <a:ea typeface="MS PGothic"/>
                          <a:cs typeface="MS PGothic"/>
                        </a:rPr>
                        <a:t>内容</a:t>
                      </a:r>
                    </a:p>
                  </a:txBody>
                  <a:tcPr marL="73152" marR="73152" marT="27432" marB="27432" anchor="ctr">
                    <a:solidFill>
                      <a:srgbClr val="1F1F1F"/>
                    </a:solidFill>
                  </a:tcPr>
                </a:tc>
              </a:tr>
              <a:tr h="457200">
                <a:tc>
                  <a:txBody>
                    <a:bodyPr wrap="square"/>
                    <a:lstStyle/>
                    <a:p>
                      <a:pPr algn="l">
                        <a:spcAft>
                          <a:spcPts val="0"/>
                        </a:spcAft>
                      </a:pPr>
                      <a:r>
                        <a:rPr sz="1100" b="0" i="0">
                          <a:solidFill>
                            <a:srgbClr val="1F1F1F"/>
                          </a:solidFill>
                          <a:latin typeface="MS Gothic"/>
                          <a:ea typeface="MS Gothic"/>
                          <a:cs typeface="MS Gothic"/>
                        </a:rPr>
                        <a:t>excluded_ports</a:t>
                      </a:r>
                    </a:p>
                  </a:txBody>
                  <a:tcPr marL="73152" marR="73152" marT="27432" marB="27432" anchor="ctr">
                    <a:solidFill>
                      <a:srgbClr val="FFFFFF"/>
                    </a:solidFill>
                  </a:tcPr>
                </a:tc>
                <a:tc>
                  <a:txBody>
                    <a:bodyPr wrap="square"/>
                    <a:lstStyle/>
                    <a:p>
                      <a:pPr algn="l">
                        <a:spcAft>
                          <a:spcPts val="0"/>
                        </a:spcAft>
                      </a:pPr>
                      <a:r>
                        <a:rPr sz="1100" b="0" i="0">
                          <a:solidFill>
                            <a:srgbClr val="1F1F1F"/>
                          </a:solidFill>
                          <a:latin typeface="MS PGothic"/>
                          <a:ea typeface="MS PGothic"/>
                          <a:cs typeface="MS PGothic"/>
                        </a:rPr>
                        <a:t>[ttyUSB0]</a:t>
                      </a:r>
                    </a:p>
                  </a:txBody>
                  <a:tcPr marL="73152" marR="73152" marT="27432" marB="27432" anchor="ctr">
                    <a:solidFill>
                      <a:srgbClr val="FFFFFF"/>
                    </a:solidFill>
                  </a:tcPr>
                </a:tc>
                <a:tc>
                  <a:txBody>
                    <a:bodyPr wrap="square"/>
                    <a:lstStyle/>
                    <a:p>
                      <a:pPr algn="l">
                        <a:spcAft>
                          <a:spcPts val="0"/>
                        </a:spcAft>
                      </a:pPr>
                      <a:r>
                        <a:rPr sz="1100" b="0" i="0">
                          <a:solidFill>
                            <a:srgbClr val="1F1F1F"/>
                          </a:solidFill>
                          <a:latin typeface="MS PGothic"/>
                          <a:ea typeface="MS PGothic"/>
                          <a:cs typeface="MS PGothic"/>
                        </a:rPr>
                        <a:t>スキャン除外（LiDAR等）</a:t>
                      </a:r>
                    </a:p>
                  </a:txBody>
                  <a:tcPr marL="73152" marR="73152" marT="27432" marB="27432" anchor="ctr">
                    <a:solidFill>
                      <a:srgbClr val="FFFFFF"/>
                    </a:solidFill>
                  </a:tcPr>
                </a:tc>
              </a:tr>
              <a:tr h="457200">
                <a:tc>
                  <a:txBody>
                    <a:bodyPr wrap="square"/>
                    <a:lstStyle/>
                    <a:p>
                      <a:pPr algn="l">
                        <a:spcAft>
                          <a:spcPts val="0"/>
                        </a:spcAft>
                      </a:pPr>
                      <a:r>
                        <a:rPr sz="1100" b="0" i="0">
                          <a:solidFill>
                            <a:srgbClr val="1F1F1F"/>
                          </a:solidFill>
                          <a:latin typeface="MS Gothic"/>
                          <a:ea typeface="MS Gothic"/>
                          <a:cs typeface="MS Gothic"/>
                        </a:rPr>
                        <a:t>rx_timeout_sec</a:t>
                      </a:r>
                    </a:p>
                  </a:txBody>
                  <a:tcPr marL="73152" marR="73152" marT="27432" marB="27432" anchor="ctr">
                    <a:solidFill>
                      <a:srgbClr val="F2F2F2"/>
                    </a:solidFill>
                  </a:tcPr>
                </a:tc>
                <a:tc>
                  <a:txBody>
                    <a:bodyPr wrap="square"/>
                    <a:lstStyle/>
                    <a:p>
                      <a:pPr algn="l">
                        <a:spcAft>
                          <a:spcPts val="0"/>
                        </a:spcAft>
                      </a:pPr>
                      <a:r>
                        <a:rPr sz="1100" b="0" i="0">
                          <a:solidFill>
                            <a:srgbClr val="1F1F1F"/>
                          </a:solidFill>
                          <a:latin typeface="MS PGothic"/>
                          <a:ea typeface="MS PGothic"/>
                          <a:cs typeface="MS PGothic"/>
                        </a:rPr>
                        <a:t>2.0</a:t>
                      </a:r>
                    </a:p>
                  </a:txBody>
                  <a:tcPr marL="73152" marR="73152" marT="27432" marB="27432" anchor="ctr">
                    <a:solidFill>
                      <a:srgbClr val="F2F2F2"/>
                    </a:solidFill>
                  </a:tcPr>
                </a:tc>
                <a:tc>
                  <a:txBody>
                    <a:bodyPr wrap="square"/>
                    <a:lstStyle/>
                    <a:p>
                      <a:pPr algn="l">
                        <a:spcAft>
                          <a:spcPts val="0"/>
                        </a:spcAft>
                      </a:pPr>
                      <a:r>
                        <a:rPr sz="1100" b="0" i="0">
                          <a:solidFill>
                            <a:srgbClr val="1F1F1F"/>
                          </a:solidFill>
                          <a:latin typeface="MS PGothic"/>
                          <a:ea typeface="MS PGothic"/>
                          <a:cs typeface="MS PGothic"/>
                        </a:rPr>
                        <a:t>無受信で切断とみなす秒数</a:t>
                      </a:r>
                    </a:p>
                  </a:txBody>
                  <a:tcPr marL="73152" marR="73152" marT="27432" marB="27432" anchor="ctr">
                    <a:solidFill>
                      <a:srgbClr val="F2F2F2"/>
                    </a:solidFill>
                  </a:tcPr>
                </a:tc>
              </a:tr>
              <a:tr h="457200">
                <a:tc>
                  <a:txBody>
                    <a:bodyPr wrap="square"/>
                    <a:lstStyle/>
                    <a:p>
                      <a:pPr algn="l">
                        <a:spcAft>
                          <a:spcPts val="0"/>
                        </a:spcAft>
                      </a:pPr>
                      <a:r>
                        <a:rPr sz="1100" b="0" i="0">
                          <a:solidFill>
                            <a:srgbClr val="1F1F1F"/>
                          </a:solidFill>
                          <a:latin typeface="MS Gothic"/>
                          <a:ea typeface="MS Gothic"/>
                          <a:cs typeface="MS Gothic"/>
                        </a:rPr>
                        <a:t>reconnect_interval_sec</a:t>
                      </a:r>
                    </a:p>
                  </a:txBody>
                  <a:tcPr marL="73152" marR="73152" marT="27432" marB="27432" anchor="ctr">
                    <a:solidFill>
                      <a:srgbClr val="FFFFFF"/>
                    </a:solidFill>
                  </a:tcPr>
                </a:tc>
                <a:tc>
                  <a:txBody>
                    <a:bodyPr wrap="square"/>
                    <a:lstStyle/>
                    <a:p>
                      <a:pPr algn="l">
                        <a:spcAft>
                          <a:spcPts val="0"/>
                        </a:spcAft>
                      </a:pPr>
                      <a:r>
                        <a:rPr sz="1100" b="0" i="0">
                          <a:solidFill>
                            <a:srgbClr val="1F1F1F"/>
                          </a:solidFill>
                          <a:latin typeface="MS PGothic"/>
                          <a:ea typeface="MS PGothic"/>
                          <a:cs typeface="MS PGothic"/>
                        </a:rPr>
                        <a:t>3.0</a:t>
                      </a:r>
                    </a:p>
                  </a:txBody>
                  <a:tcPr marL="73152" marR="73152" marT="27432" marB="27432" anchor="ctr">
                    <a:solidFill>
                      <a:srgbClr val="FFFFFF"/>
                    </a:solidFill>
                  </a:tcPr>
                </a:tc>
                <a:tc>
                  <a:txBody>
                    <a:bodyPr wrap="square"/>
                    <a:lstStyle/>
                    <a:p>
                      <a:pPr algn="l">
                        <a:spcAft>
                          <a:spcPts val="0"/>
                        </a:spcAft>
                      </a:pPr>
                      <a:r>
                        <a:rPr sz="1100" b="0" i="0">
                          <a:solidFill>
                            <a:srgbClr val="1F1F1F"/>
                          </a:solidFill>
                          <a:latin typeface="MS PGothic"/>
                          <a:ea typeface="MS PGothic"/>
                          <a:cs typeface="MS PGothic"/>
                        </a:rPr>
                        <a:t>再接続の最小間隔</a:t>
                      </a:r>
                    </a:p>
                  </a:txBody>
                  <a:tcPr marL="73152" marR="73152" marT="27432" marB="27432" anchor="ctr">
                    <a:solidFill>
                      <a:srgbClr val="FFFFFF"/>
                    </a:solidFill>
                  </a:tcPr>
                </a:tc>
              </a:tr>
              <a:tr h="457200">
                <a:tc>
                  <a:txBody>
                    <a:bodyPr wrap="square"/>
                    <a:lstStyle/>
                    <a:p>
                      <a:pPr algn="l">
                        <a:spcAft>
                          <a:spcPts val="0"/>
                        </a:spcAft>
                      </a:pPr>
                      <a:r>
                        <a:rPr sz="1100" b="0" i="0">
                          <a:solidFill>
                            <a:srgbClr val="1F1F1F"/>
                          </a:solidFill>
                          <a:latin typeface="MS Gothic"/>
                          <a:ea typeface="MS Gothic"/>
                          <a:cs typeface="MS Gothic"/>
                        </a:rPr>
                        <a:t>scan_interval_ms</a:t>
                      </a:r>
                    </a:p>
                  </a:txBody>
                  <a:tcPr marL="73152" marR="73152" marT="27432" marB="27432" anchor="ctr">
                    <a:solidFill>
                      <a:srgbClr val="F2F2F2"/>
                    </a:solidFill>
                  </a:tcPr>
                </a:tc>
                <a:tc>
                  <a:txBody>
                    <a:bodyPr wrap="square"/>
                    <a:lstStyle/>
                    <a:p>
                      <a:pPr algn="l">
                        <a:spcAft>
                          <a:spcPts val="0"/>
                        </a:spcAft>
                      </a:pPr>
                      <a:r>
                        <a:rPr sz="1100" b="0" i="0">
                          <a:solidFill>
                            <a:srgbClr val="1F1F1F"/>
                          </a:solidFill>
                          <a:latin typeface="MS PGothic"/>
                          <a:ea typeface="MS PGothic"/>
                          <a:cs typeface="MS PGothic"/>
                        </a:rPr>
                        <a:t>5000</a:t>
                      </a:r>
                    </a:p>
                  </a:txBody>
                  <a:tcPr marL="73152" marR="73152" marT="27432" marB="27432" anchor="ctr">
                    <a:solidFill>
                      <a:srgbClr val="F2F2F2"/>
                    </a:solidFill>
                  </a:tcPr>
                </a:tc>
                <a:tc>
                  <a:txBody>
                    <a:bodyPr wrap="square"/>
                    <a:lstStyle/>
                    <a:p>
                      <a:pPr algn="l">
                        <a:spcAft>
                          <a:spcPts val="0"/>
                        </a:spcAft>
                      </a:pPr>
                      <a:r>
                        <a:rPr sz="1100" b="0" i="0">
                          <a:solidFill>
                            <a:srgbClr val="1F1F1F"/>
                          </a:solidFill>
                          <a:latin typeface="MS PGothic"/>
                          <a:ea typeface="MS PGothic"/>
                          <a:cs typeface="MS PGothic"/>
                        </a:rPr>
                        <a:t>スキャン間隔</a:t>
                      </a:r>
                    </a:p>
                  </a:txBody>
                  <a:tcPr marL="73152" marR="73152" marT="27432" marB="27432" anchor="ctr">
                    <a:solidFill>
                      <a:srgbClr val="F2F2F2"/>
                    </a:solidFill>
                  </a:tcPr>
                </a:tc>
              </a:tr>
            </a:tbl>
          </a:graphicData>
        </a:graphic>
      </p:graphicFrame>
      <p:sp>
        <p:nvSpPr>
          <p:cNvPr id="7" name="TextBox 6"/>
          <p:cNvSpPr txBox="1"/>
          <p:nvPr/>
        </p:nvSpPr>
        <p:spPr>
          <a:xfrm>
            <a:off x="548640" y="4572000"/>
            <a:ext cx="4937760" cy="411480"/>
          </a:xfrm>
          <a:prstGeom prst="rect">
            <a:avLst/>
          </a:prstGeom>
          <a:noFill/>
        </p:spPr>
        <p:txBody>
          <a:bodyPr wrap="square" anchor="t" lIns="45720" rIns="45720"/>
          <a:lstStyle/>
          <a:p>
            <a:pPr algn="l">
              <a:spcAft>
                <a:spcPts val="400"/>
              </a:spcAft>
            </a:pPr>
            <a:r>
              <a:rPr sz="1400" b="1" i="0">
                <a:solidFill>
                  <a:srgbClr val="1F1F1F"/>
                </a:solidFill>
                <a:latin typeface="MS PGothic"/>
                <a:ea typeface="MS PGothic"/>
                <a:cs typeface="MS PGothic"/>
              </a:rPr>
              <a:t>ログ出力モード（config.hpp、コンパイル時）</a:t>
            </a:r>
          </a:p>
        </p:txBody>
      </p:sp>
      <p:graphicFrame>
        <p:nvGraphicFramePr>
          <p:cNvPr id="8" name="Table 7"/>
          <p:cNvGraphicFramePr>
            <a:graphicFrameLocks noGrp="1"/>
          </p:cNvGraphicFramePr>
          <p:nvPr/>
        </p:nvGraphicFramePr>
        <p:xfrm>
          <a:off x="548640" y="4983480"/>
          <a:ext cx="4937760" cy="731520"/>
        </p:xfrm>
        <a:graphic>
          <a:graphicData uri="http://schemas.openxmlformats.org/drawingml/2006/table">
            <a:tbl>
              <a:tblPr firstRow="0" bandRow="0">
                <a:tableStyleId>{5C22544A-7EE6-4342-B048-85BDC9FD1C3A}</a:tableStyleId>
              </a:tblPr>
              <a:tblGrid>
                <a:gridCol w="1371600"/>
                <a:gridCol w="2194560"/>
                <a:gridCol w="1371600"/>
              </a:tblGrid>
              <a:tr h="365760">
                <a:tc>
                  <a:txBody>
                    <a:bodyPr wrap="square"/>
                    <a:lstStyle/>
                    <a:p>
                      <a:pPr algn="ctr">
                        <a:spcAft>
                          <a:spcPts val="0"/>
                        </a:spcAft>
                      </a:pPr>
                      <a:r>
                        <a:rPr sz="1100" b="1" i="0">
                          <a:solidFill>
                            <a:srgbClr val="FFFFFF"/>
                          </a:solidFill>
                          <a:latin typeface="MS PGothic"/>
                          <a:ea typeface="MS PGothic"/>
                          <a:cs typeface="MS PGothic"/>
                        </a:rPr>
                        <a:t>kTerminal</a:t>
                      </a:r>
                    </a:p>
                  </a:txBody>
                  <a:tcPr marL="73152" marR="73152" marT="27432" marB="27432" anchor="ctr">
                    <a:solidFill>
                      <a:srgbClr val="595959"/>
                    </a:solidFill>
                  </a:tcPr>
                </a:tc>
                <a:tc>
                  <a:txBody>
                    <a:bodyPr wrap="square"/>
                    <a:lstStyle/>
                    <a:p>
                      <a:pPr algn="ctr">
                        <a:spcAft>
                          <a:spcPts val="0"/>
                        </a:spcAft>
                      </a:pPr>
                      <a:r>
                        <a:rPr sz="1100" b="1" i="0">
                          <a:solidFill>
                            <a:srgbClr val="FFFFFF"/>
                          </a:solidFill>
                          <a:latin typeface="MS PGothic"/>
                          <a:ea typeface="MS PGothic"/>
                          <a:cs typeface="MS PGothic"/>
                        </a:rPr>
                        <a:t>kGraphical（既定）</a:t>
                      </a:r>
                    </a:p>
                  </a:txBody>
                  <a:tcPr marL="73152" marR="73152" marT="27432" marB="27432" anchor="ctr">
                    <a:solidFill>
                      <a:srgbClr val="595959"/>
                    </a:solidFill>
                  </a:tcPr>
                </a:tc>
                <a:tc>
                  <a:txBody>
                    <a:bodyPr wrap="square"/>
                    <a:lstStyle/>
                    <a:p>
                      <a:pPr algn="ctr">
                        <a:spcAft>
                          <a:spcPts val="0"/>
                        </a:spcAft>
                      </a:pPr>
                      <a:r>
                        <a:rPr sz="1100" b="1" i="0">
                          <a:solidFill>
                            <a:srgbClr val="FFFFFF"/>
                          </a:solidFill>
                          <a:latin typeface="MS PGothic"/>
                          <a:ea typeface="MS PGothic"/>
                          <a:cs typeface="MS PGothic"/>
                        </a:rPr>
                        <a:t>kNone</a:t>
                      </a:r>
                    </a:p>
                  </a:txBody>
                  <a:tcPr marL="73152" marR="73152" marT="27432" marB="27432" anchor="ctr">
                    <a:solidFill>
                      <a:srgbClr val="595959"/>
                    </a:solidFill>
                  </a:tcPr>
                </a:tc>
              </a:tr>
              <a:tr h="365760">
                <a:tc>
                  <a:txBody>
                    <a:bodyPr wrap="square"/>
                    <a:lstStyle/>
                    <a:p>
                      <a:pPr algn="ctr">
                        <a:spcAft>
                          <a:spcPts val="0"/>
                        </a:spcAft>
                      </a:pPr>
                      <a:r>
                        <a:rPr sz="1100" b="0" i="0">
                          <a:solidFill>
                            <a:srgbClr val="1F1F1F"/>
                          </a:solidFill>
                          <a:latin typeface="MS PGothic"/>
                          <a:ea typeface="MS PGothic"/>
                          <a:cs typeface="MS PGothic"/>
                        </a:rPr>
                        <a:t>通常のログ</a:t>
                      </a:r>
                    </a:p>
                  </a:txBody>
                  <a:tcPr marL="73152" marR="73152" marT="27432" marB="27432" anchor="ctr">
                    <a:solidFill>
                      <a:srgbClr val="FFFFFF"/>
                    </a:solidFill>
                  </a:tcPr>
                </a:tc>
                <a:tc>
                  <a:txBody>
                    <a:bodyPr wrap="square"/>
                    <a:lstStyle/>
                    <a:p>
                      <a:pPr algn="ctr">
                        <a:spcAft>
                          <a:spcPts val="0"/>
                        </a:spcAft>
                      </a:pPr>
                      <a:r>
                        <a:rPr sz="1100" b="0" i="0">
                          <a:solidFill>
                            <a:srgbClr val="1F1F1F"/>
                          </a:solidFill>
                          <a:latin typeface="MS PGothic"/>
                          <a:ea typeface="MS PGothic"/>
                          <a:cs typeface="MS PGothic"/>
                        </a:rPr>
                        <a:t>マイコンごとのバーグラフ</a:t>
                      </a:r>
                    </a:p>
                  </a:txBody>
                  <a:tcPr marL="73152" marR="73152" marT="27432" marB="27432" anchor="ctr">
                    <a:solidFill>
                      <a:srgbClr val="FFFFFF"/>
                    </a:solidFill>
                  </a:tcPr>
                </a:tc>
                <a:tc>
                  <a:txBody>
                    <a:bodyPr wrap="square"/>
                    <a:lstStyle/>
                    <a:p>
                      <a:pPr algn="ctr">
                        <a:spcAft>
                          <a:spcPts val="0"/>
                        </a:spcAft>
                      </a:pPr>
                      <a:r>
                        <a:rPr sz="1100" b="0" i="0">
                          <a:solidFill>
                            <a:srgbClr val="1F1F1F"/>
                          </a:solidFill>
                          <a:latin typeface="MS PGothic"/>
                          <a:ea typeface="MS PGothic"/>
                          <a:cs typeface="MS PGothic"/>
                        </a:rPr>
                        <a:t>出力なし</a:t>
                      </a:r>
                    </a:p>
                  </a:txBody>
                  <a:tcPr marL="73152" marR="73152" marT="27432" marB="27432" anchor="ctr">
                    <a:solidFill>
                      <a:srgbClr val="FFFFFF"/>
                    </a:solidFill>
                  </a:tcPr>
                </a:tc>
              </a:tr>
            </a:tbl>
          </a:graphicData>
        </a:graphic>
      </p:graphicFrame>
      <p:sp>
        <p:nvSpPr>
          <p:cNvPr id="9" name="Rounded Rectangle 8"/>
          <p:cNvSpPr/>
          <p:nvPr/>
        </p:nvSpPr>
        <p:spPr>
          <a:xfrm>
            <a:off x="5852160" y="4343400"/>
            <a:ext cx="4846320" cy="1005840"/>
          </a:xfrm>
          <a:prstGeom prst="roundRect">
            <a:avLst>
              <a:gd name="adj" fmla="val 12000"/>
            </a:avLst>
          </a:prstGeom>
          <a:solidFill>
            <a:srgbClr val="F9E3E1"/>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0" name="TextBox 9"/>
          <p:cNvSpPr txBox="1"/>
          <p:nvPr/>
        </p:nvSpPr>
        <p:spPr>
          <a:xfrm>
            <a:off x="6035040" y="4389120"/>
            <a:ext cx="4480560" cy="914400"/>
          </a:xfrm>
          <a:prstGeom prst="rect">
            <a:avLst/>
          </a:prstGeom>
          <a:noFill/>
        </p:spPr>
        <p:txBody>
          <a:bodyPr wrap="square" anchor="ctr" lIns="45720" rIns="45720"/>
          <a:lstStyle/>
          <a:p>
            <a:pPr algn="l">
              <a:spcAft>
                <a:spcPts val="400"/>
              </a:spcAft>
            </a:pPr>
            <a:r>
              <a:rPr sz="1250" b="1" i="0">
                <a:solidFill>
                  <a:srgbClr val="CB1C14"/>
                </a:solidFill>
                <a:latin typeface="MS PGothic"/>
                <a:ea typeface="MS PGothic"/>
                <a:cs typeface="MS PGothic"/>
              </a:rPr>
              <a:t>LiDARなど他のシリアル機器</a:t>
            </a:r>
            <a:r>
              <a:rPr sz="1250" b="0" i="0">
                <a:solidFill>
                  <a:srgbClr val="1F1F1F"/>
                </a:solidFill>
                <a:latin typeface="MS PGothic"/>
                <a:ea typeface="MS PGothic"/>
                <a:cs typeface="MS PGothic"/>
              </a:rPr>
              <a:t>は excluded_ports に入れておかないと、スキャン時にポートを開いてしまいます。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自作ノードから使う</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22</a:t>
            </a:r>
          </a:p>
        </p:txBody>
      </p:sp>
      <p:sp>
        <p:nvSpPr>
          <p:cNvPr id="4" name="Rounded Rectangle 3"/>
          <p:cNvSpPr/>
          <p:nvPr/>
        </p:nvSpPr>
        <p:spPr>
          <a:xfrm>
            <a:off x="548640" y="1371600"/>
            <a:ext cx="6400800" cy="4389120"/>
          </a:xfrm>
          <a:prstGeom prst="roundRect">
            <a:avLst>
              <a:gd name="adj" fmla="val 4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128016" bIns="128016" wrap="square"/>
          <a:lstStyle/>
          <a:p>
            <a:pPr algn="l">
              <a:spcAft>
                <a:spcPts val="0"/>
              </a:spcAft>
            </a:pPr>
            <a:r>
              <a:rPr sz="1200" b="0" i="0">
                <a:solidFill>
                  <a:srgbClr val="8FBF7F"/>
                </a:solidFill>
                <a:latin typeface="MS Gothic"/>
                <a:ea typeface="MS Gothic"/>
                <a:cs typeface="MS Gothic"/>
              </a:rPr>
              <a:t>#include "common/PacketController.hpp"</a:t>
            </a:r>
          </a:p>
          <a:p>
            <a:pPr algn="l">
              <a:spcAft>
                <a:spcPts val="0"/>
              </a:spcAft>
            </a:pPr>
            <a:r>
              <a:rPr sz="1200" b="0" i="0">
                <a:solidFill>
                  <a:srgbClr val="EDEDED"/>
                </a:solidFill>
                <a:latin typeface="MS Gothic"/>
                <a:ea typeface="MS Gothic"/>
                <a:cs typeface="MS Gothic"/>
              </a:rPr>
              <a:t>PacketController ctrlPkt;</a:t>
            </a:r>
          </a:p>
          <a:p>
            <a:pPr algn="l">
              <a:spcAft>
                <a:spcPts val="0"/>
              </a:spcAft>
            </a:pPr>
            <a:r>
              <a:rPr sz="1200" b="0" i="0">
                <a:solidFill>
                  <a:srgbClr val="EDEDED"/>
                </a:solidFill>
                <a:latin typeface="MS Gothic"/>
                <a:ea typeface="MS Gothic"/>
                <a:cs typeface="MS Gothic"/>
              </a:rPr>
              <a:t> </a:t>
            </a:r>
          </a:p>
          <a:p>
            <a:pPr algn="l">
              <a:spcAft>
                <a:spcPts val="0"/>
              </a:spcAft>
            </a:pPr>
            <a:r>
              <a:rPr sz="1200" b="0" i="0">
                <a:solidFill>
                  <a:srgbClr val="8FBF7F"/>
                </a:solidFill>
                <a:latin typeface="MS Gothic"/>
                <a:ea typeface="MS Gothic"/>
                <a:cs typeface="MS Gothic"/>
              </a:rPr>
              <a:t>// 送信：serial_tx_[ID] にPublishするだけ</a:t>
            </a:r>
          </a:p>
          <a:p>
            <a:pPr algn="l">
              <a:spcAft>
                <a:spcPts val="0"/>
              </a:spcAft>
            </a:pPr>
            <a:r>
              <a:rPr sz="1200" b="0" i="0">
                <a:solidFill>
                  <a:srgbClr val="EDEDED"/>
                </a:solidFill>
                <a:latin typeface="MS Gothic"/>
                <a:ea typeface="MS Gothic"/>
                <a:cs typeface="MS Gothic"/>
              </a:rPr>
              <a:t>pub_ = create_publisher&lt;Int16MultiArray&gt;("serial_tx_3", 10);</a:t>
            </a:r>
          </a:p>
          <a:p>
            <a:pPr algn="l">
              <a:spcAft>
                <a:spcPts val="0"/>
              </a:spcAft>
            </a:pPr>
            <a:r>
              <a:rPr sz="1200" b="0" i="0">
                <a:solidFill>
                  <a:srgbClr val="EDEDED"/>
                </a:solidFill>
                <a:latin typeface="MS Gothic"/>
                <a:ea typeface="MS Gothic"/>
                <a:cs typeface="MS Gothic"/>
              </a:rPr>
              <a:t> </a:t>
            </a:r>
          </a:p>
          <a:p>
            <a:pPr algn="l">
              <a:spcAft>
                <a:spcPts val="0"/>
              </a:spcAft>
            </a:pPr>
            <a:r>
              <a:rPr sz="1200" b="0" i="0">
                <a:solidFill>
                  <a:srgbClr val="EDEDED"/>
                </a:solidFill>
                <a:latin typeface="MS Gothic"/>
                <a:ea typeface="MS Gothic"/>
                <a:cs typeface="MS Gothic"/>
              </a:rPr>
              <a:t>void timer_callback() {</a:t>
            </a:r>
          </a:p>
          <a:p>
            <a:pPr algn="l">
              <a:spcAft>
                <a:spcPts val="0"/>
              </a:spcAft>
            </a:pPr>
            <a:r>
              <a:rPr sz="1200" b="0" i="0">
                <a:solidFill>
                  <a:srgbClr val="EDEDED"/>
                </a:solidFill>
                <a:latin typeface="MS Gothic"/>
                <a:ea typeface="MS Gothic"/>
                <a:cs typeface="MS Gothic"/>
              </a:rPr>
              <a:t>  ctrlPkt.setMD(MD1, 120);        </a:t>
            </a:r>
            <a:r>
              <a:rPr sz="1200" b="0" i="0">
                <a:solidFill>
                  <a:srgbClr val="8FBF7F"/>
                </a:solidFill>
                <a:latin typeface="MS Gothic"/>
                <a:ea typeface="MS Gothic"/>
                <a:cs typeface="MS Gothic"/>
              </a:rPr>
              <a:t>// -255〜255 にクランプ</a:t>
            </a:r>
          </a:p>
          <a:p>
            <a:pPr algn="l">
              <a:spcAft>
                <a:spcPts val="0"/>
              </a:spcAft>
            </a:pPr>
            <a:r>
              <a:rPr sz="1200" b="0" i="0">
                <a:solidFill>
                  <a:srgbClr val="EDEDED"/>
                </a:solidFill>
                <a:latin typeface="MS Gothic"/>
                <a:ea typeface="MS Gothic"/>
                <a:cs typeface="MS Gothic"/>
              </a:rPr>
              <a:t>  ctrlPkt.setServo(SERVO2, 90);   </a:t>
            </a:r>
            <a:r>
              <a:rPr sz="1200" b="0" i="0">
                <a:solidFill>
                  <a:srgbClr val="8FBF7F"/>
                </a:solidFill>
                <a:latin typeface="MS Gothic"/>
                <a:ea typeface="MS Gothic"/>
                <a:cs typeface="MS Gothic"/>
              </a:rPr>
              <a:t>// 0〜270</a:t>
            </a:r>
          </a:p>
          <a:p>
            <a:pPr algn="l">
              <a:spcAft>
                <a:spcPts val="0"/>
              </a:spcAft>
            </a:pPr>
            <a:r>
              <a:rPr sz="1200" b="0" i="0">
                <a:solidFill>
                  <a:srgbClr val="EDEDED"/>
                </a:solidFill>
                <a:latin typeface="MS Gothic"/>
                <a:ea typeface="MS Gothic"/>
                <a:cs typeface="MS Gothic"/>
              </a:rPr>
              <a:t>  ctrlPkt.setTR(TR5, true);</a:t>
            </a:r>
          </a:p>
          <a:p>
            <a:pPr algn="l">
              <a:spcAft>
                <a:spcPts val="0"/>
              </a:spcAft>
            </a:pPr>
            <a:r>
              <a:rPr sz="1200" b="0" i="0">
                <a:solidFill>
                  <a:srgbClr val="EDEDED"/>
                </a:solidFill>
                <a:latin typeface="MS Gothic"/>
                <a:ea typeface="MS Gothic"/>
                <a:cs typeface="MS Gothic"/>
              </a:rPr>
              <a:t>  Int16MultiArray msg;  msg.data = ctrlPkt.toVector();</a:t>
            </a:r>
          </a:p>
          <a:p>
            <a:pPr algn="l">
              <a:spcAft>
                <a:spcPts val="0"/>
              </a:spcAft>
            </a:pPr>
            <a:r>
              <a:rPr sz="1200" b="0" i="0">
                <a:solidFill>
                  <a:srgbClr val="EDEDED"/>
                </a:solidFill>
                <a:latin typeface="MS Gothic"/>
                <a:ea typeface="MS Gothic"/>
                <a:cs typeface="MS Gothic"/>
              </a:rPr>
              <a:t>  pub_-&gt;publish(msg);</a:t>
            </a:r>
          </a:p>
          <a:p>
            <a:pPr algn="l">
              <a:spcAft>
                <a:spcPts val="0"/>
              </a:spcAft>
            </a:pPr>
            <a:r>
              <a:rPr sz="1200" b="0" i="0">
                <a:solidFill>
                  <a:srgbClr val="EDEDED"/>
                </a:solidFill>
                <a:latin typeface="MS Gothic"/>
                <a:ea typeface="MS Gothic"/>
                <a:cs typeface="MS Gothic"/>
              </a:rPr>
              <a:t>}</a:t>
            </a:r>
          </a:p>
          <a:p>
            <a:pPr algn="l">
              <a:spcAft>
                <a:spcPts val="0"/>
              </a:spcAft>
            </a:pPr>
            <a:r>
              <a:rPr sz="1200" b="0" i="0">
                <a:solidFill>
                  <a:srgbClr val="EDEDED"/>
                </a:solidFill>
                <a:latin typeface="MS Gothic"/>
                <a:ea typeface="MS Gothic"/>
                <a:cs typeface="MS Gothic"/>
              </a:rPr>
              <a:t> </a:t>
            </a:r>
          </a:p>
          <a:p>
            <a:pPr algn="l">
              <a:spcAft>
                <a:spcPts val="0"/>
              </a:spcAft>
            </a:pPr>
            <a:r>
              <a:rPr sz="1200" b="0" i="0">
                <a:solidFill>
                  <a:srgbClr val="8FBF7F"/>
                </a:solidFill>
                <a:latin typeface="MS Gothic"/>
                <a:ea typeface="MS Gothic"/>
                <a:cs typeface="MS Gothic"/>
              </a:rPr>
              <a:t>// 受信：serial_rx_[ID] をSubscribe</a:t>
            </a:r>
          </a:p>
          <a:p>
            <a:pPr algn="l">
              <a:spcAft>
                <a:spcPts val="0"/>
              </a:spcAft>
            </a:pPr>
            <a:r>
              <a:rPr sz="1200" b="0" i="0">
                <a:solidFill>
                  <a:srgbClr val="EDEDED"/>
                </a:solidFill>
                <a:latin typeface="MS Gothic"/>
                <a:ea typeface="MS Gothic"/>
                <a:cs typeface="MS Gothic"/>
              </a:rPr>
              <a:t>void sensor_callback(const Int16MultiArray::SharedPtr m) {</a:t>
            </a:r>
          </a:p>
          <a:p>
            <a:pPr algn="l">
              <a:spcAft>
                <a:spcPts val="0"/>
              </a:spcAft>
            </a:pPr>
            <a:r>
              <a:rPr sz="1200" b="0" i="0">
                <a:solidFill>
                  <a:srgbClr val="EDEDED"/>
                </a:solidFill>
                <a:latin typeface="MS Gothic"/>
                <a:ea typeface="MS Gothic"/>
                <a:cs typeface="MS Gothic"/>
              </a:rPr>
              <a:t>  int16_t enc1 = m-&gt;data[1];      </a:t>
            </a:r>
            <a:r>
              <a:rPr sz="1200" b="0" i="0">
                <a:solidFill>
                  <a:srgbClr val="8FBF7F"/>
                </a:solidFill>
                <a:latin typeface="MS Gothic"/>
                <a:ea typeface="MS Gothic"/>
                <a:cs typeface="MS Gothic"/>
              </a:rPr>
              <a:t>// エンコーダ1</a:t>
            </a:r>
          </a:p>
          <a:p>
            <a:pPr algn="l">
              <a:spcAft>
                <a:spcPts val="0"/>
              </a:spcAft>
            </a:pPr>
            <a:r>
              <a:rPr sz="1200" b="0" i="0">
                <a:solidFill>
                  <a:srgbClr val="EDEDED"/>
                </a:solidFill>
                <a:latin typeface="MS Gothic"/>
                <a:ea typeface="MS Gothic"/>
                <a:cs typeface="MS Gothic"/>
              </a:rPr>
              <a:t>  bool    sw1  = m-&gt;data[9];      </a:t>
            </a:r>
            <a:r>
              <a:rPr sz="1200" b="0" i="0">
                <a:solidFill>
                  <a:srgbClr val="8FBF7F"/>
                </a:solidFill>
                <a:latin typeface="MS Gothic"/>
                <a:ea typeface="MS Gothic"/>
                <a:cs typeface="MS Gothic"/>
              </a:rPr>
              <a:t>// スイッチ1</a:t>
            </a:r>
          </a:p>
          <a:p>
            <a:pPr algn="l">
              <a:spcAft>
                <a:spcPts val="0"/>
              </a:spcAft>
            </a:pPr>
            <a:r>
              <a:rPr sz="1200" b="0" i="0">
                <a:solidFill>
                  <a:srgbClr val="EDEDED"/>
                </a:solidFill>
                <a:latin typeface="MS Gothic"/>
                <a:ea typeface="MS Gothic"/>
                <a:cs typeface="MS Gothic"/>
              </a:rPr>
              <a:t>}</a:t>
            </a:r>
          </a:p>
        </p:txBody>
      </p:sp>
      <p:sp>
        <p:nvSpPr>
          <p:cNvPr id="5" name="TextBox 4"/>
          <p:cNvSpPr txBox="1"/>
          <p:nvPr/>
        </p:nvSpPr>
        <p:spPr>
          <a:xfrm>
            <a:off x="7315200" y="1371600"/>
            <a:ext cx="3383280" cy="411480"/>
          </a:xfrm>
          <a:prstGeom prst="rect">
            <a:avLst/>
          </a:prstGeom>
          <a:noFill/>
        </p:spPr>
        <p:txBody>
          <a:bodyPr wrap="square" anchor="t" lIns="45720" rIns="45720"/>
          <a:lstStyle/>
          <a:p>
            <a:pPr algn="l">
              <a:spcAft>
                <a:spcPts val="400"/>
              </a:spcAft>
            </a:pPr>
            <a:r>
              <a:rPr sz="1600" b="1" i="0">
                <a:solidFill>
                  <a:srgbClr val="CB1C14"/>
                </a:solidFill>
                <a:latin typeface="MS Gothic"/>
                <a:ea typeface="MS Gothic"/>
                <a:cs typeface="MS Gothic"/>
              </a:rPr>
              <a:t>PacketController</a:t>
            </a:r>
          </a:p>
        </p:txBody>
      </p:sp>
      <p:graphicFrame>
        <p:nvGraphicFramePr>
          <p:cNvPr id="6" name="Table 5"/>
          <p:cNvGraphicFramePr>
            <a:graphicFrameLocks noGrp="1"/>
          </p:cNvGraphicFramePr>
          <p:nvPr/>
        </p:nvGraphicFramePr>
        <p:xfrm>
          <a:off x="7315200" y="1828800"/>
          <a:ext cx="3383280" cy="1920240"/>
        </p:xfrm>
        <a:graphic>
          <a:graphicData uri="http://schemas.openxmlformats.org/drawingml/2006/table">
            <a:tbl>
              <a:tblPr firstRow="0" bandRow="0">
                <a:tableStyleId>{5C22544A-7EE6-4342-B048-85BDC9FD1C3A}</a:tableStyleId>
              </a:tblPr>
              <a:tblGrid>
                <a:gridCol w="2011680"/>
                <a:gridCol w="1371600"/>
              </a:tblGrid>
              <a:tr h="384048">
                <a:tc>
                  <a:txBody>
                    <a:bodyPr wrap="square"/>
                    <a:lstStyle/>
                    <a:p>
                      <a:pPr algn="ctr">
                        <a:spcAft>
                          <a:spcPts val="0"/>
                        </a:spcAft>
                      </a:pPr>
                      <a:r>
                        <a:rPr sz="1150" b="1" i="0">
                          <a:solidFill>
                            <a:srgbClr val="FFFFFF"/>
                          </a:solidFill>
                          <a:latin typeface="MS PGothic"/>
                          <a:ea typeface="MS PGothic"/>
                          <a:cs typeface="MS PGothic"/>
                        </a:rPr>
                        <a:t>メソッド</a:t>
                      </a:r>
                    </a:p>
                  </a:txBody>
                  <a:tcPr marL="73152" marR="73152" marT="27432" marB="27432" anchor="ctr">
                    <a:solidFill>
                      <a:srgbClr val="1F1F1F"/>
                    </a:solidFill>
                  </a:tcPr>
                </a:tc>
                <a:tc>
                  <a:txBody>
                    <a:bodyPr wrap="square"/>
                    <a:lstStyle/>
                    <a:p>
                      <a:pPr algn="ctr">
                        <a:spcAft>
                          <a:spcPts val="0"/>
                        </a:spcAft>
                      </a:pPr>
                      <a:r>
                        <a:rPr sz="1150" b="1" i="0">
                          <a:solidFill>
                            <a:srgbClr val="FFFFFF"/>
                          </a:solidFill>
                          <a:latin typeface="MS PGothic"/>
                          <a:ea typeface="MS PGothic"/>
                          <a:cs typeface="MS PGothic"/>
                        </a:rPr>
                        <a:t>範囲</a:t>
                      </a:r>
                    </a:p>
                  </a:txBody>
                  <a:tcPr marL="73152" marR="73152" marT="27432" marB="27432" anchor="ctr">
                    <a:solidFill>
                      <a:srgbClr val="1F1F1F"/>
                    </a:solidFill>
                  </a:tcPr>
                </a:tc>
              </a:tr>
              <a:tr h="384048">
                <a:tc>
                  <a:txBody>
                    <a:bodyPr wrap="square"/>
                    <a:lstStyle/>
                    <a:p>
                      <a:pPr algn="l">
                        <a:spcAft>
                          <a:spcPts val="0"/>
                        </a:spcAft>
                      </a:pPr>
                      <a:r>
                        <a:rPr sz="1150" b="0" i="0">
                          <a:solidFill>
                            <a:srgbClr val="1F1F1F"/>
                          </a:solidFill>
                          <a:latin typeface="MS Gothic"/>
                          <a:ea typeface="MS Gothic"/>
                          <a:cs typeface="MS Gothic"/>
                        </a:rPr>
                        <a:t>setMD(MDn, v)</a:t>
                      </a:r>
                    </a:p>
                  </a:txBody>
                  <a:tcPr marL="73152" marR="73152" marT="27432" marB="27432" anchor="ctr">
                    <a:solidFill>
                      <a:srgbClr val="FFFFFF"/>
                    </a:solidFill>
                  </a:tcPr>
                </a:tc>
                <a:tc>
                  <a:txBody>
                    <a:bodyPr wrap="square"/>
                    <a:lstStyle/>
                    <a:p>
                      <a:pPr algn="l">
                        <a:spcAft>
                          <a:spcPts val="0"/>
                        </a:spcAft>
                      </a:pPr>
                      <a:r>
                        <a:rPr sz="1150" b="0" i="0">
                          <a:solidFill>
                            <a:srgbClr val="1F1F1F"/>
                          </a:solidFill>
                          <a:latin typeface="MS PGothic"/>
                          <a:ea typeface="MS PGothic"/>
                          <a:cs typeface="MS PGothic"/>
                        </a:rPr>
                        <a:t>-255〜255</a:t>
                      </a:r>
                    </a:p>
                  </a:txBody>
                  <a:tcPr marL="73152" marR="73152" marT="27432" marB="27432" anchor="ctr">
                    <a:solidFill>
                      <a:srgbClr val="FFFFFF"/>
                    </a:solidFill>
                  </a:tcPr>
                </a:tc>
              </a:tr>
              <a:tr h="384048">
                <a:tc>
                  <a:txBody>
                    <a:bodyPr wrap="square"/>
                    <a:lstStyle/>
                    <a:p>
                      <a:pPr algn="l">
                        <a:spcAft>
                          <a:spcPts val="0"/>
                        </a:spcAft>
                      </a:pPr>
                      <a:r>
                        <a:rPr sz="1150" b="0" i="0">
                          <a:solidFill>
                            <a:srgbClr val="1F1F1F"/>
                          </a:solidFill>
                          <a:latin typeface="MS Gothic"/>
                          <a:ea typeface="MS Gothic"/>
                          <a:cs typeface="MS Gothic"/>
                        </a:rPr>
                        <a:t>setServo(SERVOn, v)</a:t>
                      </a:r>
                    </a:p>
                  </a:txBody>
                  <a:tcPr marL="73152" marR="73152" marT="27432" marB="27432" anchor="ctr">
                    <a:solidFill>
                      <a:srgbClr val="F2F2F2"/>
                    </a:solidFill>
                  </a:tcPr>
                </a:tc>
                <a:tc>
                  <a:txBody>
                    <a:bodyPr wrap="square"/>
                    <a:lstStyle/>
                    <a:p>
                      <a:pPr algn="l">
                        <a:spcAft>
                          <a:spcPts val="0"/>
                        </a:spcAft>
                      </a:pPr>
                      <a:r>
                        <a:rPr sz="1150" b="0" i="0">
                          <a:solidFill>
                            <a:srgbClr val="1F1F1F"/>
                          </a:solidFill>
                          <a:latin typeface="MS PGothic"/>
                          <a:ea typeface="MS PGothic"/>
                          <a:cs typeface="MS PGothic"/>
                        </a:rPr>
                        <a:t>0〜270</a:t>
                      </a:r>
                    </a:p>
                  </a:txBody>
                  <a:tcPr marL="73152" marR="73152" marT="27432" marB="27432" anchor="ctr">
                    <a:solidFill>
                      <a:srgbClr val="F2F2F2"/>
                    </a:solidFill>
                  </a:tcPr>
                </a:tc>
              </a:tr>
              <a:tr h="384048">
                <a:tc>
                  <a:txBody>
                    <a:bodyPr wrap="square"/>
                    <a:lstStyle/>
                    <a:p>
                      <a:pPr algn="l">
                        <a:spcAft>
                          <a:spcPts val="0"/>
                        </a:spcAft>
                      </a:pPr>
                      <a:r>
                        <a:rPr sz="1150" b="0" i="0">
                          <a:solidFill>
                            <a:srgbClr val="1F1F1F"/>
                          </a:solidFill>
                          <a:latin typeface="MS Gothic"/>
                          <a:ea typeface="MS Gothic"/>
                          <a:cs typeface="MS Gothic"/>
                        </a:rPr>
                        <a:t>setTR(TRn, on)</a:t>
                      </a:r>
                    </a:p>
                  </a:txBody>
                  <a:tcPr marL="73152" marR="73152" marT="27432" marB="27432" anchor="ctr">
                    <a:solidFill>
                      <a:srgbClr val="FFFFFF"/>
                    </a:solidFill>
                  </a:tcPr>
                </a:tc>
                <a:tc>
                  <a:txBody>
                    <a:bodyPr wrap="square"/>
                    <a:lstStyle/>
                    <a:p>
                      <a:pPr algn="l">
                        <a:spcAft>
                          <a:spcPts val="0"/>
                        </a:spcAft>
                      </a:pPr>
                      <a:r>
                        <a:rPr sz="1150" b="0" i="0">
                          <a:solidFill>
                            <a:srgbClr val="1F1F1F"/>
                          </a:solidFill>
                          <a:latin typeface="MS PGothic"/>
                          <a:ea typeface="MS PGothic"/>
                          <a:cs typeface="MS PGothic"/>
                        </a:rPr>
                        <a:t>0 / 1</a:t>
                      </a:r>
                    </a:p>
                  </a:txBody>
                  <a:tcPr marL="73152" marR="73152" marT="27432" marB="27432" anchor="ctr">
                    <a:solidFill>
                      <a:srgbClr val="FFFFFF"/>
                    </a:solidFill>
                  </a:tcPr>
                </a:tc>
              </a:tr>
              <a:tr h="384048">
                <a:tc>
                  <a:txBody>
                    <a:bodyPr wrap="square"/>
                    <a:lstStyle/>
                    <a:p>
                      <a:pPr algn="l">
                        <a:spcAft>
                          <a:spcPts val="0"/>
                        </a:spcAft>
                      </a:pPr>
                      <a:r>
                        <a:rPr sz="1150" b="0" i="0">
                          <a:solidFill>
                            <a:srgbClr val="1F1F1F"/>
                          </a:solidFill>
                          <a:latin typeface="MS Gothic"/>
                          <a:ea typeface="MS Gothic"/>
                          <a:cs typeface="MS Gothic"/>
                        </a:rPr>
                        <a:t>toVector()</a:t>
                      </a:r>
                    </a:p>
                  </a:txBody>
                  <a:tcPr marL="73152" marR="73152" marT="27432" marB="27432" anchor="ctr">
                    <a:solidFill>
                      <a:srgbClr val="F2F2F2"/>
                    </a:solidFill>
                  </a:tcPr>
                </a:tc>
                <a:tc>
                  <a:txBody>
                    <a:bodyPr wrap="square"/>
                    <a:lstStyle/>
                    <a:p>
                      <a:pPr algn="l">
                        <a:spcAft>
                          <a:spcPts val="0"/>
                        </a:spcAft>
                      </a:pPr>
                      <a:r>
                        <a:rPr sz="1150" b="0" i="0">
                          <a:solidFill>
                            <a:srgbClr val="1F1F1F"/>
                          </a:solidFill>
                          <a:latin typeface="MS PGothic"/>
                          <a:ea typeface="MS PGothic"/>
                          <a:cs typeface="MS PGothic"/>
                        </a:rPr>
                        <a:t>送信用配列</a:t>
                      </a:r>
                    </a:p>
                  </a:txBody>
                  <a:tcPr marL="73152" marR="73152" marT="27432" marB="27432" anchor="ctr">
                    <a:solidFill>
                      <a:srgbClr val="F2F2F2"/>
                    </a:solidFill>
                  </a:tcPr>
                </a:tc>
              </a:tr>
            </a:tbl>
          </a:graphicData>
        </a:graphic>
      </p:graphicFrame>
      <p:sp>
        <p:nvSpPr>
          <p:cNvPr id="7" name="TextBox 6"/>
          <p:cNvSpPr txBox="1"/>
          <p:nvPr/>
        </p:nvSpPr>
        <p:spPr>
          <a:xfrm>
            <a:off x="7315200" y="3931920"/>
            <a:ext cx="3383280" cy="1828800"/>
          </a:xfrm>
          <a:prstGeom prst="rect">
            <a:avLst/>
          </a:prstGeom>
          <a:noFill/>
        </p:spPr>
        <p:txBody>
          <a:bodyPr wrap="square" anchor="t" lIns="45720" rIns="45720"/>
          <a:lstStyle/>
          <a:p>
            <a:pPr algn="l" marL="201168" indent="-201168">
              <a:spcAft>
                <a:spcPts val="800"/>
              </a:spcAft>
              <a:buClr>
                <a:srgbClr val="CB1C14"/>
              </a:buClr>
              <a:buFont typeface="Arial"/>
              <a:buChar char="•"/>
            </a:pPr>
            <a:r>
              <a:rPr sz="1250" b="0" i="0">
                <a:solidFill>
                  <a:srgbClr val="1F1F1F"/>
                </a:solidFill>
                <a:latin typeface="MS PGothic"/>
                <a:ea typeface="MS PGothic"/>
                <a:cs typeface="MS PGothic"/>
              </a:rPr>
              <a:t>範囲外の値は自動でクランプ</a:t>
            </a:r>
          </a:p>
          <a:p>
            <a:pPr algn="l" marL="201168" indent="-201168">
              <a:spcAft>
                <a:spcPts val="800"/>
              </a:spcAft>
              <a:buClr>
                <a:srgbClr val="CB1C14"/>
              </a:buClr>
              <a:buFont typeface="Arial"/>
              <a:buChar char="•"/>
            </a:pPr>
            <a:r>
              <a:rPr sz="1250" b="0" i="0">
                <a:solidFill>
                  <a:srgbClr val="1F1F1F"/>
                </a:solidFill>
                <a:latin typeface="MS PGothic"/>
                <a:ea typeface="MS PGothic"/>
                <a:cs typeface="MS PGothic"/>
              </a:rPr>
              <a:t>ID はマイコンの config.hpp の DEVICE_ID</a:t>
            </a:r>
          </a:p>
          <a:p>
            <a:pPr algn="l" marL="201168" indent="-201168">
              <a:spcAft>
                <a:spcPts val="800"/>
              </a:spcAft>
              <a:buClr>
                <a:srgbClr val="CB1C14"/>
              </a:buClr>
              <a:buFont typeface="Arial"/>
              <a:buChar char="•"/>
            </a:pPr>
            <a:r>
              <a:rPr sz="1250" b="0" i="0">
                <a:solidFill>
                  <a:srgbClr val="1F1F1F"/>
                </a:solidFill>
                <a:latin typeface="MS PGothic"/>
                <a:ea typeface="MS PGothic"/>
                <a:cs typeface="MS PGothic"/>
              </a:rPr>
              <a:t>受信確認は ros2 topic echo /serial_rx_3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7863840" cy="822960"/>
          </a:xfrm>
        </p:spPr>
        <p:txBody>
          <a:bodyPr anchor="ctr" wrap="square"/>
          <a:lstStyle/>
          <a:p>
            <a:pPr algn="l">
              <a:spcAft>
                <a:spcPts val="400"/>
              </a:spcAft>
            </a:pPr>
            <a:r>
              <a:rPr sz="2800" b="1" i="0">
                <a:solidFill>
                  <a:srgbClr val="1F1F1F"/>
                </a:solidFill>
                <a:latin typeface="MS PGothic"/>
                <a:ea typeface="MS PGothic"/>
                <a:cs typeface="MS PGothic"/>
              </a:rPr>
              <a:t>まとめ：ros2canへ</a:t>
            </a:r>
          </a:p>
        </p:txBody>
      </p:sp>
      <p:sp>
        <p:nvSpPr>
          <p:cNvPr id="3" name="TextBox 2"/>
          <p:cNvSpPr txBox="1"/>
          <p:nvPr/>
        </p:nvSpPr>
        <p:spPr>
          <a:xfrm>
            <a:off x="411480" y="6400800"/>
            <a:ext cx="3657600" cy="274320"/>
          </a:xfrm>
          <a:prstGeom prst="rect">
            <a:avLst/>
          </a:prstGeom>
          <a:noFill/>
        </p:spPr>
        <p:txBody>
          <a:bodyPr wrap="square" anchor="t" lIns="0" rIns="0" tIns="0" bIns="0"/>
          <a:lstStyle/>
          <a:p>
            <a:pPr algn="l">
              <a:spcAft>
                <a:spcPts val="400"/>
              </a:spcAft>
            </a:pPr>
            <a:r>
              <a:rPr sz="1000" b="0" i="0">
                <a:solidFill>
                  <a:srgbClr val="8C8C8C"/>
                </a:solidFill>
                <a:latin typeface="MS PGothic"/>
                <a:ea typeface="MS PGothic"/>
                <a:cs typeface="MS PGothic"/>
              </a:rPr>
              <a:t>serial_bridge 講習   23</a:t>
            </a:r>
          </a:p>
        </p:txBody>
      </p:sp>
      <p:sp>
        <p:nvSpPr>
          <p:cNvPr id="4" name="Rounded Rectangle 3"/>
          <p:cNvSpPr/>
          <p:nvPr/>
        </p:nvSpPr>
        <p:spPr>
          <a:xfrm>
            <a:off x="548640" y="1417320"/>
            <a:ext cx="5669280" cy="84124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5" name="TextBox 4"/>
          <p:cNvSpPr txBox="1"/>
          <p:nvPr/>
        </p:nvSpPr>
        <p:spPr>
          <a:xfrm>
            <a:off x="731520" y="1490472"/>
            <a:ext cx="1463040" cy="694944"/>
          </a:xfrm>
          <a:prstGeom prst="rect">
            <a:avLst/>
          </a:prstGeom>
          <a:noFill/>
        </p:spPr>
        <p:txBody>
          <a:bodyPr wrap="square" anchor="ctr" lIns="45720" rIns="45720"/>
          <a:lstStyle/>
          <a:p>
            <a:pPr algn="l">
              <a:spcAft>
                <a:spcPts val="400"/>
              </a:spcAft>
            </a:pPr>
            <a:r>
              <a:rPr sz="1550" b="1" i="0">
                <a:solidFill>
                  <a:srgbClr val="CB1C14"/>
                </a:solidFill>
                <a:latin typeface="MS PGothic"/>
                <a:ea typeface="MS PGothic"/>
                <a:cs typeface="MS PGothic"/>
              </a:rPr>
              <a:t>ID方式</a:t>
            </a:r>
          </a:p>
        </p:txBody>
      </p:sp>
      <p:sp>
        <p:nvSpPr>
          <p:cNvPr id="6" name="TextBox 5"/>
          <p:cNvSpPr txBox="1"/>
          <p:nvPr/>
        </p:nvSpPr>
        <p:spPr>
          <a:xfrm>
            <a:off x="2240280" y="1490472"/>
            <a:ext cx="3886200" cy="694944"/>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ポート番号ではなくフレーム内のIDでマイコンを識別</a:t>
            </a:r>
          </a:p>
        </p:txBody>
      </p:sp>
      <p:sp>
        <p:nvSpPr>
          <p:cNvPr id="7" name="Rounded Rectangle 6"/>
          <p:cNvSpPr/>
          <p:nvPr/>
        </p:nvSpPr>
        <p:spPr>
          <a:xfrm>
            <a:off x="548640" y="2423160"/>
            <a:ext cx="5669280" cy="84124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8" name="TextBox 7"/>
          <p:cNvSpPr txBox="1"/>
          <p:nvPr/>
        </p:nvSpPr>
        <p:spPr>
          <a:xfrm>
            <a:off x="731520" y="2496312"/>
            <a:ext cx="1463040" cy="694944"/>
          </a:xfrm>
          <a:prstGeom prst="rect">
            <a:avLst/>
          </a:prstGeom>
          <a:noFill/>
        </p:spPr>
        <p:txBody>
          <a:bodyPr wrap="square" anchor="ctr" lIns="45720" rIns="45720"/>
          <a:lstStyle/>
          <a:p>
            <a:pPr algn="l">
              <a:spcAft>
                <a:spcPts val="400"/>
              </a:spcAft>
            </a:pPr>
            <a:r>
              <a:rPr sz="1550" b="1" i="0">
                <a:solidFill>
                  <a:srgbClr val="CB1C14"/>
                </a:solidFill>
                <a:latin typeface="MS PGothic"/>
                <a:ea typeface="MS PGothic"/>
                <a:cs typeface="MS PGothic"/>
              </a:rPr>
              <a:t>仲介ノード</a:t>
            </a:r>
          </a:p>
        </p:txBody>
      </p:sp>
      <p:sp>
        <p:nvSpPr>
          <p:cNvPr id="9" name="TextBox 8"/>
          <p:cNvSpPr txBox="1"/>
          <p:nvPr/>
        </p:nvSpPr>
        <p:spPr>
          <a:xfrm>
            <a:off x="2240280" y="2496312"/>
            <a:ext cx="3886200" cy="694944"/>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ポートを触るのは serial_bridge だけ。各ノードはトピックで通信</a:t>
            </a:r>
          </a:p>
        </p:txBody>
      </p:sp>
      <p:sp>
        <p:nvSpPr>
          <p:cNvPr id="10" name="Rounded Rectangle 9"/>
          <p:cNvSpPr/>
          <p:nvPr/>
        </p:nvSpPr>
        <p:spPr>
          <a:xfrm>
            <a:off x="548640" y="3429000"/>
            <a:ext cx="5669280" cy="84124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1" name="TextBox 10"/>
          <p:cNvSpPr txBox="1"/>
          <p:nvPr/>
        </p:nvSpPr>
        <p:spPr>
          <a:xfrm>
            <a:off x="731520" y="3502152"/>
            <a:ext cx="1463040" cy="694944"/>
          </a:xfrm>
          <a:prstGeom prst="rect">
            <a:avLst/>
          </a:prstGeom>
          <a:noFill/>
        </p:spPr>
        <p:txBody>
          <a:bodyPr wrap="square" anchor="ctr" lIns="45720" rIns="45720"/>
          <a:lstStyle/>
          <a:p>
            <a:pPr algn="l">
              <a:spcAft>
                <a:spcPts val="400"/>
              </a:spcAft>
            </a:pPr>
            <a:r>
              <a:rPr sz="1550" b="1" i="0">
                <a:solidFill>
                  <a:srgbClr val="CB1C14"/>
                </a:solidFill>
                <a:latin typeface="MS PGothic"/>
                <a:ea typeface="MS PGothic"/>
                <a:cs typeface="MS PGothic"/>
              </a:rPr>
              <a:t>フレーム</a:t>
            </a:r>
          </a:p>
        </p:txBody>
      </p:sp>
      <p:sp>
        <p:nvSpPr>
          <p:cNvPr id="12" name="TextBox 11"/>
          <p:cNvSpPr txBox="1"/>
          <p:nvPr/>
        </p:nvSpPr>
        <p:spPr>
          <a:xfrm>
            <a:off x="2240280" y="3502152"/>
            <a:ext cx="3886200" cy="694944"/>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0xAA・ID・LEN・24×int16・XOR のシンプルな形式</a:t>
            </a:r>
          </a:p>
        </p:txBody>
      </p:sp>
      <p:sp>
        <p:nvSpPr>
          <p:cNvPr id="13" name="Rounded Rectangle 12"/>
          <p:cNvSpPr/>
          <p:nvPr/>
        </p:nvSpPr>
        <p:spPr>
          <a:xfrm>
            <a:off x="548640" y="4434840"/>
            <a:ext cx="5669280" cy="841248"/>
          </a:xfrm>
          <a:prstGeom prst="roundRect">
            <a:avLst>
              <a:gd name="adj" fmla="val 1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4" name="TextBox 13"/>
          <p:cNvSpPr txBox="1"/>
          <p:nvPr/>
        </p:nvSpPr>
        <p:spPr>
          <a:xfrm>
            <a:off x="731520" y="4507992"/>
            <a:ext cx="1463040" cy="694944"/>
          </a:xfrm>
          <a:prstGeom prst="rect">
            <a:avLst/>
          </a:prstGeom>
          <a:noFill/>
        </p:spPr>
        <p:txBody>
          <a:bodyPr wrap="square" anchor="ctr" lIns="45720" rIns="45720"/>
          <a:lstStyle/>
          <a:p>
            <a:pPr algn="l">
              <a:spcAft>
                <a:spcPts val="400"/>
              </a:spcAft>
            </a:pPr>
            <a:r>
              <a:rPr sz="1550" b="1" i="0">
                <a:solidFill>
                  <a:srgbClr val="CB1C14"/>
                </a:solidFill>
                <a:latin typeface="MS PGothic"/>
                <a:ea typeface="MS PGothic"/>
                <a:cs typeface="MS PGothic"/>
              </a:rPr>
              <a:t>疎結合FW</a:t>
            </a:r>
          </a:p>
        </p:txBody>
      </p:sp>
      <p:sp>
        <p:nvSpPr>
          <p:cNvPr id="15" name="TextBox 14"/>
          <p:cNvSpPr txBox="1"/>
          <p:nvPr/>
        </p:nvSpPr>
        <p:spPr>
          <a:xfrm>
            <a:off x="2240280" y="4507992"/>
            <a:ext cx="3886200" cy="694944"/>
          </a:xfrm>
          <a:prstGeom prst="rect">
            <a:avLst/>
          </a:prstGeom>
          <a:noFill/>
        </p:spPr>
        <p:txBody>
          <a:bodyPr wrap="square" anchor="ctr" lIns="45720" rIns="45720"/>
          <a:lstStyle/>
          <a:p>
            <a:pPr algn="l">
              <a:spcAft>
                <a:spcPts val="400"/>
              </a:spcAft>
            </a:pPr>
            <a:r>
              <a:rPr sz="1300" b="0" i="0">
                <a:solidFill>
                  <a:srgbClr val="1F1F1F"/>
                </a:solidFill>
                <a:latin typeface="MS PGothic"/>
                <a:ea typeface="MS PGothic"/>
                <a:cs typeface="MS PGothic"/>
              </a:rPr>
              <a:t>通信タスクと入出力タスクが共有配列で連携</a:t>
            </a:r>
          </a:p>
        </p:txBody>
      </p:sp>
      <p:sp>
        <p:nvSpPr>
          <p:cNvPr id="16" name="Rounded Rectangle 15"/>
          <p:cNvSpPr/>
          <p:nvPr/>
        </p:nvSpPr>
        <p:spPr>
          <a:xfrm>
            <a:off x="6583680" y="1417320"/>
            <a:ext cx="4114800" cy="3858768"/>
          </a:xfrm>
          <a:prstGeom prst="roundRect">
            <a:avLst>
              <a:gd name="adj" fmla="val 12000"/>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36576" bIns="36576" wrap="square"/>
          <a:lstStyle/>
          <a:p>
            <a:pPr algn="ctr"/>
          </a:p>
        </p:txBody>
      </p:sp>
      <p:sp>
        <p:nvSpPr>
          <p:cNvPr id="17" name="TextBox 16"/>
          <p:cNvSpPr txBox="1"/>
          <p:nvPr/>
        </p:nvSpPr>
        <p:spPr>
          <a:xfrm>
            <a:off x="6858000" y="1554480"/>
            <a:ext cx="3566160" cy="457200"/>
          </a:xfrm>
          <a:prstGeom prst="rect">
            <a:avLst/>
          </a:prstGeom>
          <a:noFill/>
        </p:spPr>
        <p:txBody>
          <a:bodyPr wrap="square" anchor="t" lIns="45720" rIns="45720"/>
          <a:lstStyle/>
          <a:p>
            <a:pPr algn="l">
              <a:spcAft>
                <a:spcPts val="400"/>
              </a:spcAft>
            </a:pPr>
            <a:r>
              <a:rPr sz="1800" b="1" i="0">
                <a:solidFill>
                  <a:srgbClr val="FFFFFF"/>
                </a:solidFill>
                <a:latin typeface="MS PGothic"/>
                <a:ea typeface="MS PGothic"/>
                <a:cs typeface="MS PGothic"/>
              </a:rPr>
              <a:t>次のステップ：ros2can</a:t>
            </a:r>
          </a:p>
        </p:txBody>
      </p:sp>
      <p:sp>
        <p:nvSpPr>
          <p:cNvPr id="18" name="TextBox 17"/>
          <p:cNvSpPr txBox="1"/>
          <p:nvPr/>
        </p:nvSpPr>
        <p:spPr>
          <a:xfrm>
            <a:off x="6858000" y="2103120"/>
            <a:ext cx="3566160" cy="3108960"/>
          </a:xfrm>
          <a:prstGeom prst="rect">
            <a:avLst/>
          </a:prstGeom>
          <a:noFill/>
        </p:spPr>
        <p:txBody>
          <a:bodyPr wrap="square" anchor="t" lIns="45720" rIns="45720"/>
          <a:lstStyle/>
          <a:p>
            <a:pPr algn="l" marL="201168" indent="-201168">
              <a:spcAft>
                <a:spcPts val="1000"/>
              </a:spcAft>
              <a:buClr>
                <a:srgbClr val="CB1C14"/>
              </a:buClr>
              <a:buFont typeface="Arial"/>
              <a:buChar char="•"/>
            </a:pPr>
            <a:r>
              <a:rPr sz="1350" b="0" i="0">
                <a:solidFill>
                  <a:srgbClr val="FFFFFF"/>
                </a:solidFill>
                <a:latin typeface="MS PGothic"/>
                <a:ea typeface="MS PGothic"/>
                <a:cs typeface="MS PGothic"/>
              </a:rPr>
              <a:t>これらの設計はすべて ros2can に引き継がれている</a:t>
            </a:r>
          </a:p>
          <a:p>
            <a:pPr algn="l" marL="201168" indent="-201168">
              <a:spcAft>
                <a:spcPts val="1000"/>
              </a:spcAft>
              <a:buClr>
                <a:srgbClr val="CB1C14"/>
              </a:buClr>
              <a:buFont typeface="Arial"/>
              <a:buChar char="•"/>
            </a:pPr>
            <a:r>
              <a:rPr sz="1350" b="0" i="0">
                <a:solidFill>
                  <a:srgbClr val="FFFFFF"/>
                </a:solidFill>
                <a:latin typeface="MS PGothic"/>
                <a:ea typeface="MS PGothic"/>
                <a:cs typeface="MS PGothic"/>
              </a:rPr>
              <a:t>CANデイジーチェーンで、PCとのUSBは1本に</a:t>
            </a:r>
          </a:p>
          <a:p>
            <a:pPr algn="l" marL="201168" indent="-201168">
              <a:spcAft>
                <a:spcPts val="1000"/>
              </a:spcAft>
              <a:buClr>
                <a:srgbClr val="CB1C14"/>
              </a:buClr>
              <a:buFont typeface="Arial"/>
              <a:buChar char="•"/>
            </a:pPr>
            <a:r>
              <a:rPr sz="1350" b="0" i="0">
                <a:solidFill>
                  <a:srgbClr val="FFFFFF"/>
                </a:solidFill>
                <a:latin typeface="MS PGothic"/>
                <a:ea typeface="MS PGothic"/>
                <a:cs typeface="MS PGothic"/>
              </a:rPr>
              <a:t>GUI・仮想デバイス・FW生成を搭載</a:t>
            </a:r>
          </a:p>
          <a:p>
            <a:pPr algn="l" marL="201168" indent="-201168">
              <a:spcAft>
                <a:spcPts val="1000"/>
              </a:spcAft>
              <a:buClr>
                <a:srgbClr val="CB1C14"/>
              </a:buClr>
              <a:buFont typeface="Arial"/>
              <a:buChar char="•"/>
            </a:pPr>
            <a:r>
              <a:rPr sz="1350" b="0" i="0">
                <a:solidFill>
                  <a:srgbClr val="FFFFFF"/>
                </a:solidFill>
                <a:latin typeface="MS PGothic"/>
                <a:ea typeface="MS PGothic"/>
                <a:cs typeface="MS PGothic"/>
              </a:rPr>
              <a:t>serial_tx_[ID] / serial_rx_[ID] はそのまま</a:t>
            </a:r>
          </a:p>
        </p:txBody>
      </p:sp>
      <p:sp>
        <p:nvSpPr>
          <p:cNvPr id="19" name="TextBox 18"/>
          <p:cNvSpPr txBox="1"/>
          <p:nvPr/>
        </p:nvSpPr>
        <p:spPr>
          <a:xfrm>
            <a:off x="548640" y="5486400"/>
            <a:ext cx="10149840" cy="365760"/>
          </a:xfrm>
          <a:prstGeom prst="rect">
            <a:avLst/>
          </a:prstGeom>
          <a:noFill/>
        </p:spPr>
        <p:txBody>
          <a:bodyPr wrap="square" anchor="t" lIns="45720" rIns="45720"/>
          <a:lstStyle/>
          <a:p>
            <a:pPr algn="l">
              <a:spcAft>
                <a:spcPts val="400"/>
              </a:spcAft>
            </a:pPr>
            <a:r>
              <a:rPr sz="1150" b="0" i="0">
                <a:solidFill>
                  <a:srgbClr val="595959"/>
                </a:solidFill>
                <a:latin typeface="MS PGothic"/>
                <a:ea typeface="MS PGothic"/>
                <a:cs typeface="MS PGothic"/>
              </a:rPr>
              <a:t>GitHub：github.com/RRST-NHK-Project/serial_bridge  ／  後継：github.com/RRST-NHK-Project/ros2can</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S PGothic"/>
        <a:ea typeface="MS PGothic"/>
        <a:cs typeface=""/>
        <a:font script="Jpan" typeface="MS PGothic"/>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S PGothic"/>
        <a:ea typeface="MS PGothic"/>
        <a:cs typeface=""/>
        <a:font script="Jpan" typeface="MS P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7531F1DA-E5ED-4977-9D2C-CB9870891181}" vid="{35052030-CB63-452C-8C6E-2B56BD0C9A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0</Words>
  <Application>Microsoft Office PowerPoint</Application>
  <PresentationFormat>ワイド画面</PresentationFormat>
  <Paragraphs>0</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松枝 勇樹(rr0163fx)</dc:creator>
  <cp:lastModifiedBy>松枝 勇樹(rr0163fx)</cp:lastModifiedBy>
  <cp:revision>1</cp:revision>
  <dcterms:created xsi:type="dcterms:W3CDTF">2024-03-20T13:06:38Z</dcterms:created>
  <dcterms:modified xsi:type="dcterms:W3CDTF">2024-03-20T13:08:05Z</dcterms:modified>
</cp:coreProperties>
</file>